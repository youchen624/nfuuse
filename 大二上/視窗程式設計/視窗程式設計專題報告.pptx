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1" r:id="rId6"/>
    <p:sldId id="260" r:id="rId7"/>
    <p:sldId id="261" r:id="rId8"/>
    <p:sldId id="262" r:id="rId9"/>
    <p:sldId id="263" r:id="rId10"/>
    <p:sldId id="282" r:id="rId11"/>
    <p:sldId id="283" r:id="rId12"/>
    <p:sldId id="289" r:id="rId13"/>
    <p:sldId id="290" r:id="rId14"/>
    <p:sldId id="285" r:id="rId15"/>
    <p:sldId id="286" r:id="rId16"/>
    <p:sldId id="264" r:id="rId17"/>
    <p:sldId id="288" r:id="rId18"/>
    <p:sldId id="266" r:id="rId19"/>
    <p:sldId id="267" r:id="rId20"/>
    <p:sldId id="277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66D8"/>
    <a:srgbClr val="D5F4DD"/>
    <a:srgbClr val="FDF0CE"/>
    <a:srgbClr val="CDEDF8"/>
    <a:srgbClr val="149CCA"/>
    <a:srgbClr val="FDD5C9"/>
    <a:srgbClr val="E03E0D"/>
    <a:srgbClr val="32CB58"/>
    <a:srgbClr val="32CA58"/>
    <a:srgbClr val="ECE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6" autoAdjust="0"/>
    <p:restoredTop sz="96247" autoAdjust="0"/>
  </p:normalViewPr>
  <p:slideViewPr>
    <p:cSldViewPr snapToGrid="0">
      <p:cViewPr varScale="1">
        <p:scale>
          <a:sx n="78" d="100"/>
          <a:sy n="78" d="100"/>
        </p:scale>
        <p:origin x="-5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52BC3A-333E-4B6A-85F6-693F28CF6F55}" type="doc">
      <dgm:prSet loTypeId="urn:microsoft.com/office/officeart/2005/8/layout/cycle5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TW" altLang="en-US"/>
        </a:p>
      </dgm:t>
    </dgm:pt>
    <dgm:pt modelId="{7DE7909C-AF11-4D1C-8F06-65586586706E}">
      <dgm:prSet phldrT="[文字]"/>
      <dgm:spPr/>
      <dgm:t>
        <a:bodyPr/>
        <a:lstStyle/>
        <a:p>
          <a:r>
            <a:rPr lang="zh-TW" altLang="en-US" dirty="0" smtClean="0"/>
            <a:t>遊戲啟動</a:t>
          </a:r>
          <a:endParaRPr lang="zh-TW" altLang="en-US" dirty="0"/>
        </a:p>
      </dgm:t>
    </dgm:pt>
    <dgm:pt modelId="{6F658649-05EF-4E36-BFAE-E0269E9B0CE3}" type="parTrans" cxnId="{438A4F76-F32C-411B-8893-266E8816F1CC}">
      <dgm:prSet/>
      <dgm:spPr/>
      <dgm:t>
        <a:bodyPr/>
        <a:lstStyle/>
        <a:p>
          <a:endParaRPr lang="zh-TW" altLang="en-US"/>
        </a:p>
      </dgm:t>
    </dgm:pt>
    <dgm:pt modelId="{557E661D-CCCD-4194-8855-69DC4BAA629A}" type="sibTrans" cxnId="{438A4F76-F32C-411B-8893-266E8816F1CC}">
      <dgm:prSet/>
      <dgm:spPr/>
      <dgm:t>
        <a:bodyPr/>
        <a:lstStyle/>
        <a:p>
          <a:endParaRPr lang="zh-TW" altLang="en-US"/>
        </a:p>
      </dgm:t>
    </dgm:pt>
    <dgm:pt modelId="{E730FD16-AFE8-4E96-8618-9279BCE00A3F}">
      <dgm:prSet phldrT="[文字]"/>
      <dgm:spPr/>
      <dgm:t>
        <a:bodyPr/>
        <a:lstStyle/>
        <a:p>
          <a:r>
            <a:rPr lang="zh-TW" altLang="en-US" dirty="0" smtClean="0"/>
            <a:t>選擇關卡</a:t>
          </a:r>
          <a:endParaRPr lang="zh-TW" altLang="en-US" dirty="0"/>
        </a:p>
      </dgm:t>
    </dgm:pt>
    <dgm:pt modelId="{90EB7D66-0A41-46F9-98AC-5FEE8D4876F3}" type="parTrans" cxnId="{967E8CFE-D1C3-4DE9-AF36-609B8359832F}">
      <dgm:prSet/>
      <dgm:spPr/>
      <dgm:t>
        <a:bodyPr/>
        <a:lstStyle/>
        <a:p>
          <a:endParaRPr lang="zh-TW" altLang="en-US"/>
        </a:p>
      </dgm:t>
    </dgm:pt>
    <dgm:pt modelId="{B6630B05-07A0-45B9-9CF1-C8D8F358CCBA}" type="sibTrans" cxnId="{967E8CFE-D1C3-4DE9-AF36-609B8359832F}">
      <dgm:prSet/>
      <dgm:spPr/>
      <dgm:t>
        <a:bodyPr/>
        <a:lstStyle/>
        <a:p>
          <a:endParaRPr lang="zh-TW" altLang="en-US"/>
        </a:p>
      </dgm:t>
    </dgm:pt>
    <dgm:pt modelId="{B55B62B6-7B81-44B7-A343-758C9372E871}">
      <dgm:prSet phldrT="[文字]"/>
      <dgm:spPr/>
      <dgm:t>
        <a:bodyPr/>
        <a:lstStyle/>
        <a:p>
          <a:r>
            <a:rPr lang="zh-TW" altLang="en-US" dirty="0" smtClean="0"/>
            <a:t>植物布置</a:t>
          </a:r>
          <a:endParaRPr lang="zh-TW" altLang="en-US" dirty="0"/>
        </a:p>
      </dgm:t>
    </dgm:pt>
    <dgm:pt modelId="{F4364F6F-24E4-4328-9219-0C9D6C80451B}" type="parTrans" cxnId="{7C64BB21-0D39-48D6-98F0-A1041DCB0DB3}">
      <dgm:prSet/>
      <dgm:spPr/>
      <dgm:t>
        <a:bodyPr/>
        <a:lstStyle/>
        <a:p>
          <a:endParaRPr lang="zh-TW" altLang="en-US"/>
        </a:p>
      </dgm:t>
    </dgm:pt>
    <dgm:pt modelId="{487DD59C-4530-4C98-8218-6541C48CD877}" type="sibTrans" cxnId="{7C64BB21-0D39-48D6-98F0-A1041DCB0DB3}">
      <dgm:prSet/>
      <dgm:spPr/>
      <dgm:t>
        <a:bodyPr/>
        <a:lstStyle/>
        <a:p>
          <a:endParaRPr lang="zh-TW" altLang="en-US"/>
        </a:p>
      </dgm:t>
    </dgm:pt>
    <dgm:pt modelId="{9EF75929-BC19-41CC-9AE0-579BDE349232}">
      <dgm:prSet phldrT="[文字]"/>
      <dgm:spPr/>
      <dgm:t>
        <a:bodyPr/>
        <a:lstStyle/>
        <a:p>
          <a:r>
            <a:rPr lang="zh-TW" altLang="en-US" dirty="0" smtClean="0"/>
            <a:t>戰鬥進行</a:t>
          </a:r>
          <a:endParaRPr lang="zh-TW" altLang="en-US" dirty="0"/>
        </a:p>
      </dgm:t>
    </dgm:pt>
    <dgm:pt modelId="{4DC88F7C-6150-40A7-81F7-108BE5C79E27}" type="parTrans" cxnId="{C095907D-17F0-478C-B7D3-362056251291}">
      <dgm:prSet/>
      <dgm:spPr/>
      <dgm:t>
        <a:bodyPr/>
        <a:lstStyle/>
        <a:p>
          <a:endParaRPr lang="zh-TW" altLang="en-US"/>
        </a:p>
      </dgm:t>
    </dgm:pt>
    <dgm:pt modelId="{F6472F64-A8BF-4A2E-91C2-D59648D7FEEA}" type="sibTrans" cxnId="{C095907D-17F0-478C-B7D3-362056251291}">
      <dgm:prSet/>
      <dgm:spPr/>
      <dgm:t>
        <a:bodyPr/>
        <a:lstStyle/>
        <a:p>
          <a:endParaRPr lang="zh-TW" altLang="en-US"/>
        </a:p>
      </dgm:t>
    </dgm:pt>
    <dgm:pt modelId="{8C1AEC66-A1E3-4DA7-83C2-2BBD8073E72B}">
      <dgm:prSet phldrT="[文字]"/>
      <dgm:spPr/>
      <dgm:t>
        <a:bodyPr/>
        <a:lstStyle/>
        <a:p>
          <a:r>
            <a:rPr lang="zh-TW" altLang="en-US" dirty="0" smtClean="0"/>
            <a:t>結果結算</a:t>
          </a:r>
          <a:endParaRPr lang="zh-TW" altLang="en-US" dirty="0"/>
        </a:p>
      </dgm:t>
    </dgm:pt>
    <dgm:pt modelId="{51A2780B-2DFB-44D2-BDB6-BC36B8221CF0}" type="parTrans" cxnId="{29006360-1EAE-40E9-8D81-111E942E0789}">
      <dgm:prSet/>
      <dgm:spPr/>
      <dgm:t>
        <a:bodyPr/>
        <a:lstStyle/>
        <a:p>
          <a:endParaRPr lang="zh-TW" altLang="en-US"/>
        </a:p>
      </dgm:t>
    </dgm:pt>
    <dgm:pt modelId="{524D69CD-2107-4B5C-AF17-97512ACDD1FC}" type="sibTrans" cxnId="{29006360-1EAE-40E9-8D81-111E942E0789}">
      <dgm:prSet/>
      <dgm:spPr/>
      <dgm:t>
        <a:bodyPr/>
        <a:lstStyle/>
        <a:p>
          <a:endParaRPr lang="zh-TW" altLang="en-US"/>
        </a:p>
      </dgm:t>
    </dgm:pt>
    <dgm:pt modelId="{DDA22AA9-A83D-492B-B7D5-DD574F8C187A}" type="pres">
      <dgm:prSet presAssocID="{4652BC3A-333E-4B6A-85F6-693F28CF6F5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C6657797-77C8-4C17-9A46-BEB36106BD8D}" type="pres">
      <dgm:prSet presAssocID="{7DE7909C-AF11-4D1C-8F06-65586586706E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14231C6-0292-411B-9A35-1489034336EB}" type="pres">
      <dgm:prSet presAssocID="{7DE7909C-AF11-4D1C-8F06-65586586706E}" presName="spNode" presStyleCnt="0"/>
      <dgm:spPr/>
    </dgm:pt>
    <dgm:pt modelId="{1B82BDBE-E323-4A42-91FE-C4FE664C87BE}" type="pres">
      <dgm:prSet presAssocID="{557E661D-CCCD-4194-8855-69DC4BAA629A}" presName="sibTrans" presStyleLbl="sibTrans1D1" presStyleIdx="0" presStyleCnt="5"/>
      <dgm:spPr/>
      <dgm:t>
        <a:bodyPr/>
        <a:lstStyle/>
        <a:p>
          <a:endParaRPr lang="zh-TW" altLang="en-US"/>
        </a:p>
      </dgm:t>
    </dgm:pt>
    <dgm:pt modelId="{878B716C-30A9-4689-8C0E-33B68571BAEF}" type="pres">
      <dgm:prSet presAssocID="{E730FD16-AFE8-4E96-8618-9279BCE00A3F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BBF8784-4902-4247-BFFE-560A007B6B99}" type="pres">
      <dgm:prSet presAssocID="{E730FD16-AFE8-4E96-8618-9279BCE00A3F}" presName="spNode" presStyleCnt="0"/>
      <dgm:spPr/>
    </dgm:pt>
    <dgm:pt modelId="{15C1222E-252D-44F9-9C11-09F8853EBB74}" type="pres">
      <dgm:prSet presAssocID="{B6630B05-07A0-45B9-9CF1-C8D8F358CCBA}" presName="sibTrans" presStyleLbl="sibTrans1D1" presStyleIdx="1" presStyleCnt="5"/>
      <dgm:spPr/>
      <dgm:t>
        <a:bodyPr/>
        <a:lstStyle/>
        <a:p>
          <a:endParaRPr lang="zh-TW" altLang="en-US"/>
        </a:p>
      </dgm:t>
    </dgm:pt>
    <dgm:pt modelId="{C8EC7298-77BA-439A-87BC-2F57E85003D7}" type="pres">
      <dgm:prSet presAssocID="{B55B62B6-7B81-44B7-A343-758C9372E871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7899622-EB6E-4E1D-9098-EEAE84146E9C}" type="pres">
      <dgm:prSet presAssocID="{B55B62B6-7B81-44B7-A343-758C9372E871}" presName="spNode" presStyleCnt="0"/>
      <dgm:spPr/>
    </dgm:pt>
    <dgm:pt modelId="{61348A66-7493-4284-A077-24B6E45600CD}" type="pres">
      <dgm:prSet presAssocID="{487DD59C-4530-4C98-8218-6541C48CD877}" presName="sibTrans" presStyleLbl="sibTrans1D1" presStyleIdx="2" presStyleCnt="5"/>
      <dgm:spPr/>
      <dgm:t>
        <a:bodyPr/>
        <a:lstStyle/>
        <a:p>
          <a:endParaRPr lang="zh-TW" altLang="en-US"/>
        </a:p>
      </dgm:t>
    </dgm:pt>
    <dgm:pt modelId="{795058AA-1D78-492E-935D-81EA8F36B529}" type="pres">
      <dgm:prSet presAssocID="{9EF75929-BC19-41CC-9AE0-579BDE349232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489D6FAB-5A4E-4FE8-8216-897E9CCC4F78}" type="pres">
      <dgm:prSet presAssocID="{9EF75929-BC19-41CC-9AE0-579BDE349232}" presName="spNode" presStyleCnt="0"/>
      <dgm:spPr/>
    </dgm:pt>
    <dgm:pt modelId="{7AD37C51-225B-47CD-B38E-A0E047D5B052}" type="pres">
      <dgm:prSet presAssocID="{F6472F64-A8BF-4A2E-91C2-D59648D7FEEA}" presName="sibTrans" presStyleLbl="sibTrans1D1" presStyleIdx="3" presStyleCnt="5"/>
      <dgm:spPr/>
      <dgm:t>
        <a:bodyPr/>
        <a:lstStyle/>
        <a:p>
          <a:endParaRPr lang="zh-TW" altLang="en-US"/>
        </a:p>
      </dgm:t>
    </dgm:pt>
    <dgm:pt modelId="{FC283A44-2C69-4BBF-BD66-4D59F52BFA40}" type="pres">
      <dgm:prSet presAssocID="{8C1AEC66-A1E3-4DA7-83C2-2BBD8073E72B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72F4FF00-D34E-4BDB-A76E-690E644FE514}" type="pres">
      <dgm:prSet presAssocID="{8C1AEC66-A1E3-4DA7-83C2-2BBD8073E72B}" presName="spNode" presStyleCnt="0"/>
      <dgm:spPr/>
    </dgm:pt>
    <dgm:pt modelId="{75EB9EA6-0EBB-4E5A-8242-7ECDB4448E2A}" type="pres">
      <dgm:prSet presAssocID="{524D69CD-2107-4B5C-AF17-97512ACDD1FC}" presName="sibTrans" presStyleLbl="sibTrans1D1" presStyleIdx="4" presStyleCnt="5"/>
      <dgm:spPr/>
      <dgm:t>
        <a:bodyPr/>
        <a:lstStyle/>
        <a:p>
          <a:endParaRPr lang="zh-TW" altLang="en-US"/>
        </a:p>
      </dgm:t>
    </dgm:pt>
  </dgm:ptLst>
  <dgm:cxnLst>
    <dgm:cxn modelId="{29006360-1EAE-40E9-8D81-111E942E0789}" srcId="{4652BC3A-333E-4B6A-85F6-693F28CF6F55}" destId="{8C1AEC66-A1E3-4DA7-83C2-2BBD8073E72B}" srcOrd="4" destOrd="0" parTransId="{51A2780B-2DFB-44D2-BDB6-BC36B8221CF0}" sibTransId="{524D69CD-2107-4B5C-AF17-97512ACDD1FC}"/>
    <dgm:cxn modelId="{A14041DB-ACFE-41AC-9B1E-3DB31AB87CCB}" type="presOf" srcId="{E730FD16-AFE8-4E96-8618-9279BCE00A3F}" destId="{878B716C-30A9-4689-8C0E-33B68571BAEF}" srcOrd="0" destOrd="0" presId="urn:microsoft.com/office/officeart/2005/8/layout/cycle5"/>
    <dgm:cxn modelId="{D50B424C-5425-4148-9174-3463BBC82A3E}" type="presOf" srcId="{B6630B05-07A0-45B9-9CF1-C8D8F358CCBA}" destId="{15C1222E-252D-44F9-9C11-09F8853EBB74}" srcOrd="0" destOrd="0" presId="urn:microsoft.com/office/officeart/2005/8/layout/cycle5"/>
    <dgm:cxn modelId="{796EEAE5-047B-4E00-B6AE-27A0F0A3E1A8}" type="presOf" srcId="{F6472F64-A8BF-4A2E-91C2-D59648D7FEEA}" destId="{7AD37C51-225B-47CD-B38E-A0E047D5B052}" srcOrd="0" destOrd="0" presId="urn:microsoft.com/office/officeart/2005/8/layout/cycle5"/>
    <dgm:cxn modelId="{2C3EE7E5-63A0-4F63-A381-155D66DD9425}" type="presOf" srcId="{487DD59C-4530-4C98-8218-6541C48CD877}" destId="{61348A66-7493-4284-A077-24B6E45600CD}" srcOrd="0" destOrd="0" presId="urn:microsoft.com/office/officeart/2005/8/layout/cycle5"/>
    <dgm:cxn modelId="{967E8CFE-D1C3-4DE9-AF36-609B8359832F}" srcId="{4652BC3A-333E-4B6A-85F6-693F28CF6F55}" destId="{E730FD16-AFE8-4E96-8618-9279BCE00A3F}" srcOrd="1" destOrd="0" parTransId="{90EB7D66-0A41-46F9-98AC-5FEE8D4876F3}" sibTransId="{B6630B05-07A0-45B9-9CF1-C8D8F358CCBA}"/>
    <dgm:cxn modelId="{F04D58CF-8BAE-4F9E-8076-D1F32D5C5245}" type="presOf" srcId="{7DE7909C-AF11-4D1C-8F06-65586586706E}" destId="{C6657797-77C8-4C17-9A46-BEB36106BD8D}" srcOrd="0" destOrd="0" presId="urn:microsoft.com/office/officeart/2005/8/layout/cycle5"/>
    <dgm:cxn modelId="{7C64BB21-0D39-48D6-98F0-A1041DCB0DB3}" srcId="{4652BC3A-333E-4B6A-85F6-693F28CF6F55}" destId="{B55B62B6-7B81-44B7-A343-758C9372E871}" srcOrd="2" destOrd="0" parTransId="{F4364F6F-24E4-4328-9219-0C9D6C80451B}" sibTransId="{487DD59C-4530-4C98-8218-6541C48CD877}"/>
    <dgm:cxn modelId="{C095907D-17F0-478C-B7D3-362056251291}" srcId="{4652BC3A-333E-4B6A-85F6-693F28CF6F55}" destId="{9EF75929-BC19-41CC-9AE0-579BDE349232}" srcOrd="3" destOrd="0" parTransId="{4DC88F7C-6150-40A7-81F7-108BE5C79E27}" sibTransId="{F6472F64-A8BF-4A2E-91C2-D59648D7FEEA}"/>
    <dgm:cxn modelId="{0A686A6E-A39B-419E-9A4F-A16C6D588A25}" type="presOf" srcId="{4652BC3A-333E-4B6A-85F6-693F28CF6F55}" destId="{DDA22AA9-A83D-492B-B7D5-DD574F8C187A}" srcOrd="0" destOrd="0" presId="urn:microsoft.com/office/officeart/2005/8/layout/cycle5"/>
    <dgm:cxn modelId="{438A4F76-F32C-411B-8893-266E8816F1CC}" srcId="{4652BC3A-333E-4B6A-85F6-693F28CF6F55}" destId="{7DE7909C-AF11-4D1C-8F06-65586586706E}" srcOrd="0" destOrd="0" parTransId="{6F658649-05EF-4E36-BFAE-E0269E9B0CE3}" sibTransId="{557E661D-CCCD-4194-8855-69DC4BAA629A}"/>
    <dgm:cxn modelId="{FA8FD9A7-B0FC-4E18-B3A8-DB669D5BE98B}" type="presOf" srcId="{8C1AEC66-A1E3-4DA7-83C2-2BBD8073E72B}" destId="{FC283A44-2C69-4BBF-BD66-4D59F52BFA40}" srcOrd="0" destOrd="0" presId="urn:microsoft.com/office/officeart/2005/8/layout/cycle5"/>
    <dgm:cxn modelId="{0BE7148B-CC29-40DE-A0CB-B146772F7F9B}" type="presOf" srcId="{B55B62B6-7B81-44B7-A343-758C9372E871}" destId="{C8EC7298-77BA-439A-87BC-2F57E85003D7}" srcOrd="0" destOrd="0" presId="urn:microsoft.com/office/officeart/2005/8/layout/cycle5"/>
    <dgm:cxn modelId="{A7BF1459-721A-4E30-85DD-2A9E426C6FAC}" type="presOf" srcId="{9EF75929-BC19-41CC-9AE0-579BDE349232}" destId="{795058AA-1D78-492E-935D-81EA8F36B529}" srcOrd="0" destOrd="0" presId="urn:microsoft.com/office/officeart/2005/8/layout/cycle5"/>
    <dgm:cxn modelId="{EA9828B0-0BF4-4C38-982D-DE49F245009C}" type="presOf" srcId="{524D69CD-2107-4B5C-AF17-97512ACDD1FC}" destId="{75EB9EA6-0EBB-4E5A-8242-7ECDB4448E2A}" srcOrd="0" destOrd="0" presId="urn:microsoft.com/office/officeart/2005/8/layout/cycle5"/>
    <dgm:cxn modelId="{DF89F787-022A-4624-B688-C3E969C0F73F}" type="presOf" srcId="{557E661D-CCCD-4194-8855-69DC4BAA629A}" destId="{1B82BDBE-E323-4A42-91FE-C4FE664C87BE}" srcOrd="0" destOrd="0" presId="urn:microsoft.com/office/officeart/2005/8/layout/cycle5"/>
    <dgm:cxn modelId="{AEEEAB10-11B7-4ADA-B4D1-D4E51C05534D}" type="presParOf" srcId="{DDA22AA9-A83D-492B-B7D5-DD574F8C187A}" destId="{C6657797-77C8-4C17-9A46-BEB36106BD8D}" srcOrd="0" destOrd="0" presId="urn:microsoft.com/office/officeart/2005/8/layout/cycle5"/>
    <dgm:cxn modelId="{8531E978-818D-4C95-ADE0-F6A2B4017EB1}" type="presParOf" srcId="{DDA22AA9-A83D-492B-B7D5-DD574F8C187A}" destId="{914231C6-0292-411B-9A35-1489034336EB}" srcOrd="1" destOrd="0" presId="urn:microsoft.com/office/officeart/2005/8/layout/cycle5"/>
    <dgm:cxn modelId="{5BBEEA49-104C-434D-9139-6567A60DD5E9}" type="presParOf" srcId="{DDA22AA9-A83D-492B-B7D5-DD574F8C187A}" destId="{1B82BDBE-E323-4A42-91FE-C4FE664C87BE}" srcOrd="2" destOrd="0" presId="urn:microsoft.com/office/officeart/2005/8/layout/cycle5"/>
    <dgm:cxn modelId="{2F73A821-9021-4F93-AB17-F6AB2AC9EE78}" type="presParOf" srcId="{DDA22AA9-A83D-492B-B7D5-DD574F8C187A}" destId="{878B716C-30A9-4689-8C0E-33B68571BAEF}" srcOrd="3" destOrd="0" presId="urn:microsoft.com/office/officeart/2005/8/layout/cycle5"/>
    <dgm:cxn modelId="{D9883BDB-E212-4B8A-9419-AE30ACA2E609}" type="presParOf" srcId="{DDA22AA9-A83D-492B-B7D5-DD574F8C187A}" destId="{8BBF8784-4902-4247-BFFE-560A007B6B99}" srcOrd="4" destOrd="0" presId="urn:microsoft.com/office/officeart/2005/8/layout/cycle5"/>
    <dgm:cxn modelId="{A0F4B526-F37B-4965-AA9F-F6D1C68CCA62}" type="presParOf" srcId="{DDA22AA9-A83D-492B-B7D5-DD574F8C187A}" destId="{15C1222E-252D-44F9-9C11-09F8853EBB74}" srcOrd="5" destOrd="0" presId="urn:microsoft.com/office/officeart/2005/8/layout/cycle5"/>
    <dgm:cxn modelId="{675B303A-F9D1-48D9-9E25-55B7944010BD}" type="presParOf" srcId="{DDA22AA9-A83D-492B-B7D5-DD574F8C187A}" destId="{C8EC7298-77BA-439A-87BC-2F57E85003D7}" srcOrd="6" destOrd="0" presId="urn:microsoft.com/office/officeart/2005/8/layout/cycle5"/>
    <dgm:cxn modelId="{1B005EC8-2DAE-4932-934B-017348606820}" type="presParOf" srcId="{DDA22AA9-A83D-492B-B7D5-DD574F8C187A}" destId="{87899622-EB6E-4E1D-9098-EEAE84146E9C}" srcOrd="7" destOrd="0" presId="urn:microsoft.com/office/officeart/2005/8/layout/cycle5"/>
    <dgm:cxn modelId="{5D92626C-B1F9-4548-B2A0-66794053206F}" type="presParOf" srcId="{DDA22AA9-A83D-492B-B7D5-DD574F8C187A}" destId="{61348A66-7493-4284-A077-24B6E45600CD}" srcOrd="8" destOrd="0" presId="urn:microsoft.com/office/officeart/2005/8/layout/cycle5"/>
    <dgm:cxn modelId="{083266C0-1F53-4F4C-91D9-10D8978D0217}" type="presParOf" srcId="{DDA22AA9-A83D-492B-B7D5-DD574F8C187A}" destId="{795058AA-1D78-492E-935D-81EA8F36B529}" srcOrd="9" destOrd="0" presId="urn:microsoft.com/office/officeart/2005/8/layout/cycle5"/>
    <dgm:cxn modelId="{0BBF82E1-08D0-47E3-9FAF-67642F67F181}" type="presParOf" srcId="{DDA22AA9-A83D-492B-B7D5-DD574F8C187A}" destId="{489D6FAB-5A4E-4FE8-8216-897E9CCC4F78}" srcOrd="10" destOrd="0" presId="urn:microsoft.com/office/officeart/2005/8/layout/cycle5"/>
    <dgm:cxn modelId="{DCD7023E-5B2E-4929-AC62-0FDF97BADC47}" type="presParOf" srcId="{DDA22AA9-A83D-492B-B7D5-DD574F8C187A}" destId="{7AD37C51-225B-47CD-B38E-A0E047D5B052}" srcOrd="11" destOrd="0" presId="urn:microsoft.com/office/officeart/2005/8/layout/cycle5"/>
    <dgm:cxn modelId="{9E130311-05C8-4107-909B-A5BC5B934EBB}" type="presParOf" srcId="{DDA22AA9-A83D-492B-B7D5-DD574F8C187A}" destId="{FC283A44-2C69-4BBF-BD66-4D59F52BFA40}" srcOrd="12" destOrd="0" presId="urn:microsoft.com/office/officeart/2005/8/layout/cycle5"/>
    <dgm:cxn modelId="{54616A09-836D-4142-9951-40F30517C73C}" type="presParOf" srcId="{DDA22AA9-A83D-492B-B7D5-DD574F8C187A}" destId="{72F4FF00-D34E-4BDB-A76E-690E644FE514}" srcOrd="13" destOrd="0" presId="urn:microsoft.com/office/officeart/2005/8/layout/cycle5"/>
    <dgm:cxn modelId="{B68BE15F-245C-41FB-8D3A-F889B88544EC}" type="presParOf" srcId="{DDA22AA9-A83D-492B-B7D5-DD574F8C187A}" destId="{75EB9EA6-0EBB-4E5A-8242-7ECDB4448E2A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657797-77C8-4C17-9A46-BEB36106BD8D}">
      <dsp:nvSpPr>
        <dsp:cNvPr id="0" name=""/>
        <dsp:cNvSpPr/>
      </dsp:nvSpPr>
      <dsp:spPr>
        <a:xfrm>
          <a:off x="2245303" y="2295"/>
          <a:ext cx="1483256" cy="96411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300" kern="1200" dirty="0" smtClean="0"/>
            <a:t>遊戲啟動</a:t>
          </a:r>
          <a:endParaRPr lang="zh-TW" altLang="en-US" sz="2300" kern="1200" dirty="0"/>
        </a:p>
      </dsp:txBody>
      <dsp:txXfrm>
        <a:off x="2292367" y="49359"/>
        <a:ext cx="1389128" cy="869988"/>
      </dsp:txXfrm>
    </dsp:sp>
    <dsp:sp modelId="{1B82BDBE-E323-4A42-91FE-C4FE664C87BE}">
      <dsp:nvSpPr>
        <dsp:cNvPr id="0" name=""/>
        <dsp:cNvSpPr/>
      </dsp:nvSpPr>
      <dsp:spPr>
        <a:xfrm>
          <a:off x="1062345" y="484354"/>
          <a:ext cx="3849173" cy="3849173"/>
        </a:xfrm>
        <a:custGeom>
          <a:avLst/>
          <a:gdLst/>
          <a:ahLst/>
          <a:cxnLst/>
          <a:rect l="0" t="0" r="0" b="0"/>
          <a:pathLst>
            <a:path>
              <a:moveTo>
                <a:pt x="2864526" y="245138"/>
              </a:moveTo>
              <a:arcTo wR="1924586" hR="1924586" stAng="17954071" swAng="1210530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8B716C-30A9-4689-8C0E-33B68571BAEF}">
      <dsp:nvSpPr>
        <dsp:cNvPr id="0" name=""/>
        <dsp:cNvSpPr/>
      </dsp:nvSpPr>
      <dsp:spPr>
        <a:xfrm>
          <a:off x="4075694" y="1332152"/>
          <a:ext cx="1483256" cy="96411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300" kern="1200" dirty="0" smtClean="0"/>
            <a:t>選擇關卡</a:t>
          </a:r>
          <a:endParaRPr lang="zh-TW" altLang="en-US" sz="2300" kern="1200" dirty="0"/>
        </a:p>
      </dsp:txBody>
      <dsp:txXfrm>
        <a:off x="4122758" y="1379216"/>
        <a:ext cx="1389128" cy="869988"/>
      </dsp:txXfrm>
    </dsp:sp>
    <dsp:sp modelId="{15C1222E-252D-44F9-9C11-09F8853EBB74}">
      <dsp:nvSpPr>
        <dsp:cNvPr id="0" name=""/>
        <dsp:cNvSpPr/>
      </dsp:nvSpPr>
      <dsp:spPr>
        <a:xfrm>
          <a:off x="1062345" y="484354"/>
          <a:ext cx="3849173" cy="3849173"/>
        </a:xfrm>
        <a:custGeom>
          <a:avLst/>
          <a:gdLst/>
          <a:ahLst/>
          <a:cxnLst/>
          <a:rect l="0" t="0" r="0" b="0"/>
          <a:pathLst>
            <a:path>
              <a:moveTo>
                <a:pt x="3844544" y="2057998"/>
              </a:moveTo>
              <a:arcTo wR="1924586" hR="1924586" stAng="21838494" swAng="1358946"/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EC7298-77BA-439A-87BC-2F57E85003D7}">
      <dsp:nvSpPr>
        <dsp:cNvPr id="0" name=""/>
        <dsp:cNvSpPr/>
      </dsp:nvSpPr>
      <dsp:spPr>
        <a:xfrm>
          <a:off x="3376547" y="3483906"/>
          <a:ext cx="1483256" cy="96411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300" kern="1200" dirty="0" smtClean="0"/>
            <a:t>植物布置</a:t>
          </a:r>
          <a:endParaRPr lang="zh-TW" altLang="en-US" sz="2300" kern="1200" dirty="0"/>
        </a:p>
      </dsp:txBody>
      <dsp:txXfrm>
        <a:off x="3423611" y="3530970"/>
        <a:ext cx="1389128" cy="869988"/>
      </dsp:txXfrm>
    </dsp:sp>
    <dsp:sp modelId="{61348A66-7493-4284-A077-24B6E45600CD}">
      <dsp:nvSpPr>
        <dsp:cNvPr id="0" name=""/>
        <dsp:cNvSpPr/>
      </dsp:nvSpPr>
      <dsp:spPr>
        <a:xfrm>
          <a:off x="1062345" y="484354"/>
          <a:ext cx="3849173" cy="3849173"/>
        </a:xfrm>
        <a:custGeom>
          <a:avLst/>
          <a:gdLst/>
          <a:ahLst/>
          <a:cxnLst/>
          <a:rect l="0" t="0" r="0" b="0"/>
          <a:pathLst>
            <a:path>
              <a:moveTo>
                <a:pt x="2160473" y="3834663"/>
              </a:moveTo>
              <a:arcTo wR="1924586" hR="1924586" stAng="4977592" swAng="844816"/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5058AA-1D78-492E-935D-81EA8F36B529}">
      <dsp:nvSpPr>
        <dsp:cNvPr id="0" name=""/>
        <dsp:cNvSpPr/>
      </dsp:nvSpPr>
      <dsp:spPr>
        <a:xfrm>
          <a:off x="1114059" y="3483906"/>
          <a:ext cx="1483256" cy="96411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300" kern="1200" dirty="0" smtClean="0"/>
            <a:t>戰鬥進行</a:t>
          </a:r>
          <a:endParaRPr lang="zh-TW" altLang="en-US" sz="2300" kern="1200" dirty="0"/>
        </a:p>
      </dsp:txBody>
      <dsp:txXfrm>
        <a:off x="1161123" y="3530970"/>
        <a:ext cx="1389128" cy="869988"/>
      </dsp:txXfrm>
    </dsp:sp>
    <dsp:sp modelId="{7AD37C51-225B-47CD-B38E-A0E047D5B052}">
      <dsp:nvSpPr>
        <dsp:cNvPr id="0" name=""/>
        <dsp:cNvSpPr/>
      </dsp:nvSpPr>
      <dsp:spPr>
        <a:xfrm>
          <a:off x="1062345" y="484354"/>
          <a:ext cx="3849173" cy="3849173"/>
        </a:xfrm>
        <a:custGeom>
          <a:avLst/>
          <a:gdLst/>
          <a:ahLst/>
          <a:cxnLst/>
          <a:rect l="0" t="0" r="0" b="0"/>
          <a:pathLst>
            <a:path>
              <a:moveTo>
                <a:pt x="204070" y="2787059"/>
              </a:moveTo>
              <a:arcTo wR="1924586" hR="1924586" stAng="9202559" swAng="1358946"/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283A44-2C69-4BBF-BD66-4D59F52BFA40}">
      <dsp:nvSpPr>
        <dsp:cNvPr id="0" name=""/>
        <dsp:cNvSpPr/>
      </dsp:nvSpPr>
      <dsp:spPr>
        <a:xfrm>
          <a:off x="414912" y="1332152"/>
          <a:ext cx="1483256" cy="964116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300" kern="1200" dirty="0" smtClean="0"/>
            <a:t>結果結算</a:t>
          </a:r>
          <a:endParaRPr lang="zh-TW" altLang="en-US" sz="2300" kern="1200" dirty="0"/>
        </a:p>
      </dsp:txBody>
      <dsp:txXfrm>
        <a:off x="461976" y="1379216"/>
        <a:ext cx="1389128" cy="869988"/>
      </dsp:txXfrm>
    </dsp:sp>
    <dsp:sp modelId="{75EB9EA6-0EBB-4E5A-8242-7ECDB4448E2A}">
      <dsp:nvSpPr>
        <dsp:cNvPr id="0" name=""/>
        <dsp:cNvSpPr/>
      </dsp:nvSpPr>
      <dsp:spPr>
        <a:xfrm>
          <a:off x="1062345" y="484354"/>
          <a:ext cx="3849173" cy="3849173"/>
        </a:xfrm>
        <a:custGeom>
          <a:avLst/>
          <a:gdLst/>
          <a:ahLst/>
          <a:cxnLst/>
          <a:rect l="0" t="0" r="0" b="0"/>
          <a:pathLst>
            <a:path>
              <a:moveTo>
                <a:pt x="463084" y="672370"/>
              </a:moveTo>
              <a:arcTo wR="1924586" hR="1924586" stAng="13235399" swAng="1210530"/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橢圓 6"/>
          <p:cNvSpPr/>
          <p:nvPr userDrawn="1"/>
        </p:nvSpPr>
        <p:spPr>
          <a:xfrm>
            <a:off x="3988526" y="1321526"/>
            <a:ext cx="4214949" cy="4214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 userDrawn="1"/>
        </p:nvSpPr>
        <p:spPr>
          <a:xfrm>
            <a:off x="4180114" y="1513114"/>
            <a:ext cx="3831772" cy="38317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5875427" y="3429000"/>
            <a:ext cx="441146" cy="94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5875427" y="3429000"/>
            <a:ext cx="441146" cy="94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</p:txBody>
      </p:sp>
      <p:sp>
        <p:nvSpPr>
          <p:cNvPr id="11" name="橢圓 10"/>
          <p:cNvSpPr/>
          <p:nvPr userDrawn="1"/>
        </p:nvSpPr>
        <p:spPr>
          <a:xfrm>
            <a:off x="-1619998" y="-4286998"/>
            <a:ext cx="15431996" cy="15431996"/>
          </a:xfrm>
          <a:prstGeom prst="ellipse">
            <a:avLst/>
          </a:prstGeom>
          <a:solidFill>
            <a:srgbClr val="F8B70C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3939150" y="-2164275"/>
            <a:ext cx="11186550" cy="11186550"/>
            <a:chOff x="3988526" y="1321526"/>
            <a:chExt cx="4214949" cy="4214949"/>
          </a:xfrm>
        </p:grpSpPr>
        <p:sp>
          <p:nvSpPr>
            <p:cNvPr id="13" name="橢圓 12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solidFill>
              <a:srgbClr val="FAD3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F5BA1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甜甜圈 14"/>
          <p:cNvSpPr/>
          <p:nvPr userDrawn="1"/>
        </p:nvSpPr>
        <p:spPr>
          <a:xfrm>
            <a:off x="-2047875" y="-1676311"/>
            <a:ext cx="3409950" cy="3409950"/>
          </a:xfrm>
          <a:prstGeom prst="donut">
            <a:avLst>
              <a:gd name="adj" fmla="val 15772"/>
            </a:avLst>
          </a:prstGeom>
          <a:solidFill>
            <a:srgbClr val="F8B70C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/>
          </a:p>
        </p:txBody>
      </p:sp>
      <p:sp>
        <p:nvSpPr>
          <p:cNvPr id="16" name="文字方塊 15"/>
          <p:cNvSpPr txBox="1"/>
          <p:nvPr userDrawn="1"/>
        </p:nvSpPr>
        <p:spPr>
          <a:xfrm>
            <a:off x="1843779" y="1925227"/>
            <a:ext cx="850444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第三組</a:t>
            </a:r>
            <a:endParaRPr lang="en-US" altLang="zh-TW" sz="44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zh-TW" sz="9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Plant VS Zombie</a:t>
            </a:r>
            <a:endParaRPr lang="zh-TW" altLang="en-US" sz="9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文字方塊 16"/>
          <p:cNvSpPr txBox="1"/>
          <p:nvPr userDrawn="1"/>
        </p:nvSpPr>
        <p:spPr>
          <a:xfrm>
            <a:off x="393188" y="4796472"/>
            <a:ext cx="15049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dirty="0" smtClean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en-US" altLang="zh-TW" dirty="0" smtClean="0">
              <a:solidFill>
                <a:schemeClr val="bg1">
                  <a:alpha val="20000"/>
                </a:schemeClr>
              </a:solidFill>
              <a:sym typeface="Webdings" panose="05030102010509060703" pitchFamily="18" charset="2"/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 smtClean="0">
              <a:solidFill>
                <a:schemeClr val="bg1">
                  <a:alpha val="20000"/>
                </a:schemeClr>
              </a:solidFill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 smtClean="0">
              <a:solidFill>
                <a:schemeClr val="bg1">
                  <a:alpha val="20000"/>
                </a:schemeClr>
              </a:solidFill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 smtClean="0">
              <a:solidFill>
                <a:schemeClr val="bg1">
                  <a:alpha val="20000"/>
                </a:schemeClr>
              </a:solidFill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 smtClean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18" name="文字方塊 17"/>
          <p:cNvSpPr txBox="1"/>
          <p:nvPr userDrawn="1"/>
        </p:nvSpPr>
        <p:spPr>
          <a:xfrm>
            <a:off x="2311086" y="6261047"/>
            <a:ext cx="15049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dirty="0" smtClean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en-US" altLang="zh-TW" dirty="0" smtClean="0">
              <a:solidFill>
                <a:schemeClr val="bg1">
                  <a:alpha val="20000"/>
                </a:schemeClr>
              </a:solidFill>
              <a:sym typeface="Webdings" panose="05030102010509060703" pitchFamily="18" charset="2"/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 smtClean="0">
              <a:solidFill>
                <a:schemeClr val="bg1">
                  <a:alpha val="20000"/>
                </a:schemeClr>
              </a:solidFill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 smtClean="0">
              <a:solidFill>
                <a:schemeClr val="bg1">
                  <a:alpha val="20000"/>
                </a:schemeClr>
              </a:solidFill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 smtClean="0">
              <a:solidFill>
                <a:schemeClr val="bg1">
                  <a:alpha val="20000"/>
                </a:schemeClr>
              </a:solidFill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 smtClean="0">
              <a:solidFill>
                <a:schemeClr val="bg1">
                  <a:alpha val="2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20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xit" presetSubtype="32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3" presetClass="exit" presetSubtype="32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1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path" presetSubtype="0" fill="hold" grpId="0" nodeType="withEffect">
                                  <p:stCondLst>
                                    <p:cond delay="1150"/>
                                  </p:stCondLst>
                                  <p:iterate type="lt">
                                    <p:tmPct val="200"/>
                                  </p:iterate>
                                  <p:childTnLst>
                                    <p:animMotion origin="layout" path="M -0.00039 0.0007 C -0.00039 -0.20601 0.0737 -0.37407 0.1651 -0.37407 C 0.25625 -0.37407 0.33047 -0.20601 0.33047 0.0007 C 0.33047 0.20764 0.25625 0.37547 0.1651 0.37547 C 0.0737 0.37547 -0.00039 0.20764 -0.00039 0.0007 Z " pathEditMode="relative" rAng="16200000" ptsTypes="AAAAA">
                                      <p:cBhvr>
                                        <p:cTn id="28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36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" presetClass="path" presetSubtype="0" fill="hold" grpId="0" nodeType="withEffect">
                                  <p:stCondLst>
                                    <p:cond delay="1150"/>
                                  </p:stCondLst>
                                  <p:iterate type="lt">
                                    <p:tmPct val="200"/>
                                  </p:iterate>
                                  <p:childTnLst>
                                    <p:animMotion origin="layout" path="M -0.00052 0.00093 C -0.00052 -0.20578 -0.07018 -0.37384 -0.15612 -0.37384 C -0.24193 -0.37384 -0.31159 -0.20578 -0.31159 0.00093 C -0.31159 0.20787 -0.24193 0.3757 -0.15612 0.3757 C -0.07018 0.3757 -0.00052 0.20787 -0.00052 0.00093 Z " pathEditMode="relative" rAng="16200000" ptsTypes="AAAAA">
                                      <p:cBhvr>
                                        <p:cTn id="30" dur="125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56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2" nodeType="withEffect">
                                  <p:stCondLst>
                                    <p:cond delay="24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2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2" nodeType="withEffect">
                                  <p:stCondLst>
                                    <p:cond delay="24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5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50"/>
                            </p:stCondLst>
                            <p:childTnLst>
                              <p:par>
                                <p:cTn id="4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250"/>
                            </p:stCondLst>
                            <p:childTnLst>
                              <p:par>
                                <p:cTn id="4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650"/>
                            </p:stCondLst>
                            <p:childTnLst>
                              <p:par>
                                <p:cTn id="5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5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35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/>
      <p:bldP spid="9" grpId="1"/>
      <p:bldP spid="9" grpId="2"/>
      <p:bldP spid="10" grpId="0"/>
      <p:bldP spid="10" grpId="1"/>
      <p:bldP spid="10" grpId="2"/>
      <p:bldP spid="11" grpId="0" animBg="1"/>
      <p:bldP spid="15" grpId="0" animBg="1"/>
      <p:bldP spid="16" grpId="0"/>
      <p:bldP spid="17" grpId="0"/>
      <p:bldP spid="18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/>
          <p:cNvGrpSpPr/>
          <p:nvPr userDrawn="1"/>
        </p:nvGrpSpPr>
        <p:grpSpPr>
          <a:xfrm>
            <a:off x="-6444344" y="-3991430"/>
            <a:ext cx="25080688" cy="7982860"/>
            <a:chOff x="3988526" y="1321526"/>
            <a:chExt cx="4214949" cy="4214949"/>
          </a:xfrm>
        </p:grpSpPr>
        <p:sp>
          <p:nvSpPr>
            <p:cNvPr id="7" name="橢圓 6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矩形 9"/>
          <p:cNvSpPr/>
          <p:nvPr userDrawn="1"/>
        </p:nvSpPr>
        <p:spPr>
          <a:xfrm>
            <a:off x="-3410307" y="5119062"/>
            <a:ext cx="2441694" cy="3477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計畫緣起</a:t>
            </a:r>
            <a:endParaRPr lang="en-US" altLang="zh-TW" sz="44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TW" alt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產業概況</a:t>
            </a:r>
            <a:endParaRPr lang="en-US" altLang="zh-TW" sz="44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TW" alt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問卷分析</a:t>
            </a:r>
            <a:endParaRPr lang="en-US" altLang="zh-TW" sz="44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TW" alt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行銷計畫</a:t>
            </a:r>
            <a:endParaRPr lang="en-US" altLang="zh-TW" sz="44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TW" alt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計畫總結</a:t>
            </a:r>
            <a:endParaRPr lang="en-US" altLang="zh-TW" sz="44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文字方塊 12"/>
          <p:cNvSpPr txBox="1"/>
          <p:nvPr userDrawn="1"/>
        </p:nvSpPr>
        <p:spPr>
          <a:xfrm>
            <a:off x="11416605" y="6416674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061B2C-6C14-4386-B8A0-FC3D00B49B88}" type="slidenum">
              <a:rPr lang="zh-TW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endParaRPr lang="zh-TW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5" name="群組 24"/>
          <p:cNvGrpSpPr/>
          <p:nvPr userDrawn="1"/>
        </p:nvGrpSpPr>
        <p:grpSpPr>
          <a:xfrm>
            <a:off x="407988" y="2025800"/>
            <a:ext cx="2016000" cy="4248000"/>
            <a:chOff x="407988" y="2025800"/>
            <a:chExt cx="2016000" cy="4248000"/>
          </a:xfrm>
        </p:grpSpPr>
        <p:grpSp>
          <p:nvGrpSpPr>
            <p:cNvPr id="23" name="群組 22"/>
            <p:cNvGrpSpPr/>
            <p:nvPr userDrawn="1"/>
          </p:nvGrpSpPr>
          <p:grpSpPr>
            <a:xfrm>
              <a:off x="407988" y="2025800"/>
              <a:ext cx="2016000" cy="4248000"/>
              <a:chOff x="407988" y="2025800"/>
              <a:chExt cx="2016000" cy="4248000"/>
            </a:xfrm>
          </p:grpSpPr>
          <p:sp>
            <p:nvSpPr>
              <p:cNvPr id="11" name="圓角矩形 10"/>
              <p:cNvSpPr/>
              <p:nvPr userDrawn="1"/>
            </p:nvSpPr>
            <p:spPr>
              <a:xfrm>
                <a:off x="407988" y="2025800"/>
                <a:ext cx="2016000" cy="4248000"/>
              </a:xfrm>
              <a:prstGeom prst="roundRect">
                <a:avLst>
                  <a:gd name="adj" fmla="val 5328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304800" dist="101600" dir="8100000" algn="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6" name="群組 15"/>
              <p:cNvGrpSpPr/>
              <p:nvPr userDrawn="1"/>
            </p:nvGrpSpPr>
            <p:grpSpPr>
              <a:xfrm>
                <a:off x="737388" y="2342810"/>
                <a:ext cx="1357200" cy="1357200"/>
                <a:chOff x="3037945" y="3994075"/>
                <a:chExt cx="1357200" cy="1357200"/>
              </a:xfrm>
            </p:grpSpPr>
            <p:sp>
              <p:nvSpPr>
                <p:cNvPr id="14" name="橢圓 13"/>
                <p:cNvSpPr/>
                <p:nvPr userDrawn="1"/>
              </p:nvSpPr>
              <p:spPr>
                <a:xfrm>
                  <a:off x="3037945" y="3994075"/>
                  <a:ext cx="1357200" cy="13572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" name="橢圓 14"/>
                <p:cNvSpPr/>
                <p:nvPr userDrawn="1"/>
              </p:nvSpPr>
              <p:spPr>
                <a:xfrm>
                  <a:off x="3142345" y="4098475"/>
                  <a:ext cx="1148400" cy="11484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cxnSp>
            <p:nvCxnSpPr>
              <p:cNvPr id="18" name="直線接點 17"/>
              <p:cNvCxnSpPr/>
              <p:nvPr userDrawn="1"/>
            </p:nvCxnSpPr>
            <p:spPr>
              <a:xfrm>
                <a:off x="841788" y="3848100"/>
                <a:ext cx="1148400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字方塊 19"/>
              <p:cNvSpPr txBox="1"/>
              <p:nvPr userDrawn="1"/>
            </p:nvSpPr>
            <p:spPr>
              <a:xfrm>
                <a:off x="972598" y="3854182"/>
                <a:ext cx="8867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5400" dirty="0" smtClean="0">
                    <a:solidFill>
                      <a:srgbClr val="E03E0D"/>
                    </a:solidFill>
                  </a:rPr>
                  <a:t>01</a:t>
                </a:r>
                <a:endParaRPr lang="zh-TW" altLang="en-US" sz="5400" dirty="0">
                  <a:solidFill>
                    <a:srgbClr val="E03E0D"/>
                  </a:solidFill>
                </a:endParaRPr>
              </a:p>
            </p:txBody>
          </p:sp>
          <p:sp>
            <p:nvSpPr>
              <p:cNvPr id="22" name="文字方塊 21"/>
              <p:cNvSpPr txBox="1"/>
              <p:nvPr userDrawn="1"/>
            </p:nvSpPr>
            <p:spPr>
              <a:xfrm>
                <a:off x="759398" y="4716805"/>
                <a:ext cx="131318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44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研究</a:t>
                </a:r>
                <a:endParaRPr lang="en-US" altLang="zh-TW" sz="44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44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動機</a:t>
                </a:r>
                <a:endParaRPr lang="en-US" altLang="zh-TW" sz="44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4" name="文字方塊 23"/>
            <p:cNvSpPr txBox="1"/>
            <p:nvPr userDrawn="1"/>
          </p:nvSpPr>
          <p:spPr>
            <a:xfrm>
              <a:off x="938935" y="2523158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6000" dirty="0" smtClean="0">
                  <a:solidFill>
                    <a:srgbClr val="FFFFFF"/>
                  </a:solidFill>
                  <a:sym typeface="Webdings" panose="05030102010509060703" pitchFamily="18" charset="2"/>
                </a:rPr>
                <a:t></a:t>
              </a:r>
              <a:endParaRPr lang="zh-TW" altLang="en-US" sz="60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6" name="群組 25"/>
          <p:cNvGrpSpPr/>
          <p:nvPr userDrawn="1"/>
        </p:nvGrpSpPr>
        <p:grpSpPr>
          <a:xfrm>
            <a:off x="2747994" y="2025800"/>
            <a:ext cx="2016000" cy="4248000"/>
            <a:chOff x="407988" y="2025800"/>
            <a:chExt cx="2016000" cy="4248000"/>
          </a:xfrm>
        </p:grpSpPr>
        <p:grpSp>
          <p:nvGrpSpPr>
            <p:cNvPr id="27" name="群組 26"/>
            <p:cNvGrpSpPr/>
            <p:nvPr userDrawn="1"/>
          </p:nvGrpSpPr>
          <p:grpSpPr>
            <a:xfrm>
              <a:off x="407988" y="2025800"/>
              <a:ext cx="2016000" cy="4248000"/>
              <a:chOff x="407988" y="2025800"/>
              <a:chExt cx="2016000" cy="4248000"/>
            </a:xfrm>
          </p:grpSpPr>
          <p:sp>
            <p:nvSpPr>
              <p:cNvPr id="29" name="圓角矩形 28"/>
              <p:cNvSpPr/>
              <p:nvPr userDrawn="1"/>
            </p:nvSpPr>
            <p:spPr>
              <a:xfrm>
                <a:off x="407988" y="2025800"/>
                <a:ext cx="2016000" cy="4248000"/>
              </a:xfrm>
              <a:prstGeom prst="roundRect">
                <a:avLst>
                  <a:gd name="adj" fmla="val 5328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304800" dist="101600" dir="8100000" algn="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30" name="群組 29"/>
              <p:cNvGrpSpPr/>
              <p:nvPr userDrawn="1"/>
            </p:nvGrpSpPr>
            <p:grpSpPr>
              <a:xfrm>
                <a:off x="737388" y="2342810"/>
                <a:ext cx="1357200" cy="1357200"/>
                <a:chOff x="3037945" y="3994075"/>
                <a:chExt cx="1357200" cy="1357200"/>
              </a:xfrm>
            </p:grpSpPr>
            <p:sp>
              <p:nvSpPr>
                <p:cNvPr id="34" name="橢圓 33"/>
                <p:cNvSpPr/>
                <p:nvPr userDrawn="1"/>
              </p:nvSpPr>
              <p:spPr>
                <a:xfrm>
                  <a:off x="3037945" y="3994075"/>
                  <a:ext cx="1357200" cy="1357200"/>
                </a:xfrm>
                <a:prstGeom prst="ellipse">
                  <a:avLst/>
                </a:prstGeom>
                <a:noFill/>
                <a:ln>
                  <a:solidFill>
                    <a:srgbClr val="F8B70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5" name="橢圓 34"/>
                <p:cNvSpPr/>
                <p:nvPr userDrawn="1"/>
              </p:nvSpPr>
              <p:spPr>
                <a:xfrm>
                  <a:off x="3142345" y="4098475"/>
                  <a:ext cx="1148400" cy="1148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cxnSp>
            <p:nvCxnSpPr>
              <p:cNvPr id="31" name="直線接點 30"/>
              <p:cNvCxnSpPr/>
              <p:nvPr userDrawn="1"/>
            </p:nvCxnSpPr>
            <p:spPr>
              <a:xfrm>
                <a:off x="841788" y="3848100"/>
                <a:ext cx="1148400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文字方塊 31"/>
              <p:cNvSpPr txBox="1"/>
              <p:nvPr userDrawn="1"/>
            </p:nvSpPr>
            <p:spPr>
              <a:xfrm>
                <a:off x="972598" y="3854182"/>
                <a:ext cx="8867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5400" dirty="0" smtClean="0">
                    <a:solidFill>
                      <a:srgbClr val="F8B70C"/>
                    </a:solidFill>
                  </a:rPr>
                  <a:t>02</a:t>
                </a:r>
                <a:endParaRPr lang="zh-TW" altLang="en-US" sz="5400" dirty="0">
                  <a:solidFill>
                    <a:srgbClr val="F8B70C"/>
                  </a:solidFill>
                </a:endParaRPr>
              </a:p>
            </p:txBody>
          </p:sp>
          <p:sp>
            <p:nvSpPr>
              <p:cNvPr id="33" name="文字方塊 32"/>
              <p:cNvSpPr txBox="1"/>
              <p:nvPr userDrawn="1"/>
            </p:nvSpPr>
            <p:spPr>
              <a:xfrm>
                <a:off x="759398" y="4716805"/>
                <a:ext cx="131318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44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開發</a:t>
                </a:r>
                <a:endParaRPr lang="en-US" altLang="zh-TW" sz="44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r>
                  <a:rPr lang="zh-TW" altLang="en-US" sz="44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環境</a:t>
                </a:r>
                <a:endParaRPr lang="en-US" altLang="zh-TW" sz="44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8" name="文字方塊 27"/>
            <p:cNvSpPr txBox="1"/>
            <p:nvPr userDrawn="1"/>
          </p:nvSpPr>
          <p:spPr>
            <a:xfrm>
              <a:off x="957985" y="2504108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6000" dirty="0" smtClean="0">
                  <a:solidFill>
                    <a:srgbClr val="FFFFFF"/>
                  </a:solidFill>
                  <a:sym typeface="Webdings" panose="05030102010509060703" pitchFamily="18" charset="2"/>
                </a:rPr>
                <a:t></a:t>
              </a:r>
            </a:p>
          </p:txBody>
        </p:sp>
      </p:grpSp>
      <p:grpSp>
        <p:nvGrpSpPr>
          <p:cNvPr id="36" name="群組 35"/>
          <p:cNvGrpSpPr/>
          <p:nvPr userDrawn="1"/>
        </p:nvGrpSpPr>
        <p:grpSpPr>
          <a:xfrm>
            <a:off x="5088000" y="2025800"/>
            <a:ext cx="2016000" cy="4248000"/>
            <a:chOff x="407988" y="2025800"/>
            <a:chExt cx="2016000" cy="4248000"/>
          </a:xfrm>
        </p:grpSpPr>
        <p:grpSp>
          <p:nvGrpSpPr>
            <p:cNvPr id="37" name="群組 36"/>
            <p:cNvGrpSpPr/>
            <p:nvPr userDrawn="1"/>
          </p:nvGrpSpPr>
          <p:grpSpPr>
            <a:xfrm>
              <a:off x="407988" y="2025800"/>
              <a:ext cx="2016000" cy="4248000"/>
              <a:chOff x="407988" y="2025800"/>
              <a:chExt cx="2016000" cy="4248000"/>
            </a:xfrm>
          </p:grpSpPr>
          <p:sp>
            <p:nvSpPr>
              <p:cNvPr id="39" name="圓角矩形 38"/>
              <p:cNvSpPr/>
              <p:nvPr userDrawn="1"/>
            </p:nvSpPr>
            <p:spPr>
              <a:xfrm>
                <a:off x="407988" y="2025800"/>
                <a:ext cx="2016000" cy="4248000"/>
              </a:xfrm>
              <a:prstGeom prst="roundRect">
                <a:avLst>
                  <a:gd name="adj" fmla="val 5328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304800" dist="101600" dir="8100000" algn="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40" name="群組 39"/>
              <p:cNvGrpSpPr/>
              <p:nvPr userDrawn="1"/>
            </p:nvGrpSpPr>
            <p:grpSpPr>
              <a:xfrm>
                <a:off x="737388" y="2342810"/>
                <a:ext cx="1357200" cy="1357200"/>
                <a:chOff x="3037945" y="3994075"/>
                <a:chExt cx="1357200" cy="1357200"/>
              </a:xfrm>
            </p:grpSpPr>
            <p:sp>
              <p:nvSpPr>
                <p:cNvPr id="44" name="橢圓 43"/>
                <p:cNvSpPr/>
                <p:nvPr userDrawn="1"/>
              </p:nvSpPr>
              <p:spPr>
                <a:xfrm>
                  <a:off x="3037945" y="3994075"/>
                  <a:ext cx="1357200" cy="1357200"/>
                </a:xfrm>
                <a:prstGeom prst="ellipse">
                  <a:avLst/>
                </a:prstGeom>
                <a:noFill/>
                <a:ln>
                  <a:solidFill>
                    <a:srgbClr val="1C9FC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5" name="橢圓 44"/>
                <p:cNvSpPr/>
                <p:nvPr userDrawn="1"/>
              </p:nvSpPr>
              <p:spPr>
                <a:xfrm>
                  <a:off x="3142345" y="4098475"/>
                  <a:ext cx="1148400" cy="11484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cxnSp>
            <p:nvCxnSpPr>
              <p:cNvPr id="41" name="直線接點 40"/>
              <p:cNvCxnSpPr/>
              <p:nvPr userDrawn="1"/>
            </p:nvCxnSpPr>
            <p:spPr>
              <a:xfrm>
                <a:off x="841788" y="3848100"/>
                <a:ext cx="1148400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文字方塊 41"/>
              <p:cNvSpPr txBox="1"/>
              <p:nvPr userDrawn="1"/>
            </p:nvSpPr>
            <p:spPr>
              <a:xfrm>
                <a:off x="972598" y="3854182"/>
                <a:ext cx="8867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5400" dirty="0" smtClean="0">
                    <a:solidFill>
                      <a:srgbClr val="1C9FCB"/>
                    </a:solidFill>
                  </a:rPr>
                  <a:t>03</a:t>
                </a:r>
                <a:endParaRPr lang="zh-TW" altLang="en-US" sz="5400" dirty="0">
                  <a:solidFill>
                    <a:srgbClr val="1C9FCB"/>
                  </a:solidFill>
                </a:endParaRPr>
              </a:p>
            </p:txBody>
          </p:sp>
          <p:sp>
            <p:nvSpPr>
              <p:cNvPr id="43" name="文字方塊 42"/>
              <p:cNvSpPr txBox="1"/>
              <p:nvPr userDrawn="1"/>
            </p:nvSpPr>
            <p:spPr>
              <a:xfrm>
                <a:off x="759398" y="4716805"/>
                <a:ext cx="131318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44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系統</a:t>
                </a:r>
                <a:endParaRPr lang="en-US" altLang="zh-TW" sz="44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r>
                  <a:rPr lang="zh-TW" altLang="en-US" sz="44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設計</a:t>
                </a:r>
                <a:endParaRPr lang="en-US" altLang="zh-TW" sz="44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38" name="文字方塊 37"/>
            <p:cNvSpPr txBox="1"/>
            <p:nvPr userDrawn="1"/>
          </p:nvSpPr>
          <p:spPr>
            <a:xfrm>
              <a:off x="977035" y="2504108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6000" dirty="0" smtClean="0">
                  <a:solidFill>
                    <a:srgbClr val="FFFFFF"/>
                  </a:solidFill>
                  <a:sym typeface="Webdings" panose="05030102010509060703" pitchFamily="18" charset="2"/>
                </a:rPr>
                <a:t></a:t>
              </a:r>
            </a:p>
          </p:txBody>
        </p:sp>
      </p:grpSp>
      <p:grpSp>
        <p:nvGrpSpPr>
          <p:cNvPr id="46" name="群組 45"/>
          <p:cNvGrpSpPr/>
          <p:nvPr userDrawn="1"/>
        </p:nvGrpSpPr>
        <p:grpSpPr>
          <a:xfrm>
            <a:off x="7428006" y="2025800"/>
            <a:ext cx="2016000" cy="4248000"/>
            <a:chOff x="407988" y="2025800"/>
            <a:chExt cx="2016000" cy="4248000"/>
          </a:xfrm>
        </p:grpSpPr>
        <p:grpSp>
          <p:nvGrpSpPr>
            <p:cNvPr id="47" name="群組 46"/>
            <p:cNvGrpSpPr/>
            <p:nvPr userDrawn="1"/>
          </p:nvGrpSpPr>
          <p:grpSpPr>
            <a:xfrm>
              <a:off x="407988" y="2025800"/>
              <a:ext cx="2016000" cy="4248000"/>
              <a:chOff x="407988" y="2025800"/>
              <a:chExt cx="2016000" cy="4248000"/>
            </a:xfrm>
          </p:grpSpPr>
          <p:sp>
            <p:nvSpPr>
              <p:cNvPr id="49" name="圓角矩形 48"/>
              <p:cNvSpPr/>
              <p:nvPr userDrawn="1"/>
            </p:nvSpPr>
            <p:spPr>
              <a:xfrm>
                <a:off x="407988" y="2025800"/>
                <a:ext cx="2016000" cy="4248000"/>
              </a:xfrm>
              <a:prstGeom prst="roundRect">
                <a:avLst>
                  <a:gd name="adj" fmla="val 5328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304800" dist="101600" dir="8100000" algn="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50" name="群組 49"/>
              <p:cNvGrpSpPr/>
              <p:nvPr userDrawn="1"/>
            </p:nvGrpSpPr>
            <p:grpSpPr>
              <a:xfrm>
                <a:off x="737388" y="2342810"/>
                <a:ext cx="1357200" cy="1357200"/>
                <a:chOff x="3037945" y="3994075"/>
                <a:chExt cx="1357200" cy="1357200"/>
              </a:xfrm>
            </p:grpSpPr>
            <p:sp>
              <p:nvSpPr>
                <p:cNvPr id="54" name="橢圓 53"/>
                <p:cNvSpPr/>
                <p:nvPr userDrawn="1"/>
              </p:nvSpPr>
              <p:spPr>
                <a:xfrm>
                  <a:off x="3037945" y="3994075"/>
                  <a:ext cx="1357200" cy="1357200"/>
                </a:xfrm>
                <a:prstGeom prst="ellipse">
                  <a:avLst/>
                </a:prstGeom>
                <a:noFill/>
                <a:ln>
                  <a:solidFill>
                    <a:srgbClr val="32CB5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5" name="橢圓 54"/>
                <p:cNvSpPr/>
                <p:nvPr userDrawn="1"/>
              </p:nvSpPr>
              <p:spPr>
                <a:xfrm>
                  <a:off x="3142345" y="4098475"/>
                  <a:ext cx="1148400" cy="1148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cxnSp>
            <p:nvCxnSpPr>
              <p:cNvPr id="51" name="直線接點 50"/>
              <p:cNvCxnSpPr/>
              <p:nvPr userDrawn="1"/>
            </p:nvCxnSpPr>
            <p:spPr>
              <a:xfrm>
                <a:off x="841788" y="3848100"/>
                <a:ext cx="1148400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文字方塊 51"/>
              <p:cNvSpPr txBox="1"/>
              <p:nvPr userDrawn="1"/>
            </p:nvSpPr>
            <p:spPr>
              <a:xfrm>
                <a:off x="972598" y="3854182"/>
                <a:ext cx="8867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5400" dirty="0" smtClean="0">
                    <a:solidFill>
                      <a:srgbClr val="32CB58"/>
                    </a:solidFill>
                  </a:rPr>
                  <a:t>04</a:t>
                </a:r>
                <a:endParaRPr lang="zh-TW" altLang="en-US" sz="5400" dirty="0">
                  <a:solidFill>
                    <a:srgbClr val="32CB58"/>
                  </a:solidFill>
                </a:endParaRPr>
              </a:p>
            </p:txBody>
          </p:sp>
          <p:sp>
            <p:nvSpPr>
              <p:cNvPr id="53" name="文字方塊 52"/>
              <p:cNvSpPr txBox="1"/>
              <p:nvPr userDrawn="1"/>
            </p:nvSpPr>
            <p:spPr>
              <a:xfrm>
                <a:off x="759398" y="4716805"/>
                <a:ext cx="131318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44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程式</a:t>
                </a:r>
                <a:endParaRPr lang="en-US" altLang="zh-TW" sz="44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r>
                  <a:rPr lang="zh-TW" altLang="en-US" sz="44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實作</a:t>
                </a:r>
                <a:endParaRPr lang="en-US" altLang="zh-TW" sz="44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48" name="文字方塊 47"/>
            <p:cNvSpPr txBox="1"/>
            <p:nvPr userDrawn="1"/>
          </p:nvSpPr>
          <p:spPr>
            <a:xfrm>
              <a:off x="957985" y="2504108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6000" dirty="0" smtClean="0">
                  <a:solidFill>
                    <a:srgbClr val="FFFFFF"/>
                  </a:solidFill>
                  <a:sym typeface="Webdings" panose="05030102010509060703" pitchFamily="18" charset="2"/>
                </a:rPr>
                <a:t></a:t>
              </a:r>
              <a:endParaRPr lang="zh-TW" altLang="en-US" sz="60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56" name="群組 55"/>
          <p:cNvGrpSpPr/>
          <p:nvPr userDrawn="1"/>
        </p:nvGrpSpPr>
        <p:grpSpPr>
          <a:xfrm>
            <a:off x="9768013" y="2025800"/>
            <a:ext cx="2016000" cy="4248000"/>
            <a:chOff x="407988" y="2025800"/>
            <a:chExt cx="2016000" cy="4248000"/>
          </a:xfrm>
        </p:grpSpPr>
        <p:grpSp>
          <p:nvGrpSpPr>
            <p:cNvPr id="57" name="群組 56"/>
            <p:cNvGrpSpPr/>
            <p:nvPr userDrawn="1"/>
          </p:nvGrpSpPr>
          <p:grpSpPr>
            <a:xfrm>
              <a:off x="407988" y="2025800"/>
              <a:ext cx="2016000" cy="4248000"/>
              <a:chOff x="407988" y="2025800"/>
              <a:chExt cx="2016000" cy="4248000"/>
            </a:xfrm>
          </p:grpSpPr>
          <p:sp>
            <p:nvSpPr>
              <p:cNvPr id="59" name="圓角矩形 58"/>
              <p:cNvSpPr/>
              <p:nvPr userDrawn="1"/>
            </p:nvSpPr>
            <p:spPr>
              <a:xfrm>
                <a:off x="407988" y="2025800"/>
                <a:ext cx="2016000" cy="4248000"/>
              </a:xfrm>
              <a:prstGeom prst="roundRect">
                <a:avLst>
                  <a:gd name="adj" fmla="val 5328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304800" dist="101600" dir="8100000" algn="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60" name="群組 59"/>
              <p:cNvGrpSpPr/>
              <p:nvPr userDrawn="1"/>
            </p:nvGrpSpPr>
            <p:grpSpPr>
              <a:xfrm>
                <a:off x="737388" y="2342810"/>
                <a:ext cx="1357200" cy="1357200"/>
                <a:chOff x="3037945" y="3994075"/>
                <a:chExt cx="1357200" cy="1357200"/>
              </a:xfrm>
            </p:grpSpPr>
            <p:sp>
              <p:nvSpPr>
                <p:cNvPr id="64" name="橢圓 63"/>
                <p:cNvSpPr/>
                <p:nvPr userDrawn="1"/>
              </p:nvSpPr>
              <p:spPr>
                <a:xfrm>
                  <a:off x="3037945" y="3994075"/>
                  <a:ext cx="1357200" cy="1357200"/>
                </a:xfrm>
                <a:prstGeom prst="ellipse">
                  <a:avLst/>
                </a:prstGeom>
                <a:noFill/>
                <a:ln>
                  <a:solidFill>
                    <a:srgbClr val="A466D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65" name="橢圓 64"/>
                <p:cNvSpPr/>
                <p:nvPr userDrawn="1"/>
              </p:nvSpPr>
              <p:spPr>
                <a:xfrm>
                  <a:off x="3142345" y="4098475"/>
                  <a:ext cx="1148400" cy="11484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cxnSp>
            <p:nvCxnSpPr>
              <p:cNvPr id="61" name="直線接點 60"/>
              <p:cNvCxnSpPr/>
              <p:nvPr userDrawn="1"/>
            </p:nvCxnSpPr>
            <p:spPr>
              <a:xfrm>
                <a:off x="841788" y="3848100"/>
                <a:ext cx="1148400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文字方塊 61"/>
              <p:cNvSpPr txBox="1"/>
              <p:nvPr userDrawn="1"/>
            </p:nvSpPr>
            <p:spPr>
              <a:xfrm>
                <a:off x="972598" y="3854182"/>
                <a:ext cx="8867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5400" dirty="0" smtClean="0">
                    <a:solidFill>
                      <a:srgbClr val="A466D8"/>
                    </a:solidFill>
                  </a:rPr>
                  <a:t>05</a:t>
                </a:r>
                <a:endParaRPr lang="zh-TW" altLang="en-US" sz="5400" dirty="0">
                  <a:solidFill>
                    <a:srgbClr val="A466D8"/>
                  </a:solidFill>
                </a:endParaRPr>
              </a:p>
            </p:txBody>
          </p:sp>
          <p:sp>
            <p:nvSpPr>
              <p:cNvPr id="63" name="文字方塊 62"/>
              <p:cNvSpPr txBox="1"/>
              <p:nvPr userDrawn="1"/>
            </p:nvSpPr>
            <p:spPr>
              <a:xfrm>
                <a:off x="759398" y="4716805"/>
                <a:ext cx="131318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44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提問</a:t>
                </a:r>
                <a:endParaRPr lang="en-US" altLang="zh-TW" sz="44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r>
                  <a:rPr lang="zh-TW" altLang="en-US" sz="44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環節</a:t>
                </a:r>
                <a:endParaRPr lang="en-US" altLang="zh-TW" sz="44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58" name="文字方塊 57"/>
            <p:cNvSpPr txBox="1"/>
            <p:nvPr userDrawn="1"/>
          </p:nvSpPr>
          <p:spPr>
            <a:xfrm>
              <a:off x="957985" y="2504108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6000" dirty="0" smtClean="0">
                  <a:solidFill>
                    <a:srgbClr val="FFFFFF"/>
                  </a:solidFill>
                  <a:sym typeface="Webdings" panose="05030102010509060703" pitchFamily="18" charset="2"/>
                </a:rPr>
                <a:t></a:t>
              </a:r>
              <a:endParaRPr lang="zh-TW" altLang="en-US" sz="6000" dirty="0">
                <a:solidFill>
                  <a:srgbClr val="FFFFFF"/>
                </a:solidFill>
              </a:endParaRPr>
            </a:p>
          </p:txBody>
        </p:sp>
      </p:grpSp>
      <p:sp>
        <p:nvSpPr>
          <p:cNvPr id="66" name="文字方塊 65"/>
          <p:cNvSpPr txBox="1"/>
          <p:nvPr userDrawn="1"/>
        </p:nvSpPr>
        <p:spPr>
          <a:xfrm>
            <a:off x="1327031" y="-452158"/>
            <a:ext cx="953793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600" dirty="0" smtClean="0">
                <a:solidFill>
                  <a:srgbClr val="FFFFFF"/>
                </a:solidFill>
              </a:rPr>
              <a:t>CONTENTS</a:t>
            </a:r>
            <a:endParaRPr lang="zh-TW" altLang="en-US" sz="16600" dirty="0">
              <a:solidFill>
                <a:srgbClr val="FFFFFF"/>
              </a:solidFill>
            </a:endParaRPr>
          </a:p>
        </p:txBody>
      </p:sp>
      <p:sp>
        <p:nvSpPr>
          <p:cNvPr id="67" name="文字方塊 66"/>
          <p:cNvSpPr txBox="1"/>
          <p:nvPr userDrawn="1"/>
        </p:nvSpPr>
        <p:spPr>
          <a:xfrm>
            <a:off x="5360862" y="639957"/>
            <a:ext cx="1569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目錄</a:t>
            </a:r>
            <a:endParaRPr lang="zh-TW" altLang="en-US" sz="5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31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甜甜圈 10"/>
          <p:cNvSpPr/>
          <p:nvPr userDrawn="1"/>
        </p:nvSpPr>
        <p:spPr>
          <a:xfrm>
            <a:off x="-2047875" y="-1676311"/>
            <a:ext cx="3409950" cy="3409950"/>
          </a:xfrm>
          <a:prstGeom prst="donut">
            <a:avLst>
              <a:gd name="adj" fmla="val 15772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7692000" y="-4500000"/>
            <a:ext cx="9000000" cy="9000000"/>
            <a:chOff x="3988526" y="1321526"/>
            <a:chExt cx="4214949" cy="4214949"/>
          </a:xfrm>
        </p:grpSpPr>
        <p:sp>
          <p:nvSpPr>
            <p:cNvPr id="8" name="橢圓 7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E03E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E03E0D"/>
            </a:solidFill>
            <a:ln>
              <a:noFill/>
            </a:ln>
            <a:effectLst>
              <a:outerShdw blurRad="457200" sx="102000" sy="102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文字方塊 9"/>
          <p:cNvSpPr txBox="1"/>
          <p:nvPr userDrawn="1"/>
        </p:nvSpPr>
        <p:spPr>
          <a:xfrm>
            <a:off x="407988" y="528548"/>
            <a:ext cx="3215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PART 01</a:t>
            </a:r>
            <a:endParaRPr lang="zh-TW" altLang="en-US" sz="7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-2484136" y="4500000"/>
            <a:ext cx="9000000" cy="9000000"/>
            <a:chOff x="3988526" y="1321526"/>
            <a:chExt cx="4214949" cy="4214949"/>
          </a:xfrm>
        </p:grpSpPr>
        <p:sp>
          <p:nvSpPr>
            <p:cNvPr id="13" name="橢圓 12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E03E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E03E0D"/>
            </a:solidFill>
            <a:ln>
              <a:noFill/>
            </a:ln>
            <a:effectLst>
              <a:outerShdw blurRad="457200" sx="102000" sy="102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6044959" y="4721905"/>
            <a:ext cx="5827236" cy="8556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 smtClean="0">
                <a:solidFill>
                  <a:srgbClr val="E03E0D"/>
                </a:solidFill>
              </a:rPr>
              <a:t>計畫緣起</a:t>
            </a:r>
            <a:endParaRPr lang="en-US" altLang="zh-TW" sz="11000" b="1" dirty="0" smtClean="0">
              <a:solidFill>
                <a:srgbClr val="E03E0D"/>
              </a:solidFill>
            </a:endParaRPr>
          </a:p>
          <a:p>
            <a:r>
              <a:rPr lang="zh-TW" altLang="en-US" sz="11000" b="1" dirty="0" smtClean="0">
                <a:solidFill>
                  <a:srgbClr val="F8B70C"/>
                </a:solidFill>
              </a:rPr>
              <a:t>產業概況</a:t>
            </a:r>
            <a:endParaRPr lang="en-US" altLang="zh-TW" sz="11000" b="1" dirty="0" smtClean="0">
              <a:solidFill>
                <a:srgbClr val="F8B70C"/>
              </a:solidFill>
            </a:endParaRPr>
          </a:p>
          <a:p>
            <a:r>
              <a:rPr lang="zh-TW" altLang="en-US" sz="11000" b="1" dirty="0" smtClean="0">
                <a:solidFill>
                  <a:srgbClr val="1C9FCB"/>
                </a:solidFill>
              </a:rPr>
              <a:t>問卷分析</a:t>
            </a:r>
            <a:endParaRPr lang="en-US" altLang="zh-TW" sz="11000" b="1" dirty="0" smtClean="0">
              <a:solidFill>
                <a:srgbClr val="1C9FCB"/>
              </a:solidFill>
            </a:endParaRPr>
          </a:p>
          <a:p>
            <a:r>
              <a:rPr lang="zh-TW" altLang="en-US" sz="11000" b="1" dirty="0" smtClean="0">
                <a:solidFill>
                  <a:srgbClr val="32CB58"/>
                </a:solidFill>
              </a:rPr>
              <a:t>行銷計畫</a:t>
            </a:r>
            <a:endParaRPr lang="en-US" altLang="zh-TW" sz="11000" b="1" dirty="0" smtClean="0">
              <a:solidFill>
                <a:srgbClr val="32CB58"/>
              </a:solidFill>
            </a:endParaRPr>
          </a:p>
          <a:p>
            <a:r>
              <a:rPr lang="zh-TW" altLang="en-US" sz="11000" b="1" dirty="0" smtClean="0">
                <a:solidFill>
                  <a:srgbClr val="A466D8"/>
                </a:solidFill>
              </a:rPr>
              <a:t>計畫總結</a:t>
            </a:r>
            <a:endParaRPr lang="en-US" altLang="zh-TW" sz="11000" b="1" dirty="0" smtClean="0">
              <a:solidFill>
                <a:srgbClr val="A466D8"/>
              </a:solidFill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21164" y="1671602"/>
            <a:ext cx="5827236" cy="1785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03E0D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研究動機</a:t>
            </a:r>
            <a:endParaRPr kumimoji="0" lang="en-US" altLang="zh-TW" sz="11000" b="1" i="0" u="none" strike="noStrike" kern="1200" cap="none" spc="0" normalizeH="0" baseline="0" noProof="0" dirty="0" smtClean="0">
              <a:ln>
                <a:noFill/>
              </a:ln>
              <a:solidFill>
                <a:srgbClr val="E03E0D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491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/>
      <p:bldP spid="17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接點 16"/>
          <p:cNvCxnSpPr/>
          <p:nvPr userDrawn="1"/>
        </p:nvCxnSpPr>
        <p:spPr>
          <a:xfrm>
            <a:off x="407988" y="6416674"/>
            <a:ext cx="113760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群組 7"/>
          <p:cNvGrpSpPr/>
          <p:nvPr userDrawn="1"/>
        </p:nvGrpSpPr>
        <p:grpSpPr>
          <a:xfrm>
            <a:off x="3939150" y="-2164275"/>
            <a:ext cx="11186550" cy="11186550"/>
            <a:chOff x="3988526" y="1321526"/>
            <a:chExt cx="4214949" cy="4214949"/>
          </a:xfrm>
        </p:grpSpPr>
        <p:sp>
          <p:nvSpPr>
            <p:cNvPr id="9" name="橢圓 8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solidFill>
              <a:srgbClr val="FDD5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E03E0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文字方塊 14"/>
          <p:cNvSpPr txBox="1"/>
          <p:nvPr userDrawn="1"/>
        </p:nvSpPr>
        <p:spPr>
          <a:xfrm>
            <a:off x="11416605" y="6416674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061B2C-6C14-4386-B8A0-FC3D00B49B88}" type="slidenum">
              <a:rPr lang="zh-TW" altLang="en-US" sz="1200" smtClean="0">
                <a:solidFill>
                  <a:srgbClr val="FFFFFF"/>
                </a:solidFill>
              </a:rPr>
              <a:t>‹#›</a:t>
            </a:fld>
            <a:endParaRPr lang="zh-TW" altLang="en-US" sz="1200" dirty="0">
              <a:solidFill>
                <a:srgbClr val="FFFFFF"/>
              </a:solidFill>
            </a:endParaRPr>
          </a:p>
        </p:txBody>
      </p:sp>
      <p:sp>
        <p:nvSpPr>
          <p:cNvPr id="18" name="圓角矩形 17"/>
          <p:cNvSpPr/>
          <p:nvPr userDrawn="1"/>
        </p:nvSpPr>
        <p:spPr>
          <a:xfrm>
            <a:off x="407987" y="1376363"/>
            <a:ext cx="11376025" cy="4897437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>
            <a:noFill/>
          </a:ln>
          <a:effectLst>
            <a:outerShdw blurRad="3048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甜甜圈 18"/>
          <p:cNvSpPr/>
          <p:nvPr userDrawn="1"/>
        </p:nvSpPr>
        <p:spPr>
          <a:xfrm>
            <a:off x="-1623873" y="-1252309"/>
            <a:ext cx="2561946" cy="2561946"/>
          </a:xfrm>
          <a:prstGeom prst="donut">
            <a:avLst>
              <a:gd name="adj" fmla="val 15772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1702637" y="-3240847"/>
            <a:ext cx="2236510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b="1" dirty="0" smtClean="0">
                <a:solidFill>
                  <a:srgbClr val="E03E0D"/>
                </a:solidFill>
              </a:rPr>
              <a:t>計畫緣起</a:t>
            </a:r>
            <a:endParaRPr lang="en-US" altLang="zh-TW" sz="4000" b="1" dirty="0" smtClean="0">
              <a:solidFill>
                <a:srgbClr val="E03E0D"/>
              </a:solidFill>
            </a:endParaRPr>
          </a:p>
          <a:p>
            <a:r>
              <a:rPr lang="zh-TW" altLang="en-US" sz="4000" b="1" dirty="0" smtClean="0">
                <a:solidFill>
                  <a:srgbClr val="F8B70C"/>
                </a:solidFill>
              </a:rPr>
              <a:t>產業概況</a:t>
            </a:r>
            <a:endParaRPr lang="en-US" altLang="zh-TW" sz="4000" b="1" dirty="0" smtClean="0">
              <a:solidFill>
                <a:srgbClr val="F8B70C"/>
              </a:solidFill>
            </a:endParaRPr>
          </a:p>
          <a:p>
            <a:r>
              <a:rPr lang="zh-TW" altLang="en-US" sz="4000" b="1" dirty="0" smtClean="0">
                <a:solidFill>
                  <a:srgbClr val="1C9FCB"/>
                </a:solidFill>
              </a:rPr>
              <a:t>問卷分析</a:t>
            </a:r>
            <a:endParaRPr lang="en-US" altLang="zh-TW" sz="4000" b="1" dirty="0" smtClean="0">
              <a:solidFill>
                <a:srgbClr val="1C9FCB"/>
              </a:solidFill>
            </a:endParaRPr>
          </a:p>
          <a:p>
            <a:r>
              <a:rPr lang="zh-TW" altLang="en-US" sz="4000" b="1" dirty="0" smtClean="0">
                <a:solidFill>
                  <a:srgbClr val="32CB58"/>
                </a:solidFill>
              </a:rPr>
              <a:t>行銷計畫</a:t>
            </a:r>
            <a:endParaRPr lang="en-US" altLang="zh-TW" sz="4000" b="1" dirty="0" smtClean="0">
              <a:solidFill>
                <a:srgbClr val="32CB58"/>
              </a:solidFill>
            </a:endParaRPr>
          </a:p>
          <a:p>
            <a:r>
              <a:rPr lang="zh-TW" altLang="en-US" sz="4000" b="1" dirty="0" smtClean="0">
                <a:solidFill>
                  <a:srgbClr val="A466D8"/>
                </a:solidFill>
              </a:rPr>
              <a:t>計畫總結</a:t>
            </a:r>
            <a:endParaRPr lang="en-US" altLang="zh-TW" sz="4000" b="1" dirty="0" smtClean="0">
              <a:solidFill>
                <a:srgbClr val="A466D8"/>
              </a:solidFill>
            </a:endParaRPr>
          </a:p>
        </p:txBody>
      </p:sp>
      <p:grpSp>
        <p:nvGrpSpPr>
          <p:cNvPr id="23" name="群組 22"/>
          <p:cNvGrpSpPr/>
          <p:nvPr userDrawn="1"/>
        </p:nvGrpSpPr>
        <p:grpSpPr>
          <a:xfrm>
            <a:off x="408143" y="0"/>
            <a:ext cx="3218712" cy="1200329"/>
            <a:chOff x="408143" y="0"/>
            <a:chExt cx="3218712" cy="1200329"/>
          </a:xfrm>
        </p:grpSpPr>
        <p:sp>
          <p:nvSpPr>
            <p:cNvPr id="20" name="文字方塊 19"/>
            <p:cNvSpPr txBox="1"/>
            <p:nvPr userDrawn="1"/>
          </p:nvSpPr>
          <p:spPr>
            <a:xfrm>
              <a:off x="408143" y="0"/>
              <a:ext cx="112082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7200" b="1" dirty="0" smtClean="0">
                  <a:solidFill>
                    <a:srgbClr val="E03E0D"/>
                  </a:solidFill>
                </a:rPr>
                <a:t>01</a:t>
              </a:r>
              <a:endParaRPr lang="zh-TW" altLang="en-US" sz="7200" b="1" dirty="0">
                <a:solidFill>
                  <a:srgbClr val="E03E0D"/>
                </a:solidFill>
              </a:endParaRPr>
            </a:p>
          </p:txBody>
        </p:sp>
        <p:sp>
          <p:nvSpPr>
            <p:cNvPr id="22" name="文字方塊 21"/>
            <p:cNvSpPr txBox="1"/>
            <p:nvPr userDrawn="1"/>
          </p:nvSpPr>
          <p:spPr>
            <a:xfrm>
              <a:off x="1390345" y="347936"/>
              <a:ext cx="22365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40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E03E0D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研究動機</a:t>
              </a:r>
              <a:endParaRPr kumimoji="0" lang="en-US" altLang="zh-TW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03E0D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4" name="文字方塊 23"/>
          <p:cNvSpPr txBox="1"/>
          <p:nvPr userDrawn="1"/>
        </p:nvSpPr>
        <p:spPr>
          <a:xfrm>
            <a:off x="1434736" y="203429"/>
            <a:ext cx="8130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PART ONE</a:t>
            </a:r>
            <a:endParaRPr lang="zh-TW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1305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甜甜圈 10"/>
          <p:cNvSpPr/>
          <p:nvPr userDrawn="1"/>
        </p:nvSpPr>
        <p:spPr>
          <a:xfrm>
            <a:off x="-2047875" y="-1676311"/>
            <a:ext cx="3409950" cy="3409950"/>
          </a:xfrm>
          <a:prstGeom prst="donut">
            <a:avLst>
              <a:gd name="adj" fmla="val 15772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7692000" y="-4500000"/>
            <a:ext cx="9000000" cy="9000000"/>
            <a:chOff x="3988526" y="1321526"/>
            <a:chExt cx="4214949" cy="4214949"/>
          </a:xfrm>
        </p:grpSpPr>
        <p:sp>
          <p:nvSpPr>
            <p:cNvPr id="8" name="橢圓 7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F8B7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F8B70C"/>
            </a:solidFill>
            <a:ln>
              <a:noFill/>
            </a:ln>
            <a:effectLst>
              <a:outerShdw blurRad="457200" sx="102000" sy="102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文字方塊 9"/>
          <p:cNvSpPr txBox="1"/>
          <p:nvPr userDrawn="1"/>
        </p:nvSpPr>
        <p:spPr>
          <a:xfrm>
            <a:off x="407988" y="528548"/>
            <a:ext cx="3215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PART 02</a:t>
            </a:r>
            <a:endParaRPr lang="zh-TW" altLang="en-US" sz="7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-2484136" y="4500000"/>
            <a:ext cx="9000000" cy="9000000"/>
            <a:chOff x="3988526" y="1321526"/>
            <a:chExt cx="4214949" cy="4214949"/>
          </a:xfrm>
        </p:grpSpPr>
        <p:sp>
          <p:nvSpPr>
            <p:cNvPr id="13" name="橢圓 12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F8B7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F8B70C"/>
            </a:solidFill>
            <a:ln>
              <a:noFill/>
            </a:ln>
            <a:effectLst>
              <a:outerShdw blurRad="457200" sx="102000" sy="102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6044959" y="4721905"/>
            <a:ext cx="5827236" cy="8556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 smtClean="0">
                <a:solidFill>
                  <a:srgbClr val="E03E0D"/>
                </a:solidFill>
              </a:rPr>
              <a:t>計畫緣起</a:t>
            </a:r>
            <a:endParaRPr lang="en-US" altLang="zh-TW" sz="11000" b="1" dirty="0" smtClean="0">
              <a:solidFill>
                <a:srgbClr val="E03E0D"/>
              </a:solidFill>
            </a:endParaRPr>
          </a:p>
          <a:p>
            <a:r>
              <a:rPr lang="zh-TW" altLang="en-US" sz="11000" b="1" dirty="0" smtClean="0">
                <a:solidFill>
                  <a:srgbClr val="F8B70C"/>
                </a:solidFill>
              </a:rPr>
              <a:t>產業概況</a:t>
            </a:r>
            <a:endParaRPr lang="en-US" altLang="zh-TW" sz="11000" b="1" dirty="0" smtClean="0">
              <a:solidFill>
                <a:srgbClr val="F8B70C"/>
              </a:solidFill>
            </a:endParaRPr>
          </a:p>
          <a:p>
            <a:r>
              <a:rPr lang="zh-TW" altLang="en-US" sz="11000" b="1" dirty="0" smtClean="0">
                <a:solidFill>
                  <a:srgbClr val="1C9FCB"/>
                </a:solidFill>
              </a:rPr>
              <a:t>問卷分析</a:t>
            </a:r>
            <a:endParaRPr lang="en-US" altLang="zh-TW" sz="11000" b="1" dirty="0" smtClean="0">
              <a:solidFill>
                <a:srgbClr val="1C9FCB"/>
              </a:solidFill>
            </a:endParaRPr>
          </a:p>
          <a:p>
            <a:r>
              <a:rPr lang="zh-TW" altLang="en-US" sz="11000" b="1" dirty="0" smtClean="0">
                <a:solidFill>
                  <a:srgbClr val="32CB58"/>
                </a:solidFill>
              </a:rPr>
              <a:t>行銷計畫</a:t>
            </a:r>
            <a:endParaRPr lang="en-US" altLang="zh-TW" sz="11000" b="1" dirty="0" smtClean="0">
              <a:solidFill>
                <a:srgbClr val="32CB58"/>
              </a:solidFill>
            </a:endParaRPr>
          </a:p>
          <a:p>
            <a:r>
              <a:rPr lang="zh-TW" altLang="en-US" sz="11000" b="1" dirty="0" smtClean="0">
                <a:solidFill>
                  <a:srgbClr val="A466D8"/>
                </a:solidFill>
              </a:rPr>
              <a:t>計畫總結</a:t>
            </a:r>
            <a:endParaRPr lang="en-US" altLang="zh-TW" sz="11000" b="1" dirty="0" smtClean="0">
              <a:solidFill>
                <a:srgbClr val="A466D8"/>
              </a:solidFill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21164" y="1671602"/>
            <a:ext cx="5827236" cy="1785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 smtClean="0">
                <a:solidFill>
                  <a:srgbClr val="F8B70C"/>
                </a:solidFill>
              </a:rPr>
              <a:t>開發環境</a:t>
            </a:r>
            <a:endParaRPr lang="en-US" altLang="zh-TW" sz="11000" b="1" dirty="0" smtClean="0">
              <a:solidFill>
                <a:srgbClr val="F8B70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74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/>
      <p:bldP spid="17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接點 16"/>
          <p:cNvCxnSpPr/>
          <p:nvPr userDrawn="1"/>
        </p:nvCxnSpPr>
        <p:spPr>
          <a:xfrm>
            <a:off x="407988" y="6416674"/>
            <a:ext cx="11376025" cy="0"/>
          </a:xfrm>
          <a:prstGeom prst="line">
            <a:avLst/>
          </a:prstGeom>
          <a:ln>
            <a:solidFill>
              <a:srgbClr val="F8B7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群組 7"/>
          <p:cNvGrpSpPr/>
          <p:nvPr userDrawn="1"/>
        </p:nvGrpSpPr>
        <p:grpSpPr>
          <a:xfrm>
            <a:off x="3939150" y="-2164275"/>
            <a:ext cx="11186550" cy="11186550"/>
            <a:chOff x="3988526" y="1321526"/>
            <a:chExt cx="4214949" cy="4214949"/>
          </a:xfrm>
        </p:grpSpPr>
        <p:sp>
          <p:nvSpPr>
            <p:cNvPr id="9" name="橢圓 8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solidFill>
              <a:srgbClr val="FDF0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F8B70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rgbClr val="F8B70C"/>
                </a:solidFill>
              </a:endParaRPr>
            </a:p>
          </p:txBody>
        </p:sp>
      </p:grpSp>
      <p:sp>
        <p:nvSpPr>
          <p:cNvPr id="15" name="文字方塊 14"/>
          <p:cNvSpPr txBox="1"/>
          <p:nvPr userDrawn="1"/>
        </p:nvSpPr>
        <p:spPr>
          <a:xfrm>
            <a:off x="11416605" y="6416674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061B2C-6C14-4386-B8A0-FC3D00B49B88}" type="slidenum">
              <a:rPr lang="zh-TW" altLang="en-US" sz="1200" smtClean="0">
                <a:solidFill>
                  <a:srgbClr val="FFFFFF"/>
                </a:solidFill>
              </a:rPr>
              <a:t>‹#›</a:t>
            </a:fld>
            <a:endParaRPr lang="zh-TW" altLang="en-US" sz="1200" dirty="0">
              <a:solidFill>
                <a:srgbClr val="FFFFFF"/>
              </a:solidFill>
            </a:endParaRPr>
          </a:p>
        </p:txBody>
      </p:sp>
      <p:sp>
        <p:nvSpPr>
          <p:cNvPr id="18" name="圓角矩形 17"/>
          <p:cNvSpPr/>
          <p:nvPr userDrawn="1"/>
        </p:nvSpPr>
        <p:spPr>
          <a:xfrm>
            <a:off x="407987" y="1376363"/>
            <a:ext cx="11376025" cy="4897437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>
            <a:noFill/>
          </a:ln>
          <a:effectLst>
            <a:outerShdw blurRad="304800" sx="102000" sy="102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甜甜圈 18"/>
          <p:cNvSpPr/>
          <p:nvPr userDrawn="1"/>
        </p:nvSpPr>
        <p:spPr>
          <a:xfrm>
            <a:off x="-1623873" y="-1252309"/>
            <a:ext cx="2561946" cy="2561946"/>
          </a:xfrm>
          <a:prstGeom prst="donut">
            <a:avLst>
              <a:gd name="adj" fmla="val 15772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1702637" y="-3240847"/>
            <a:ext cx="2236510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b="1" dirty="0" smtClean="0">
                <a:solidFill>
                  <a:srgbClr val="E03E0D"/>
                </a:solidFill>
              </a:rPr>
              <a:t>計畫緣起</a:t>
            </a:r>
            <a:endParaRPr lang="en-US" altLang="zh-TW" sz="4000" b="1" dirty="0" smtClean="0">
              <a:solidFill>
                <a:srgbClr val="E03E0D"/>
              </a:solidFill>
            </a:endParaRPr>
          </a:p>
          <a:p>
            <a:r>
              <a:rPr lang="zh-TW" altLang="en-US" sz="4000" b="1" dirty="0" smtClean="0">
                <a:solidFill>
                  <a:srgbClr val="F8B70C"/>
                </a:solidFill>
              </a:rPr>
              <a:t>產業概況</a:t>
            </a:r>
            <a:endParaRPr lang="en-US" altLang="zh-TW" sz="4000" b="1" dirty="0" smtClean="0">
              <a:solidFill>
                <a:srgbClr val="F8B70C"/>
              </a:solidFill>
            </a:endParaRPr>
          </a:p>
          <a:p>
            <a:r>
              <a:rPr lang="zh-TW" altLang="en-US" sz="4000" b="1" dirty="0" smtClean="0">
                <a:solidFill>
                  <a:srgbClr val="1C9FCB"/>
                </a:solidFill>
              </a:rPr>
              <a:t>問卷分析</a:t>
            </a:r>
            <a:endParaRPr lang="en-US" altLang="zh-TW" sz="4000" b="1" dirty="0" smtClean="0">
              <a:solidFill>
                <a:srgbClr val="1C9FCB"/>
              </a:solidFill>
            </a:endParaRPr>
          </a:p>
          <a:p>
            <a:r>
              <a:rPr lang="zh-TW" altLang="en-US" sz="4000" b="1" dirty="0" smtClean="0">
                <a:solidFill>
                  <a:srgbClr val="32CB58"/>
                </a:solidFill>
              </a:rPr>
              <a:t>行銷計畫</a:t>
            </a:r>
            <a:endParaRPr lang="en-US" altLang="zh-TW" sz="4000" b="1" dirty="0" smtClean="0">
              <a:solidFill>
                <a:srgbClr val="32CB58"/>
              </a:solidFill>
            </a:endParaRPr>
          </a:p>
          <a:p>
            <a:r>
              <a:rPr lang="zh-TW" altLang="en-US" sz="4000" b="1" dirty="0" smtClean="0">
                <a:solidFill>
                  <a:srgbClr val="A466D8"/>
                </a:solidFill>
              </a:rPr>
              <a:t>計畫總結</a:t>
            </a:r>
            <a:endParaRPr lang="en-US" altLang="zh-TW" sz="4000" b="1" dirty="0" smtClean="0">
              <a:solidFill>
                <a:srgbClr val="A466D8"/>
              </a:solidFill>
            </a:endParaRPr>
          </a:p>
        </p:txBody>
      </p:sp>
      <p:grpSp>
        <p:nvGrpSpPr>
          <p:cNvPr id="23" name="群組 22"/>
          <p:cNvGrpSpPr/>
          <p:nvPr userDrawn="1"/>
        </p:nvGrpSpPr>
        <p:grpSpPr>
          <a:xfrm>
            <a:off x="408143" y="0"/>
            <a:ext cx="3218712" cy="1200329"/>
            <a:chOff x="408143" y="0"/>
            <a:chExt cx="3218712" cy="1200329"/>
          </a:xfrm>
        </p:grpSpPr>
        <p:sp>
          <p:nvSpPr>
            <p:cNvPr id="20" name="文字方塊 19"/>
            <p:cNvSpPr txBox="1"/>
            <p:nvPr userDrawn="1"/>
          </p:nvSpPr>
          <p:spPr>
            <a:xfrm>
              <a:off x="408143" y="0"/>
              <a:ext cx="112082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7200" b="1" dirty="0" smtClean="0">
                  <a:solidFill>
                    <a:srgbClr val="F8B70C"/>
                  </a:solidFill>
                </a:rPr>
                <a:t>02</a:t>
              </a:r>
              <a:endParaRPr lang="zh-TW" altLang="en-US" sz="7200" b="1" dirty="0">
                <a:solidFill>
                  <a:srgbClr val="F8B70C"/>
                </a:solidFill>
              </a:endParaRPr>
            </a:p>
          </p:txBody>
        </p:sp>
        <p:sp>
          <p:nvSpPr>
            <p:cNvPr id="22" name="文字方塊 21"/>
            <p:cNvSpPr txBox="1"/>
            <p:nvPr userDrawn="1"/>
          </p:nvSpPr>
          <p:spPr>
            <a:xfrm>
              <a:off x="1390345" y="347936"/>
              <a:ext cx="22365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4000" b="1" dirty="0" smtClean="0">
                  <a:solidFill>
                    <a:srgbClr val="F8B70C"/>
                  </a:solidFill>
                </a:rPr>
                <a:t>開發環境</a:t>
              </a:r>
              <a:endParaRPr lang="en-US" altLang="zh-TW" sz="4000" b="1" dirty="0" smtClean="0">
                <a:solidFill>
                  <a:srgbClr val="F8B70C"/>
                </a:solidFill>
              </a:endParaRPr>
            </a:p>
          </p:txBody>
        </p:sp>
      </p:grpSp>
      <p:sp>
        <p:nvSpPr>
          <p:cNvPr id="24" name="文字方塊 23"/>
          <p:cNvSpPr txBox="1"/>
          <p:nvPr userDrawn="1"/>
        </p:nvSpPr>
        <p:spPr>
          <a:xfrm>
            <a:off x="1434736" y="203429"/>
            <a:ext cx="848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PART TWO</a:t>
            </a:r>
            <a:endParaRPr lang="zh-TW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4930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甜甜圈 10"/>
          <p:cNvSpPr/>
          <p:nvPr userDrawn="1"/>
        </p:nvSpPr>
        <p:spPr>
          <a:xfrm>
            <a:off x="-2047875" y="-1676311"/>
            <a:ext cx="3409950" cy="3409950"/>
          </a:xfrm>
          <a:prstGeom prst="donut">
            <a:avLst>
              <a:gd name="adj" fmla="val 15772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7692000" y="-4500000"/>
            <a:ext cx="9000000" cy="9000000"/>
            <a:chOff x="3988526" y="1321526"/>
            <a:chExt cx="4214949" cy="4214949"/>
          </a:xfrm>
        </p:grpSpPr>
        <p:sp>
          <p:nvSpPr>
            <p:cNvPr id="8" name="橢圓 7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1C9FC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1C9FCB"/>
            </a:solidFill>
            <a:ln>
              <a:noFill/>
            </a:ln>
            <a:effectLst>
              <a:outerShdw blurRad="457200" sx="102000" sy="102000" algn="ctr" rotWithShape="0">
                <a:schemeClr val="accent4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文字方塊 9"/>
          <p:cNvSpPr txBox="1"/>
          <p:nvPr userDrawn="1"/>
        </p:nvSpPr>
        <p:spPr>
          <a:xfrm>
            <a:off x="407988" y="528548"/>
            <a:ext cx="3215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PART 03</a:t>
            </a:r>
            <a:endParaRPr lang="zh-TW" altLang="en-US" sz="7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-2484136" y="4500000"/>
            <a:ext cx="9000000" cy="9000000"/>
            <a:chOff x="3988526" y="1321526"/>
            <a:chExt cx="4214949" cy="4214949"/>
          </a:xfrm>
        </p:grpSpPr>
        <p:sp>
          <p:nvSpPr>
            <p:cNvPr id="13" name="橢圓 12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1C9FC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1C9FCB"/>
            </a:solidFill>
            <a:ln>
              <a:noFill/>
            </a:ln>
            <a:effectLst>
              <a:outerShdw blurRad="457200" sx="102000" sy="102000" algn="ctr" rotWithShape="0">
                <a:schemeClr val="accent4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6044959" y="4721905"/>
            <a:ext cx="5827236" cy="8556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 smtClean="0">
                <a:solidFill>
                  <a:srgbClr val="E03E0D"/>
                </a:solidFill>
              </a:rPr>
              <a:t>計畫緣起</a:t>
            </a:r>
            <a:endParaRPr lang="en-US" altLang="zh-TW" sz="11000" b="1" dirty="0" smtClean="0">
              <a:solidFill>
                <a:srgbClr val="E03E0D"/>
              </a:solidFill>
            </a:endParaRPr>
          </a:p>
          <a:p>
            <a:r>
              <a:rPr lang="zh-TW" altLang="en-US" sz="11000" b="1" dirty="0" smtClean="0">
                <a:solidFill>
                  <a:srgbClr val="F8B70C"/>
                </a:solidFill>
              </a:rPr>
              <a:t>產業概況</a:t>
            </a:r>
            <a:endParaRPr lang="en-US" altLang="zh-TW" sz="11000" b="1" dirty="0" smtClean="0">
              <a:solidFill>
                <a:srgbClr val="F8B70C"/>
              </a:solidFill>
            </a:endParaRPr>
          </a:p>
          <a:p>
            <a:r>
              <a:rPr lang="zh-TW" altLang="en-US" sz="11000" b="1" dirty="0" smtClean="0">
                <a:solidFill>
                  <a:srgbClr val="1C9FCB"/>
                </a:solidFill>
              </a:rPr>
              <a:t>問卷分析</a:t>
            </a:r>
            <a:endParaRPr lang="en-US" altLang="zh-TW" sz="11000" b="1" dirty="0" smtClean="0">
              <a:solidFill>
                <a:srgbClr val="1C9FCB"/>
              </a:solidFill>
            </a:endParaRPr>
          </a:p>
          <a:p>
            <a:r>
              <a:rPr lang="zh-TW" altLang="en-US" sz="11000" b="1" dirty="0" smtClean="0">
                <a:solidFill>
                  <a:srgbClr val="32CB58"/>
                </a:solidFill>
              </a:rPr>
              <a:t>行銷計畫</a:t>
            </a:r>
            <a:endParaRPr lang="en-US" altLang="zh-TW" sz="11000" b="1" dirty="0" smtClean="0">
              <a:solidFill>
                <a:srgbClr val="32CB58"/>
              </a:solidFill>
            </a:endParaRPr>
          </a:p>
          <a:p>
            <a:r>
              <a:rPr lang="zh-TW" altLang="en-US" sz="11000" b="1" dirty="0" smtClean="0">
                <a:solidFill>
                  <a:srgbClr val="A466D8"/>
                </a:solidFill>
              </a:rPr>
              <a:t>計畫總結</a:t>
            </a:r>
            <a:endParaRPr lang="en-US" altLang="zh-TW" sz="11000" b="1" dirty="0" smtClean="0">
              <a:solidFill>
                <a:srgbClr val="A466D8"/>
              </a:solidFill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21164" y="1671602"/>
            <a:ext cx="5827236" cy="1785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 smtClean="0">
                <a:solidFill>
                  <a:srgbClr val="1C9FCB"/>
                </a:solidFill>
              </a:rPr>
              <a:t>系統設計</a:t>
            </a:r>
            <a:endParaRPr lang="en-US" altLang="zh-TW" sz="11000" b="1" dirty="0" smtClean="0">
              <a:solidFill>
                <a:srgbClr val="1C9F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574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/>
      <p:bldP spid="17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接點 16"/>
          <p:cNvCxnSpPr/>
          <p:nvPr userDrawn="1"/>
        </p:nvCxnSpPr>
        <p:spPr>
          <a:xfrm>
            <a:off x="407988" y="6416674"/>
            <a:ext cx="11376025" cy="0"/>
          </a:xfrm>
          <a:prstGeom prst="line">
            <a:avLst/>
          </a:prstGeom>
          <a:ln>
            <a:solidFill>
              <a:srgbClr val="149C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群組 7"/>
          <p:cNvGrpSpPr/>
          <p:nvPr userDrawn="1"/>
        </p:nvGrpSpPr>
        <p:grpSpPr>
          <a:xfrm>
            <a:off x="3939150" y="-2164275"/>
            <a:ext cx="11186550" cy="11186550"/>
            <a:chOff x="3988526" y="1321526"/>
            <a:chExt cx="4214949" cy="4214949"/>
          </a:xfrm>
        </p:grpSpPr>
        <p:sp>
          <p:nvSpPr>
            <p:cNvPr id="9" name="橢圓 8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solidFill>
              <a:srgbClr val="CDED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149CC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文字方塊 14"/>
          <p:cNvSpPr txBox="1"/>
          <p:nvPr userDrawn="1"/>
        </p:nvSpPr>
        <p:spPr>
          <a:xfrm>
            <a:off x="11416605" y="6416674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061B2C-6C14-4386-B8A0-FC3D00B49B88}" type="slidenum">
              <a:rPr lang="zh-TW" altLang="en-US" sz="1200" smtClean="0">
                <a:solidFill>
                  <a:srgbClr val="FFFFFF"/>
                </a:solidFill>
              </a:rPr>
              <a:t>‹#›</a:t>
            </a:fld>
            <a:endParaRPr lang="zh-TW" altLang="en-US" sz="1200" dirty="0">
              <a:solidFill>
                <a:srgbClr val="FFFFFF"/>
              </a:solidFill>
            </a:endParaRPr>
          </a:p>
        </p:txBody>
      </p:sp>
      <p:sp>
        <p:nvSpPr>
          <p:cNvPr id="18" name="圓角矩形 17"/>
          <p:cNvSpPr/>
          <p:nvPr userDrawn="1"/>
        </p:nvSpPr>
        <p:spPr>
          <a:xfrm>
            <a:off x="407987" y="1376363"/>
            <a:ext cx="11376025" cy="4897437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>
            <a:noFill/>
          </a:ln>
          <a:effectLst>
            <a:outerShdw blurRad="304800" sx="102000" sy="102000" algn="ctr" rotWithShape="0">
              <a:schemeClr val="accent4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甜甜圈 18"/>
          <p:cNvSpPr/>
          <p:nvPr userDrawn="1"/>
        </p:nvSpPr>
        <p:spPr>
          <a:xfrm>
            <a:off x="-1623873" y="-1252309"/>
            <a:ext cx="2561946" cy="2561946"/>
          </a:xfrm>
          <a:prstGeom prst="donut">
            <a:avLst>
              <a:gd name="adj" fmla="val 15772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1702637" y="-3240847"/>
            <a:ext cx="2236510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b="1" dirty="0" smtClean="0">
                <a:solidFill>
                  <a:srgbClr val="E03E0D"/>
                </a:solidFill>
              </a:rPr>
              <a:t>計畫緣起</a:t>
            </a:r>
            <a:endParaRPr lang="en-US" altLang="zh-TW" sz="4000" b="1" dirty="0" smtClean="0">
              <a:solidFill>
                <a:srgbClr val="E03E0D"/>
              </a:solidFill>
            </a:endParaRPr>
          </a:p>
          <a:p>
            <a:r>
              <a:rPr lang="zh-TW" altLang="en-US" sz="4000" b="1" dirty="0" smtClean="0">
                <a:solidFill>
                  <a:srgbClr val="F8B70C"/>
                </a:solidFill>
              </a:rPr>
              <a:t>產業概況</a:t>
            </a:r>
            <a:endParaRPr lang="en-US" altLang="zh-TW" sz="4000" b="1" dirty="0" smtClean="0">
              <a:solidFill>
                <a:srgbClr val="F8B70C"/>
              </a:solidFill>
            </a:endParaRPr>
          </a:p>
          <a:p>
            <a:r>
              <a:rPr lang="zh-TW" altLang="en-US" sz="4000" b="1" dirty="0" smtClean="0">
                <a:solidFill>
                  <a:srgbClr val="1C9FCB"/>
                </a:solidFill>
              </a:rPr>
              <a:t>問卷分析</a:t>
            </a:r>
            <a:endParaRPr lang="en-US" altLang="zh-TW" sz="4000" b="1" dirty="0" smtClean="0">
              <a:solidFill>
                <a:srgbClr val="1C9FCB"/>
              </a:solidFill>
            </a:endParaRPr>
          </a:p>
          <a:p>
            <a:r>
              <a:rPr lang="zh-TW" altLang="en-US" sz="4000" b="1" dirty="0" smtClean="0">
                <a:solidFill>
                  <a:srgbClr val="32CB58"/>
                </a:solidFill>
              </a:rPr>
              <a:t>行銷計畫</a:t>
            </a:r>
            <a:endParaRPr lang="en-US" altLang="zh-TW" sz="4000" b="1" dirty="0" smtClean="0">
              <a:solidFill>
                <a:srgbClr val="32CB58"/>
              </a:solidFill>
            </a:endParaRPr>
          </a:p>
          <a:p>
            <a:r>
              <a:rPr lang="zh-TW" altLang="en-US" sz="4000" b="1" dirty="0" smtClean="0">
                <a:solidFill>
                  <a:srgbClr val="A466D8"/>
                </a:solidFill>
              </a:rPr>
              <a:t>計畫總結</a:t>
            </a:r>
            <a:endParaRPr lang="en-US" altLang="zh-TW" sz="4000" b="1" dirty="0" smtClean="0">
              <a:solidFill>
                <a:srgbClr val="A466D8"/>
              </a:solidFill>
            </a:endParaRPr>
          </a:p>
        </p:txBody>
      </p:sp>
      <p:grpSp>
        <p:nvGrpSpPr>
          <p:cNvPr id="23" name="群組 22"/>
          <p:cNvGrpSpPr/>
          <p:nvPr userDrawn="1"/>
        </p:nvGrpSpPr>
        <p:grpSpPr>
          <a:xfrm>
            <a:off x="408143" y="0"/>
            <a:ext cx="3218712" cy="1200329"/>
            <a:chOff x="408143" y="0"/>
            <a:chExt cx="3218712" cy="1200329"/>
          </a:xfrm>
        </p:grpSpPr>
        <p:sp>
          <p:nvSpPr>
            <p:cNvPr id="20" name="文字方塊 19"/>
            <p:cNvSpPr txBox="1"/>
            <p:nvPr userDrawn="1"/>
          </p:nvSpPr>
          <p:spPr>
            <a:xfrm>
              <a:off x="408143" y="0"/>
              <a:ext cx="112082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7200" b="1" dirty="0" smtClean="0">
                  <a:solidFill>
                    <a:srgbClr val="149CCA"/>
                  </a:solidFill>
                </a:rPr>
                <a:t>03</a:t>
              </a:r>
              <a:endParaRPr lang="zh-TW" altLang="en-US" sz="7200" b="1" dirty="0">
                <a:solidFill>
                  <a:srgbClr val="149CCA"/>
                </a:solidFill>
              </a:endParaRPr>
            </a:p>
          </p:txBody>
        </p:sp>
        <p:sp>
          <p:nvSpPr>
            <p:cNvPr id="22" name="文字方塊 21"/>
            <p:cNvSpPr txBox="1"/>
            <p:nvPr userDrawn="1"/>
          </p:nvSpPr>
          <p:spPr>
            <a:xfrm>
              <a:off x="1390345" y="347936"/>
              <a:ext cx="22365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4000" b="1" dirty="0" smtClean="0">
                  <a:solidFill>
                    <a:srgbClr val="1C9FCB"/>
                  </a:solidFill>
                </a:rPr>
                <a:t>系統設計</a:t>
              </a:r>
              <a:endParaRPr lang="en-US" altLang="zh-TW" sz="4000" b="1" dirty="0" smtClean="0">
                <a:solidFill>
                  <a:srgbClr val="1C9FCB"/>
                </a:solidFill>
              </a:endParaRPr>
            </a:p>
          </p:txBody>
        </p:sp>
      </p:grpSp>
      <p:sp>
        <p:nvSpPr>
          <p:cNvPr id="24" name="文字方塊 23"/>
          <p:cNvSpPr txBox="1"/>
          <p:nvPr userDrawn="1"/>
        </p:nvSpPr>
        <p:spPr>
          <a:xfrm>
            <a:off x="1434736" y="203429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PART THREE</a:t>
            </a:r>
            <a:endParaRPr lang="zh-TW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3843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甜甜圈 10"/>
          <p:cNvSpPr/>
          <p:nvPr userDrawn="1"/>
        </p:nvSpPr>
        <p:spPr>
          <a:xfrm>
            <a:off x="-2047875" y="-1676311"/>
            <a:ext cx="3409950" cy="3409950"/>
          </a:xfrm>
          <a:prstGeom prst="donut">
            <a:avLst>
              <a:gd name="adj" fmla="val 15772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7692000" y="-4500000"/>
            <a:ext cx="9000000" cy="9000000"/>
            <a:chOff x="3988526" y="1321526"/>
            <a:chExt cx="4214949" cy="4214949"/>
          </a:xfrm>
        </p:grpSpPr>
        <p:sp>
          <p:nvSpPr>
            <p:cNvPr id="8" name="橢圓 7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32CB5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32CB58"/>
            </a:solidFill>
            <a:ln>
              <a:noFill/>
            </a:ln>
            <a:effectLst>
              <a:outerShdw blurRad="457200" sx="102000" sy="102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文字方塊 9"/>
          <p:cNvSpPr txBox="1"/>
          <p:nvPr userDrawn="1"/>
        </p:nvSpPr>
        <p:spPr>
          <a:xfrm>
            <a:off x="407988" y="528548"/>
            <a:ext cx="3215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PART 04</a:t>
            </a:r>
            <a:endParaRPr lang="zh-TW" altLang="en-US" sz="7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-2484136" y="4500000"/>
            <a:ext cx="9000000" cy="9000000"/>
            <a:chOff x="3988526" y="1321526"/>
            <a:chExt cx="4214949" cy="4214949"/>
          </a:xfrm>
        </p:grpSpPr>
        <p:sp>
          <p:nvSpPr>
            <p:cNvPr id="13" name="橢圓 12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32CB5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32CB58"/>
            </a:solidFill>
            <a:ln>
              <a:noFill/>
            </a:ln>
            <a:effectLst>
              <a:outerShdw blurRad="457200" sx="102000" sy="102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6044959" y="4721905"/>
            <a:ext cx="5827236" cy="8556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 smtClean="0">
                <a:solidFill>
                  <a:srgbClr val="E03E0D"/>
                </a:solidFill>
              </a:rPr>
              <a:t>計畫緣起</a:t>
            </a:r>
            <a:endParaRPr lang="en-US" altLang="zh-TW" sz="11000" b="1" dirty="0" smtClean="0">
              <a:solidFill>
                <a:srgbClr val="E03E0D"/>
              </a:solidFill>
            </a:endParaRPr>
          </a:p>
          <a:p>
            <a:r>
              <a:rPr lang="zh-TW" altLang="en-US" sz="11000" b="1" dirty="0" smtClean="0">
                <a:solidFill>
                  <a:srgbClr val="F8B70C"/>
                </a:solidFill>
              </a:rPr>
              <a:t>產業概況</a:t>
            </a:r>
            <a:endParaRPr lang="en-US" altLang="zh-TW" sz="11000" b="1" dirty="0" smtClean="0">
              <a:solidFill>
                <a:srgbClr val="F8B70C"/>
              </a:solidFill>
            </a:endParaRPr>
          </a:p>
          <a:p>
            <a:r>
              <a:rPr lang="zh-TW" altLang="en-US" sz="11000" b="1" dirty="0" smtClean="0">
                <a:solidFill>
                  <a:srgbClr val="1C9FCB"/>
                </a:solidFill>
              </a:rPr>
              <a:t>問卷分析</a:t>
            </a:r>
            <a:endParaRPr lang="en-US" altLang="zh-TW" sz="11000" b="1" dirty="0" smtClean="0">
              <a:solidFill>
                <a:srgbClr val="1C9FCB"/>
              </a:solidFill>
            </a:endParaRPr>
          </a:p>
          <a:p>
            <a:r>
              <a:rPr lang="zh-TW" altLang="en-US" sz="11000" b="1" dirty="0" smtClean="0">
                <a:solidFill>
                  <a:srgbClr val="32CB58"/>
                </a:solidFill>
              </a:rPr>
              <a:t>行銷計畫</a:t>
            </a:r>
            <a:endParaRPr lang="en-US" altLang="zh-TW" sz="11000" b="1" dirty="0" smtClean="0">
              <a:solidFill>
                <a:srgbClr val="32CB58"/>
              </a:solidFill>
            </a:endParaRPr>
          </a:p>
          <a:p>
            <a:r>
              <a:rPr lang="zh-TW" altLang="en-US" sz="11000" b="1" dirty="0" smtClean="0">
                <a:solidFill>
                  <a:srgbClr val="A466D8"/>
                </a:solidFill>
              </a:rPr>
              <a:t>計畫總結</a:t>
            </a:r>
            <a:endParaRPr lang="en-US" altLang="zh-TW" sz="11000" b="1" dirty="0" smtClean="0">
              <a:solidFill>
                <a:srgbClr val="A466D8"/>
              </a:solidFill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21164" y="1671602"/>
            <a:ext cx="5827236" cy="1785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 smtClean="0">
                <a:solidFill>
                  <a:srgbClr val="32CB58"/>
                </a:solidFill>
              </a:rPr>
              <a:t>程式實作</a:t>
            </a:r>
            <a:endParaRPr lang="en-US" altLang="zh-TW" sz="11000" b="1" dirty="0" smtClean="0">
              <a:solidFill>
                <a:srgbClr val="32CB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44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/>
      <p:bldP spid="17" grpId="0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接點 16"/>
          <p:cNvCxnSpPr/>
          <p:nvPr userDrawn="1"/>
        </p:nvCxnSpPr>
        <p:spPr>
          <a:xfrm>
            <a:off x="407988" y="6416674"/>
            <a:ext cx="11376025" cy="0"/>
          </a:xfrm>
          <a:prstGeom prst="line">
            <a:avLst/>
          </a:prstGeom>
          <a:ln>
            <a:solidFill>
              <a:srgbClr val="32CB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群組 7"/>
          <p:cNvGrpSpPr/>
          <p:nvPr userDrawn="1"/>
        </p:nvGrpSpPr>
        <p:grpSpPr>
          <a:xfrm>
            <a:off x="3939150" y="-2164275"/>
            <a:ext cx="11186550" cy="11186550"/>
            <a:chOff x="3988526" y="1321526"/>
            <a:chExt cx="4214949" cy="4214949"/>
          </a:xfrm>
        </p:grpSpPr>
        <p:sp>
          <p:nvSpPr>
            <p:cNvPr id="9" name="橢圓 8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solidFill>
              <a:srgbClr val="D5F4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32CB5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文字方塊 14"/>
          <p:cNvSpPr txBox="1"/>
          <p:nvPr userDrawn="1"/>
        </p:nvSpPr>
        <p:spPr>
          <a:xfrm>
            <a:off x="11416605" y="6416674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061B2C-6C14-4386-B8A0-FC3D00B49B88}" type="slidenum">
              <a:rPr lang="zh-TW" altLang="en-US" sz="1200" smtClean="0">
                <a:solidFill>
                  <a:srgbClr val="FFFFFF"/>
                </a:solidFill>
              </a:rPr>
              <a:t>‹#›</a:t>
            </a:fld>
            <a:endParaRPr lang="zh-TW" altLang="en-US" sz="1200" dirty="0">
              <a:solidFill>
                <a:srgbClr val="FFFFFF"/>
              </a:solidFill>
            </a:endParaRPr>
          </a:p>
        </p:txBody>
      </p:sp>
      <p:sp>
        <p:nvSpPr>
          <p:cNvPr id="18" name="圓角矩形 17"/>
          <p:cNvSpPr/>
          <p:nvPr userDrawn="1"/>
        </p:nvSpPr>
        <p:spPr>
          <a:xfrm>
            <a:off x="407987" y="1376363"/>
            <a:ext cx="11376025" cy="4897437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>
            <a:noFill/>
          </a:ln>
          <a:effectLst>
            <a:outerShdw blurRad="304800" sx="102000" sy="102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甜甜圈 18"/>
          <p:cNvSpPr/>
          <p:nvPr userDrawn="1"/>
        </p:nvSpPr>
        <p:spPr>
          <a:xfrm>
            <a:off x="-1623873" y="-1252309"/>
            <a:ext cx="2561946" cy="2561946"/>
          </a:xfrm>
          <a:prstGeom prst="donut">
            <a:avLst>
              <a:gd name="adj" fmla="val 15772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1702637" y="-3240847"/>
            <a:ext cx="2236510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b="1" dirty="0" smtClean="0">
                <a:solidFill>
                  <a:srgbClr val="E03E0D"/>
                </a:solidFill>
              </a:rPr>
              <a:t>計畫緣起</a:t>
            </a:r>
            <a:endParaRPr lang="en-US" altLang="zh-TW" sz="4000" b="1" dirty="0" smtClean="0">
              <a:solidFill>
                <a:srgbClr val="E03E0D"/>
              </a:solidFill>
            </a:endParaRPr>
          </a:p>
          <a:p>
            <a:r>
              <a:rPr lang="zh-TW" altLang="en-US" sz="4000" b="1" dirty="0" smtClean="0">
                <a:solidFill>
                  <a:srgbClr val="F8B70C"/>
                </a:solidFill>
              </a:rPr>
              <a:t>產業概況</a:t>
            </a:r>
            <a:endParaRPr lang="en-US" altLang="zh-TW" sz="4000" b="1" dirty="0" smtClean="0">
              <a:solidFill>
                <a:srgbClr val="F8B70C"/>
              </a:solidFill>
            </a:endParaRPr>
          </a:p>
          <a:p>
            <a:r>
              <a:rPr lang="zh-TW" altLang="en-US" sz="4000" b="1" dirty="0" smtClean="0">
                <a:solidFill>
                  <a:srgbClr val="1C9FCB"/>
                </a:solidFill>
              </a:rPr>
              <a:t>問卷分析</a:t>
            </a:r>
            <a:endParaRPr lang="en-US" altLang="zh-TW" sz="4000" b="1" dirty="0" smtClean="0">
              <a:solidFill>
                <a:srgbClr val="1C9FCB"/>
              </a:solidFill>
            </a:endParaRPr>
          </a:p>
          <a:p>
            <a:r>
              <a:rPr lang="zh-TW" altLang="en-US" sz="4000" b="1" dirty="0" smtClean="0">
                <a:solidFill>
                  <a:srgbClr val="32CB58"/>
                </a:solidFill>
              </a:rPr>
              <a:t>行銷計畫</a:t>
            </a:r>
            <a:endParaRPr lang="en-US" altLang="zh-TW" sz="4000" b="1" dirty="0" smtClean="0">
              <a:solidFill>
                <a:srgbClr val="32CB58"/>
              </a:solidFill>
            </a:endParaRPr>
          </a:p>
          <a:p>
            <a:r>
              <a:rPr lang="zh-TW" altLang="en-US" sz="4000" b="1" dirty="0" smtClean="0">
                <a:solidFill>
                  <a:srgbClr val="A466D8"/>
                </a:solidFill>
              </a:rPr>
              <a:t>計畫總結</a:t>
            </a:r>
            <a:endParaRPr lang="en-US" altLang="zh-TW" sz="4000" b="1" dirty="0" smtClean="0">
              <a:solidFill>
                <a:srgbClr val="A466D8"/>
              </a:solidFill>
            </a:endParaRPr>
          </a:p>
        </p:txBody>
      </p:sp>
      <p:grpSp>
        <p:nvGrpSpPr>
          <p:cNvPr id="23" name="群組 22"/>
          <p:cNvGrpSpPr/>
          <p:nvPr userDrawn="1"/>
        </p:nvGrpSpPr>
        <p:grpSpPr>
          <a:xfrm>
            <a:off x="408143" y="0"/>
            <a:ext cx="3218712" cy="1200329"/>
            <a:chOff x="408143" y="0"/>
            <a:chExt cx="3218712" cy="1200329"/>
          </a:xfrm>
        </p:grpSpPr>
        <p:sp>
          <p:nvSpPr>
            <p:cNvPr id="20" name="文字方塊 19"/>
            <p:cNvSpPr txBox="1"/>
            <p:nvPr userDrawn="1"/>
          </p:nvSpPr>
          <p:spPr>
            <a:xfrm>
              <a:off x="408143" y="0"/>
              <a:ext cx="112082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7200" b="1" dirty="0" smtClean="0">
                  <a:solidFill>
                    <a:srgbClr val="32CB58"/>
                  </a:solidFill>
                </a:rPr>
                <a:t>04</a:t>
              </a:r>
              <a:endParaRPr lang="zh-TW" altLang="en-US" sz="7200" b="1" dirty="0">
                <a:solidFill>
                  <a:srgbClr val="32CB58"/>
                </a:solidFill>
              </a:endParaRPr>
            </a:p>
          </p:txBody>
        </p:sp>
        <p:sp>
          <p:nvSpPr>
            <p:cNvPr id="22" name="文字方塊 21"/>
            <p:cNvSpPr txBox="1"/>
            <p:nvPr userDrawn="1"/>
          </p:nvSpPr>
          <p:spPr>
            <a:xfrm>
              <a:off x="1390345" y="347936"/>
              <a:ext cx="22365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4000" b="1" dirty="0" smtClean="0">
                  <a:solidFill>
                    <a:srgbClr val="32CB58"/>
                  </a:solidFill>
                </a:rPr>
                <a:t>程式實做</a:t>
              </a:r>
              <a:endParaRPr lang="en-US" altLang="zh-TW" sz="4000" b="1" dirty="0" smtClean="0">
                <a:solidFill>
                  <a:srgbClr val="32CB58"/>
                </a:solidFill>
              </a:endParaRPr>
            </a:p>
          </p:txBody>
        </p:sp>
      </p:grpSp>
      <p:sp>
        <p:nvSpPr>
          <p:cNvPr id="24" name="文字方塊 23"/>
          <p:cNvSpPr txBox="1"/>
          <p:nvPr userDrawn="1"/>
        </p:nvSpPr>
        <p:spPr>
          <a:xfrm>
            <a:off x="1434736" y="203429"/>
            <a:ext cx="890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PART FOUR</a:t>
            </a:r>
            <a:endParaRPr lang="zh-TW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9111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甜甜圈 10"/>
          <p:cNvSpPr/>
          <p:nvPr userDrawn="1"/>
        </p:nvSpPr>
        <p:spPr>
          <a:xfrm>
            <a:off x="-2047875" y="-1676311"/>
            <a:ext cx="3409950" cy="3409950"/>
          </a:xfrm>
          <a:prstGeom prst="donut">
            <a:avLst>
              <a:gd name="adj" fmla="val 15772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7692000" y="-4500000"/>
            <a:ext cx="9000000" cy="9000000"/>
            <a:chOff x="3988526" y="1321526"/>
            <a:chExt cx="4214949" cy="4214949"/>
          </a:xfrm>
        </p:grpSpPr>
        <p:sp>
          <p:nvSpPr>
            <p:cNvPr id="8" name="橢圓 7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A365D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A365D8"/>
            </a:solidFill>
            <a:ln>
              <a:noFill/>
            </a:ln>
            <a:effectLst>
              <a:outerShdw blurRad="457200" sx="102000" sy="102000" algn="ctr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文字方塊 9"/>
          <p:cNvSpPr txBox="1"/>
          <p:nvPr userDrawn="1"/>
        </p:nvSpPr>
        <p:spPr>
          <a:xfrm>
            <a:off x="407988" y="528548"/>
            <a:ext cx="3215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PART 05</a:t>
            </a:r>
            <a:endParaRPr lang="zh-TW" altLang="en-US" sz="7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-2484136" y="4500000"/>
            <a:ext cx="9000000" cy="9000000"/>
            <a:chOff x="3988526" y="1321526"/>
            <a:chExt cx="4214949" cy="4214949"/>
          </a:xfrm>
        </p:grpSpPr>
        <p:sp>
          <p:nvSpPr>
            <p:cNvPr id="13" name="橢圓 12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A365D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A365D8"/>
            </a:solidFill>
            <a:ln>
              <a:noFill/>
            </a:ln>
            <a:effectLst>
              <a:outerShdw blurRad="457200" sx="102000" sy="102000" algn="ctr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6044959" y="4721905"/>
            <a:ext cx="5827236" cy="8556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 smtClean="0">
                <a:solidFill>
                  <a:srgbClr val="E03E0D"/>
                </a:solidFill>
              </a:rPr>
              <a:t>計畫緣起</a:t>
            </a:r>
            <a:endParaRPr lang="en-US" altLang="zh-TW" sz="11000" b="1" dirty="0" smtClean="0">
              <a:solidFill>
                <a:srgbClr val="E03E0D"/>
              </a:solidFill>
            </a:endParaRPr>
          </a:p>
          <a:p>
            <a:r>
              <a:rPr lang="zh-TW" altLang="en-US" sz="11000" b="1" dirty="0" smtClean="0">
                <a:solidFill>
                  <a:srgbClr val="F8B70C"/>
                </a:solidFill>
              </a:rPr>
              <a:t>產業概況</a:t>
            </a:r>
            <a:endParaRPr lang="en-US" altLang="zh-TW" sz="11000" b="1" dirty="0" smtClean="0">
              <a:solidFill>
                <a:srgbClr val="F8B70C"/>
              </a:solidFill>
            </a:endParaRPr>
          </a:p>
          <a:p>
            <a:r>
              <a:rPr lang="zh-TW" altLang="en-US" sz="11000" b="1" dirty="0" smtClean="0">
                <a:solidFill>
                  <a:srgbClr val="1C9FCB"/>
                </a:solidFill>
              </a:rPr>
              <a:t>問卷分析</a:t>
            </a:r>
            <a:endParaRPr lang="en-US" altLang="zh-TW" sz="11000" b="1" dirty="0" smtClean="0">
              <a:solidFill>
                <a:srgbClr val="1C9FCB"/>
              </a:solidFill>
            </a:endParaRPr>
          </a:p>
          <a:p>
            <a:r>
              <a:rPr lang="zh-TW" altLang="en-US" sz="11000" b="1" dirty="0" smtClean="0">
                <a:solidFill>
                  <a:srgbClr val="32CB58"/>
                </a:solidFill>
              </a:rPr>
              <a:t>行銷計畫</a:t>
            </a:r>
            <a:endParaRPr lang="en-US" altLang="zh-TW" sz="11000" b="1" dirty="0" smtClean="0">
              <a:solidFill>
                <a:srgbClr val="32CB58"/>
              </a:solidFill>
            </a:endParaRPr>
          </a:p>
          <a:p>
            <a:r>
              <a:rPr lang="zh-TW" altLang="en-US" sz="11000" b="1" dirty="0" smtClean="0">
                <a:solidFill>
                  <a:srgbClr val="A466D8"/>
                </a:solidFill>
              </a:rPr>
              <a:t>計畫總結</a:t>
            </a:r>
            <a:endParaRPr lang="en-US" altLang="zh-TW" sz="11000" b="1" dirty="0" smtClean="0">
              <a:solidFill>
                <a:srgbClr val="A466D8"/>
              </a:solidFill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21164" y="1671602"/>
            <a:ext cx="5827236" cy="1785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 smtClean="0">
                <a:solidFill>
                  <a:srgbClr val="A466D8"/>
                </a:solidFill>
              </a:rPr>
              <a:t>提問環節</a:t>
            </a:r>
            <a:endParaRPr lang="en-US" altLang="zh-TW" sz="11000" b="1" dirty="0" smtClean="0">
              <a:solidFill>
                <a:srgbClr val="A466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58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/>
      <p:bldP spid="17" grpId="0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接點 16"/>
          <p:cNvCxnSpPr/>
          <p:nvPr userDrawn="1"/>
        </p:nvCxnSpPr>
        <p:spPr>
          <a:xfrm>
            <a:off x="407988" y="6416674"/>
            <a:ext cx="11376025" cy="0"/>
          </a:xfrm>
          <a:prstGeom prst="line">
            <a:avLst/>
          </a:prstGeom>
          <a:ln>
            <a:solidFill>
              <a:srgbClr val="A466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群組 7"/>
          <p:cNvGrpSpPr/>
          <p:nvPr userDrawn="1"/>
        </p:nvGrpSpPr>
        <p:grpSpPr>
          <a:xfrm>
            <a:off x="3939150" y="-2164275"/>
            <a:ext cx="11186550" cy="11186550"/>
            <a:chOff x="3988526" y="1321526"/>
            <a:chExt cx="4214949" cy="4214949"/>
          </a:xfrm>
        </p:grpSpPr>
        <p:sp>
          <p:nvSpPr>
            <p:cNvPr id="9" name="橢圓 8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solidFill>
              <a:srgbClr val="ECE0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A466D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文字方塊 14"/>
          <p:cNvSpPr txBox="1"/>
          <p:nvPr userDrawn="1"/>
        </p:nvSpPr>
        <p:spPr>
          <a:xfrm>
            <a:off x="11416605" y="6416674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061B2C-6C14-4386-B8A0-FC3D00B49B88}" type="slidenum">
              <a:rPr lang="zh-TW" altLang="en-US" sz="1200" smtClean="0">
                <a:solidFill>
                  <a:srgbClr val="FFFFFF"/>
                </a:solidFill>
              </a:rPr>
              <a:t>‹#›</a:t>
            </a:fld>
            <a:endParaRPr lang="zh-TW" altLang="en-US" sz="1200" dirty="0">
              <a:solidFill>
                <a:srgbClr val="FFFFFF"/>
              </a:solidFill>
            </a:endParaRPr>
          </a:p>
        </p:txBody>
      </p:sp>
      <p:sp>
        <p:nvSpPr>
          <p:cNvPr id="18" name="圓角矩形 17"/>
          <p:cNvSpPr/>
          <p:nvPr userDrawn="1"/>
        </p:nvSpPr>
        <p:spPr>
          <a:xfrm>
            <a:off x="407987" y="1376363"/>
            <a:ext cx="11376025" cy="4897437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>
            <a:noFill/>
          </a:ln>
          <a:effectLst>
            <a:outerShdw blurRad="304800" sx="102000" sy="102000" algn="ctr" rotWithShape="0">
              <a:schemeClr val="accent5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甜甜圈 18"/>
          <p:cNvSpPr/>
          <p:nvPr userDrawn="1"/>
        </p:nvSpPr>
        <p:spPr>
          <a:xfrm>
            <a:off x="-1623873" y="-1252309"/>
            <a:ext cx="2561946" cy="2561946"/>
          </a:xfrm>
          <a:prstGeom prst="donut">
            <a:avLst>
              <a:gd name="adj" fmla="val 15772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1702637" y="-3240847"/>
            <a:ext cx="2236510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b="1" dirty="0" smtClean="0">
                <a:solidFill>
                  <a:srgbClr val="E03E0D"/>
                </a:solidFill>
              </a:rPr>
              <a:t>計畫緣起</a:t>
            </a:r>
            <a:endParaRPr lang="en-US" altLang="zh-TW" sz="4000" b="1" dirty="0" smtClean="0">
              <a:solidFill>
                <a:srgbClr val="E03E0D"/>
              </a:solidFill>
            </a:endParaRPr>
          </a:p>
          <a:p>
            <a:r>
              <a:rPr lang="zh-TW" altLang="en-US" sz="4000" b="1" dirty="0" smtClean="0">
                <a:solidFill>
                  <a:srgbClr val="F8B70C"/>
                </a:solidFill>
              </a:rPr>
              <a:t>產業概況</a:t>
            </a:r>
            <a:endParaRPr lang="en-US" altLang="zh-TW" sz="4000" b="1" dirty="0" smtClean="0">
              <a:solidFill>
                <a:srgbClr val="F8B70C"/>
              </a:solidFill>
            </a:endParaRPr>
          </a:p>
          <a:p>
            <a:r>
              <a:rPr lang="zh-TW" altLang="en-US" sz="4000" b="1" dirty="0" smtClean="0">
                <a:solidFill>
                  <a:srgbClr val="1C9FCB"/>
                </a:solidFill>
              </a:rPr>
              <a:t>問卷分析</a:t>
            </a:r>
            <a:endParaRPr lang="en-US" altLang="zh-TW" sz="4000" b="1" dirty="0" smtClean="0">
              <a:solidFill>
                <a:srgbClr val="1C9FCB"/>
              </a:solidFill>
            </a:endParaRPr>
          </a:p>
          <a:p>
            <a:r>
              <a:rPr lang="zh-TW" altLang="en-US" sz="4000" b="1" dirty="0" smtClean="0">
                <a:solidFill>
                  <a:srgbClr val="32CB58"/>
                </a:solidFill>
              </a:rPr>
              <a:t>行銷計畫</a:t>
            </a:r>
            <a:endParaRPr lang="en-US" altLang="zh-TW" sz="4000" b="1" dirty="0" smtClean="0">
              <a:solidFill>
                <a:srgbClr val="32CB58"/>
              </a:solidFill>
            </a:endParaRPr>
          </a:p>
          <a:p>
            <a:r>
              <a:rPr lang="zh-TW" altLang="en-US" sz="4000" b="1" dirty="0" smtClean="0">
                <a:solidFill>
                  <a:srgbClr val="A466D8"/>
                </a:solidFill>
              </a:rPr>
              <a:t>計畫總結</a:t>
            </a:r>
            <a:endParaRPr lang="en-US" altLang="zh-TW" sz="4000" b="1" dirty="0" smtClean="0">
              <a:solidFill>
                <a:srgbClr val="A466D8"/>
              </a:solidFill>
            </a:endParaRPr>
          </a:p>
        </p:txBody>
      </p:sp>
      <p:grpSp>
        <p:nvGrpSpPr>
          <p:cNvPr id="23" name="群組 22"/>
          <p:cNvGrpSpPr/>
          <p:nvPr userDrawn="1"/>
        </p:nvGrpSpPr>
        <p:grpSpPr>
          <a:xfrm>
            <a:off x="408143" y="0"/>
            <a:ext cx="3218712" cy="1200329"/>
            <a:chOff x="408143" y="0"/>
            <a:chExt cx="3218712" cy="1200329"/>
          </a:xfrm>
        </p:grpSpPr>
        <p:sp>
          <p:nvSpPr>
            <p:cNvPr id="20" name="文字方塊 19"/>
            <p:cNvSpPr txBox="1"/>
            <p:nvPr userDrawn="1"/>
          </p:nvSpPr>
          <p:spPr>
            <a:xfrm>
              <a:off x="408143" y="0"/>
              <a:ext cx="112082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7200" b="1" dirty="0" smtClean="0">
                  <a:solidFill>
                    <a:srgbClr val="A466D8"/>
                  </a:solidFill>
                </a:rPr>
                <a:t>05</a:t>
              </a:r>
              <a:endParaRPr lang="zh-TW" altLang="en-US" sz="7200" b="1" dirty="0">
                <a:solidFill>
                  <a:srgbClr val="A466D8"/>
                </a:solidFill>
              </a:endParaRPr>
            </a:p>
          </p:txBody>
        </p:sp>
        <p:sp>
          <p:nvSpPr>
            <p:cNvPr id="22" name="文字方塊 21"/>
            <p:cNvSpPr txBox="1"/>
            <p:nvPr userDrawn="1"/>
          </p:nvSpPr>
          <p:spPr>
            <a:xfrm>
              <a:off x="1390345" y="347936"/>
              <a:ext cx="22365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4000" b="1" dirty="0" smtClean="0">
                  <a:solidFill>
                    <a:srgbClr val="A466D8"/>
                  </a:solidFill>
                </a:rPr>
                <a:t>提問環節</a:t>
              </a:r>
              <a:endParaRPr lang="en-US" altLang="zh-TW" sz="4000" b="1" dirty="0" smtClean="0">
                <a:solidFill>
                  <a:srgbClr val="A466D8"/>
                </a:solidFill>
              </a:endParaRPr>
            </a:p>
          </p:txBody>
        </p:sp>
      </p:grpSp>
      <p:sp>
        <p:nvSpPr>
          <p:cNvPr id="24" name="文字方塊 23"/>
          <p:cNvSpPr txBox="1"/>
          <p:nvPr userDrawn="1"/>
        </p:nvSpPr>
        <p:spPr>
          <a:xfrm>
            <a:off x="1434736" y="203429"/>
            <a:ext cx="806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PART FIVE</a:t>
            </a:r>
            <a:endParaRPr lang="zh-TW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8950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 rotWithShape="1"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44572" y="1320799"/>
            <a:ext cx="4412343" cy="368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2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3515806" y="5029200"/>
            <a:ext cx="572464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塔防    策略    生存挑戰</a:t>
            </a:r>
            <a:endParaRPr lang="zh-TW" altLang="en-US" sz="4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橢圓 5"/>
          <p:cNvSpPr/>
          <p:nvPr/>
        </p:nvSpPr>
        <p:spPr>
          <a:xfrm>
            <a:off x="2959100" y="5156200"/>
            <a:ext cx="914400" cy="914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289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2326E-6 1.48148E-6 L 0.46562 0.00393 " pathEditMode="relative" rAng="0" ptsTypes="AA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274" y="18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6" grpId="1" animBg="1"/>
      <p:bldP spid="6" grpId="2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891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407988" y="3429000"/>
            <a:ext cx="1460570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選題原因</a:t>
            </a:r>
            <a:endParaRPr lang="zh-TW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444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755432" y="2132418"/>
            <a:ext cx="7734717" cy="3133518"/>
            <a:chOff x="6338829" y="2452629"/>
            <a:chExt cx="7734717" cy="3133518"/>
          </a:xfrm>
        </p:grpSpPr>
        <p:sp>
          <p:nvSpPr>
            <p:cNvPr id="3" name="橢圓 2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" name="文字方塊 3"/>
            <p:cNvSpPr txBox="1"/>
            <p:nvPr/>
          </p:nvSpPr>
          <p:spPr>
            <a:xfrm>
              <a:off x="6348354" y="2477604"/>
              <a:ext cx="7725192" cy="31085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本專題選擇以</a:t>
              </a:r>
              <a:r>
                <a:rPr lang="en-US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《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植物大戰殭屍</a:t>
              </a:r>
              <a:r>
                <a:rPr lang="en-US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》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作為開發主題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，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主要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原因之一為組員本身對該遊戲具有高度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興趣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，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有助於在專題製作過程中維持學習動機與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投入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程度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。此外，在專題規劃初期，團隊曾嘗試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構思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能夠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如課堂範例般具備實用性的應用程式，但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考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量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到時間與技術能力限制，較難提出合適且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完整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的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題目，因此決定朝遊戲設計方向發展。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9837869" y="37498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TW" altLang="en-US" sz="3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選題原因</a:t>
            </a:r>
            <a:endParaRPr lang="zh-TW" altLang="en-US" sz="3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3454" y="2157393"/>
            <a:ext cx="1982706" cy="3326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830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755432" y="2132418"/>
            <a:ext cx="8093789" cy="2702631"/>
            <a:chOff x="6338829" y="2452629"/>
            <a:chExt cx="8093789" cy="2702631"/>
          </a:xfrm>
        </p:grpSpPr>
        <p:sp>
          <p:nvSpPr>
            <p:cNvPr id="3" name="橢圓 2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" name="文字方塊 3"/>
            <p:cNvSpPr txBox="1"/>
            <p:nvPr/>
          </p:nvSpPr>
          <p:spPr>
            <a:xfrm>
              <a:off x="6348354" y="2477604"/>
              <a:ext cx="8084264" cy="2677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相較於從零設計全新系統，遊戲開發可在既有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遊戲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規則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的基礎上進行延伸與改良，並能自行設計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遊戲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內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的角色與物件，使專題內容更具彈性與創意。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即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使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沿用相似的遊戲機制，也可透過不同的視覺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風格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或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角色設定呈現出不同特色，降低開發門檻的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同時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，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仍能達到學習程式設計與系統實作的目標。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9837869" y="37498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TW" altLang="en-US" sz="3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選題原因</a:t>
            </a:r>
            <a:endParaRPr lang="zh-TW" altLang="en-US" sz="3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431" y="2261405"/>
            <a:ext cx="2320349" cy="2291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479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407988" y="3429000"/>
            <a:ext cx="1460570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8B7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開發環境</a:t>
            </a:r>
            <a:endParaRPr lang="zh-TW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42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9837869" y="37498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TW" altLang="en-US" sz="3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開發環境</a:t>
            </a:r>
            <a:endParaRPr lang="zh-TW" altLang="en-US" sz="3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7" name="群組 16"/>
          <p:cNvGrpSpPr/>
          <p:nvPr/>
        </p:nvGrpSpPr>
        <p:grpSpPr>
          <a:xfrm>
            <a:off x="755432" y="1548759"/>
            <a:ext cx="8811935" cy="3564405"/>
            <a:chOff x="6338829" y="2452629"/>
            <a:chExt cx="8811935" cy="3564405"/>
          </a:xfrm>
        </p:grpSpPr>
        <p:sp>
          <p:nvSpPr>
            <p:cNvPr id="18" name="橢圓 17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6348354" y="2477604"/>
              <a:ext cx="8802410" cy="35394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 smtClean="0">
                  <a:solidFill>
                    <a:srgbClr val="FFC000"/>
                  </a:solidFill>
                </a:rPr>
                <a:t>開發工具：</a:t>
              </a:r>
              <a:endParaRPr lang="en-US" altLang="zh-TW" sz="2800" b="1" dirty="0" smtClean="0">
                <a:solidFill>
                  <a:srgbClr val="FFC000"/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本專題依課程要求，使用 </a:t>
              </a:r>
              <a:r>
                <a:rPr lang="en-US" altLang="zh-TW" sz="28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Qt</a:t>
              </a:r>
              <a:r>
                <a:rPr lang="en-US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Creator 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作為主要開發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工具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，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並以 </a:t>
              </a:r>
              <a:r>
                <a:rPr lang="en-US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C++ 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搭配 </a:t>
              </a:r>
              <a:r>
                <a:rPr lang="en-US" altLang="zh-TW" sz="28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Qt</a:t>
              </a:r>
              <a:r>
                <a:rPr lang="en-US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Framework 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進行程式撰寫。透過 </a:t>
              </a:r>
              <a:r>
                <a:rPr lang="en-US" altLang="zh-TW" sz="28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Qt</a:t>
              </a:r>
              <a:r>
                <a:rPr lang="en-US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所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提供的相關功能，我們能在同一開發環境中完成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程式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編輯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、執行與測試，方便進行遊戲邏輯與介面設計。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本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專題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主要於 </a:t>
              </a:r>
              <a:r>
                <a:rPr lang="en-US" altLang="zh-TW" sz="28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Qt</a:t>
              </a:r>
              <a:r>
                <a:rPr lang="en-US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Creator 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中進行開發與執行，未特別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針對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單一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作業系統進行限制，重點放在熟悉 </a:t>
              </a:r>
              <a:r>
                <a:rPr lang="en-US" altLang="zh-TW" sz="28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Qt</a:t>
              </a:r>
              <a:r>
                <a:rPr lang="en-US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開發流程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與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實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作遊戲功能。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860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407988" y="3429000"/>
            <a:ext cx="1460570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1C9F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遊戲架構</a:t>
            </a:r>
            <a:endParaRPr lang="zh-TW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2283170" y="3429000"/>
            <a:ext cx="1460570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1C9F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角色設計</a:t>
            </a:r>
            <a:endParaRPr lang="zh-TW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4073059" y="3429000"/>
            <a:ext cx="1460570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1C9F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關卡規則</a:t>
            </a:r>
          </a:p>
        </p:txBody>
      </p:sp>
      <p:sp>
        <p:nvSpPr>
          <p:cNvPr id="6" name="圓角矩形 5"/>
          <p:cNvSpPr/>
          <p:nvPr/>
        </p:nvSpPr>
        <p:spPr>
          <a:xfrm>
            <a:off x="5853221" y="3429000"/>
            <a:ext cx="1460570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1C9F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介面設計</a:t>
            </a:r>
            <a:endParaRPr lang="zh-TW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752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9837869" y="37498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TW" altLang="en-US" sz="3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遊戲架構</a:t>
            </a:r>
            <a:endParaRPr lang="zh-TW" altLang="en-US" sz="3600" b="1" dirty="0">
              <a:solidFill>
                <a:srgbClr val="FFFFFF">
                  <a:alpha val="20000"/>
                </a:srgbClr>
              </a:solidFill>
            </a:endParaRPr>
          </a:p>
        </p:txBody>
      </p:sp>
      <p:graphicFrame>
        <p:nvGraphicFramePr>
          <p:cNvPr id="2" name="資料庫圖表 1"/>
          <p:cNvGraphicFramePr/>
          <p:nvPr>
            <p:extLst>
              <p:ext uri="{D42A27DB-BD31-4B8C-83A1-F6EECF244321}">
                <p14:modId xmlns:p14="http://schemas.microsoft.com/office/powerpoint/2010/main" val="2101674858"/>
              </p:ext>
            </p:extLst>
          </p:nvPr>
        </p:nvGraphicFramePr>
        <p:xfrm>
          <a:off x="3170137" y="1458968"/>
          <a:ext cx="5973864" cy="4513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578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9837869" y="37498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TW" alt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角</a:t>
            </a:r>
            <a:r>
              <a:rPr lang="zh-TW" altLang="en-US" sz="3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色設計</a:t>
            </a:r>
            <a:endParaRPr lang="zh-TW" altLang="en-US" sz="3600" b="1" dirty="0">
              <a:solidFill>
                <a:srgbClr val="FFFFFF">
                  <a:alpha val="20000"/>
                </a:srgbClr>
              </a:solidFill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755432" y="1548759"/>
            <a:ext cx="9889153" cy="1409970"/>
            <a:chOff x="6338829" y="2452629"/>
            <a:chExt cx="9889153" cy="1409970"/>
          </a:xfrm>
        </p:grpSpPr>
        <p:sp>
          <p:nvSpPr>
            <p:cNvPr id="5" name="橢圓 4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6348354" y="2477604"/>
              <a:ext cx="9879628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 smtClean="0">
                  <a:solidFill>
                    <a:srgbClr val="00B0F0"/>
                  </a:solidFill>
                </a:rPr>
                <a:t>太陽花：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提供陽光資源，幫助玩家種植更多植物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，是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遊戲初期不可或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缺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的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經濟來源。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755432" y="3095457"/>
            <a:ext cx="9889153" cy="979082"/>
            <a:chOff x="6338829" y="2452629"/>
            <a:chExt cx="9889153" cy="979082"/>
          </a:xfrm>
        </p:grpSpPr>
        <p:sp>
          <p:nvSpPr>
            <p:cNvPr id="8" name="橢圓 7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6348354" y="2477604"/>
              <a:ext cx="987962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>
                  <a:solidFill>
                    <a:srgbClr val="00B0F0"/>
                  </a:solidFill>
                </a:rPr>
                <a:t>豌豆射手</a:t>
              </a:r>
              <a:r>
                <a:rPr lang="zh-TW" altLang="en-US" sz="2800" b="1" dirty="0" smtClean="0">
                  <a:solidFill>
                    <a:srgbClr val="00B0F0"/>
                  </a:solidFill>
                </a:rPr>
                <a:t>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基礎攻擊植物，向前射出碗豆攻擊殭屍，適合初期防線使用。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755432" y="4272504"/>
            <a:ext cx="9889153" cy="979082"/>
            <a:chOff x="6338829" y="2452629"/>
            <a:chExt cx="9889153" cy="979082"/>
          </a:xfrm>
        </p:grpSpPr>
        <p:sp>
          <p:nvSpPr>
            <p:cNvPr id="11" name="橢圓 10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6348354" y="2477604"/>
              <a:ext cx="987962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>
                  <a:solidFill>
                    <a:srgbClr val="00B0F0"/>
                  </a:solidFill>
                </a:rPr>
                <a:t>堅果盾牌：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防禦型植物，擋住殭屍前進，增加其他攻擊植物的生存時間。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903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9837869" y="37498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TW" alt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角</a:t>
            </a:r>
            <a:r>
              <a:rPr lang="zh-TW" altLang="en-US" sz="3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色設計</a:t>
            </a:r>
            <a:endParaRPr lang="zh-TW" altLang="en-US" sz="3600" b="1" dirty="0">
              <a:solidFill>
                <a:srgbClr val="FFFFFF">
                  <a:alpha val="20000"/>
                </a:srgbClr>
              </a:solidFill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755432" y="1548759"/>
            <a:ext cx="8811935" cy="979082"/>
            <a:chOff x="6338829" y="2452629"/>
            <a:chExt cx="8811935" cy="979082"/>
          </a:xfrm>
        </p:grpSpPr>
        <p:sp>
          <p:nvSpPr>
            <p:cNvPr id="5" name="橢圓 4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6348354" y="2477604"/>
              <a:ext cx="8802410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>
                  <a:solidFill>
                    <a:srgbClr val="00B0F0"/>
                  </a:solidFill>
                </a:rPr>
                <a:t>寒冰射手：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射出冰凍子彈，能減緩殭屍移動速度，控制戰場節奏。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705996" y="2527841"/>
            <a:ext cx="10607298" cy="979082"/>
            <a:chOff x="6338829" y="2452629"/>
            <a:chExt cx="10607298" cy="979082"/>
          </a:xfrm>
        </p:grpSpPr>
        <p:sp>
          <p:nvSpPr>
            <p:cNvPr id="8" name="橢圓 7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6348354" y="2477604"/>
              <a:ext cx="10597773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>
                  <a:solidFill>
                    <a:srgbClr val="00B0F0"/>
                  </a:solidFill>
                </a:rPr>
                <a:t>強力豌豆射手：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高攻擊力植物，對殭屍造成大量傷害，適合用來對付高血量敵人。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764957" y="4428146"/>
            <a:ext cx="6657499" cy="979082"/>
            <a:chOff x="6338829" y="2452629"/>
            <a:chExt cx="6657499" cy="979082"/>
          </a:xfrm>
        </p:grpSpPr>
        <p:sp>
          <p:nvSpPr>
            <p:cNvPr id="14" name="橢圓 13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6348354" y="2477604"/>
              <a:ext cx="664797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 smtClean="0">
                  <a:solidFill>
                    <a:srgbClr val="00B0F0"/>
                  </a:solidFill>
                </a:rPr>
                <a:t>細菌草：</a:t>
              </a: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射出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魔幻子彈，可以追蹤任何位置的殭屍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755432" y="3495468"/>
            <a:ext cx="5939353" cy="979082"/>
            <a:chOff x="6338829" y="2452629"/>
            <a:chExt cx="5939353" cy="979082"/>
          </a:xfrm>
        </p:grpSpPr>
        <p:sp>
          <p:nvSpPr>
            <p:cNvPr id="17" name="橢圓 16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6348354" y="2477604"/>
              <a:ext cx="592982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>
                  <a:solidFill>
                    <a:srgbClr val="00B0F0"/>
                  </a:solidFill>
                </a:rPr>
                <a:t>三倍豌豆射手</a:t>
              </a:r>
              <a:r>
                <a:rPr lang="zh-TW" altLang="en-US" sz="2800" b="1" dirty="0" smtClean="0">
                  <a:solidFill>
                    <a:srgbClr val="00B0F0"/>
                  </a:solidFill>
                </a:rPr>
                <a:t>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可以一次射出最多的子彈的豌豆射手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698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9837869" y="37498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TW" alt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角</a:t>
            </a:r>
            <a:r>
              <a:rPr lang="zh-TW" altLang="en-US" sz="3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色設計</a:t>
            </a:r>
            <a:endParaRPr lang="zh-TW" altLang="en-US" sz="3600" b="1" dirty="0">
              <a:solidFill>
                <a:srgbClr val="FFFFFF">
                  <a:alpha val="20000"/>
                </a:srgbClr>
              </a:solidFill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755432" y="1548759"/>
            <a:ext cx="3784918" cy="979082"/>
            <a:chOff x="6338829" y="2452629"/>
            <a:chExt cx="3784918" cy="979082"/>
          </a:xfrm>
        </p:grpSpPr>
        <p:sp>
          <p:nvSpPr>
            <p:cNvPr id="5" name="橢圓 4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6348354" y="2477604"/>
              <a:ext cx="3775393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 smtClean="0">
                  <a:solidFill>
                    <a:srgbClr val="00B0F0"/>
                  </a:solidFill>
                </a:rPr>
                <a:t>核彈：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可以清除場上所有殭屍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764957" y="2527841"/>
            <a:ext cx="6298426" cy="979082"/>
            <a:chOff x="6338829" y="2452629"/>
            <a:chExt cx="6298426" cy="979082"/>
          </a:xfrm>
        </p:grpSpPr>
        <p:sp>
          <p:nvSpPr>
            <p:cNvPr id="8" name="橢圓 7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6348354" y="2477604"/>
              <a:ext cx="6288901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 smtClean="0">
                  <a:solidFill>
                    <a:srgbClr val="00B0F0"/>
                  </a:solidFill>
                </a:rPr>
                <a:t>骷髏樹：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可以定期在上下兩排生成骷髏攻擊殭屍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755432" y="3518422"/>
            <a:ext cx="3784918" cy="979082"/>
            <a:chOff x="6338829" y="2452629"/>
            <a:chExt cx="3784918" cy="979082"/>
          </a:xfrm>
        </p:grpSpPr>
        <p:sp>
          <p:nvSpPr>
            <p:cNvPr id="11" name="橢圓 10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6348354" y="2477604"/>
              <a:ext cx="3775393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>
                  <a:solidFill>
                    <a:srgbClr val="00B0F0"/>
                  </a:solidFill>
                </a:rPr>
                <a:t>地刺</a:t>
              </a:r>
              <a:r>
                <a:rPr lang="zh-TW" altLang="en-US" sz="2800" b="1" dirty="0" smtClean="0">
                  <a:solidFill>
                    <a:srgbClr val="00B0F0"/>
                  </a:solidFill>
                </a:rPr>
                <a:t>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殭屍踩在地刺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上會受傷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755432" y="4603256"/>
            <a:ext cx="4143990" cy="979082"/>
            <a:chOff x="6338829" y="2452629"/>
            <a:chExt cx="4143990" cy="979082"/>
          </a:xfrm>
        </p:grpSpPr>
        <p:sp>
          <p:nvSpPr>
            <p:cNvPr id="14" name="橢圓 13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6348354" y="2477604"/>
              <a:ext cx="4134465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 smtClean="0">
                  <a:solidFill>
                    <a:srgbClr val="00B0F0"/>
                  </a:solidFill>
                </a:rPr>
                <a:t>我肏你媽核彈：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炸毀全場所有植物和殭屍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8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9837869" y="37498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TW" alt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角</a:t>
            </a:r>
            <a:r>
              <a:rPr lang="zh-TW" altLang="en-US" sz="3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色設計</a:t>
            </a:r>
            <a:endParaRPr lang="zh-TW" altLang="en-US" sz="3600" b="1" dirty="0">
              <a:solidFill>
                <a:srgbClr val="FFFFFF">
                  <a:alpha val="20000"/>
                </a:srgbClr>
              </a:solidFill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755432" y="1548759"/>
            <a:ext cx="4503063" cy="979082"/>
            <a:chOff x="6338829" y="2452629"/>
            <a:chExt cx="4503063" cy="979082"/>
          </a:xfrm>
        </p:grpSpPr>
        <p:sp>
          <p:nvSpPr>
            <p:cNvPr id="5" name="橢圓 4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6348354" y="2477604"/>
              <a:ext cx="449353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 smtClean="0">
                  <a:solidFill>
                    <a:srgbClr val="00B0F0"/>
                  </a:solidFill>
                </a:rPr>
                <a:t>火爆爆辣椒：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可以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清除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那一橫排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所有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殭屍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755432" y="3095457"/>
            <a:ext cx="3066772" cy="979082"/>
            <a:chOff x="6338829" y="2452629"/>
            <a:chExt cx="3066772" cy="979082"/>
          </a:xfrm>
        </p:grpSpPr>
        <p:sp>
          <p:nvSpPr>
            <p:cNvPr id="8" name="橢圓 7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6348354" y="2477604"/>
              <a:ext cx="3057247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 smtClean="0">
                  <a:solidFill>
                    <a:srgbClr val="00B0F0"/>
                  </a:solidFill>
                </a:rPr>
                <a:t>地雷：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殭屍踩</a:t>
              </a:r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到直接死亡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755432" y="4272504"/>
            <a:ext cx="4503063" cy="979082"/>
            <a:chOff x="6338829" y="2452629"/>
            <a:chExt cx="4503063" cy="979082"/>
          </a:xfrm>
        </p:grpSpPr>
        <p:sp>
          <p:nvSpPr>
            <p:cNvPr id="11" name="橢圓 10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6348354" y="2477604"/>
              <a:ext cx="449353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 smtClean="0">
                  <a:solidFill>
                    <a:srgbClr val="00B0F0"/>
                  </a:solidFill>
                </a:rPr>
                <a:t>雙倍太陽花：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可以生成更多太陽效率更高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8671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9837869" y="37498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TW" altLang="en-US" sz="3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關卡規則</a:t>
            </a:r>
            <a:endParaRPr lang="zh-TW" altLang="en-US" sz="3600" b="1" dirty="0">
              <a:solidFill>
                <a:srgbClr val="FFFFFF">
                  <a:alpha val="20000"/>
                </a:srgbClr>
              </a:solidFill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755432" y="1548759"/>
            <a:ext cx="6298426" cy="979082"/>
            <a:chOff x="6338829" y="2452629"/>
            <a:chExt cx="6298426" cy="979082"/>
          </a:xfrm>
        </p:grpSpPr>
        <p:sp>
          <p:nvSpPr>
            <p:cNvPr id="5" name="橢圓 4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6348354" y="2477604"/>
              <a:ext cx="6288901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>
                  <a:solidFill>
                    <a:srgbClr val="00B0F0"/>
                  </a:solidFill>
                </a:rPr>
                <a:t>關卡數量與進度：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遊戲有幾關，關卡如何逐步增加難度。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764957" y="2630891"/>
            <a:ext cx="6298426" cy="979082"/>
            <a:chOff x="6338829" y="2452629"/>
            <a:chExt cx="6298426" cy="979082"/>
          </a:xfrm>
        </p:grpSpPr>
        <p:sp>
          <p:nvSpPr>
            <p:cNvPr id="8" name="橢圓 7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6348354" y="2477604"/>
              <a:ext cx="6288901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>
                  <a:solidFill>
                    <a:srgbClr val="00B0F0"/>
                  </a:solidFill>
                </a:rPr>
                <a:t>殭屍出現方式：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每關殭屍出現速度、種類、波次設計。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774482" y="3609973"/>
            <a:ext cx="9889153" cy="979082"/>
            <a:chOff x="6338829" y="2452629"/>
            <a:chExt cx="9889153" cy="979082"/>
          </a:xfrm>
        </p:grpSpPr>
        <p:sp>
          <p:nvSpPr>
            <p:cNvPr id="11" name="橢圓 10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6348354" y="2477604"/>
              <a:ext cx="987962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>
                  <a:solidFill>
                    <a:srgbClr val="00B0F0"/>
                  </a:solidFill>
                </a:rPr>
                <a:t>勝負判定：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玩家如何判定勝利（守住最後一行、完成關卡）、失敗條件。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774482" y="4689743"/>
            <a:ext cx="9171007" cy="979082"/>
            <a:chOff x="6338829" y="2452629"/>
            <a:chExt cx="9171007" cy="979082"/>
          </a:xfrm>
        </p:grpSpPr>
        <p:sp>
          <p:nvSpPr>
            <p:cNvPr id="14" name="橢圓 13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6348354" y="2477604"/>
              <a:ext cx="9161482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>
                  <a:solidFill>
                    <a:srgbClr val="00B0F0"/>
                  </a:solidFill>
                </a:rPr>
                <a:t>資源與限制：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初始陽光量、可用植物種類限制、時間限制（如果有）。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7952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9837869" y="37498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TW" altLang="en-US" sz="3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介面設計</a:t>
            </a:r>
            <a:endParaRPr lang="zh-TW" altLang="en-US" sz="3600" b="1" dirty="0">
              <a:solidFill>
                <a:srgbClr val="FFFFFF">
                  <a:alpha val="20000"/>
                </a:srgbClr>
              </a:solidFill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755432" y="1548759"/>
            <a:ext cx="9171007" cy="979082"/>
            <a:chOff x="6338829" y="2452629"/>
            <a:chExt cx="9171007" cy="979082"/>
          </a:xfrm>
        </p:grpSpPr>
        <p:sp>
          <p:nvSpPr>
            <p:cNvPr id="5" name="橢圓 4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6348354" y="2477604"/>
              <a:ext cx="9161482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>
                  <a:solidFill>
                    <a:srgbClr val="00B0F0"/>
                  </a:solidFill>
                </a:rPr>
                <a:t>主畫面：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遊戲啟動後看到的主選單、開始遊戲按鈕、關卡選擇等。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764957" y="2630891"/>
            <a:ext cx="9171007" cy="979082"/>
            <a:chOff x="6338829" y="2452629"/>
            <a:chExt cx="9171007" cy="979082"/>
          </a:xfrm>
        </p:grpSpPr>
        <p:sp>
          <p:nvSpPr>
            <p:cNvPr id="8" name="橢圓 7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6348354" y="2477604"/>
              <a:ext cx="9161482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>
                  <a:solidFill>
                    <a:srgbClr val="00B0F0"/>
                  </a:solidFill>
                </a:rPr>
                <a:t>遊戲畫面：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遊戲中場景、植物格子、殭屍行進路線、陽光數量顯示。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774482" y="3609973"/>
            <a:ext cx="7375644" cy="979082"/>
            <a:chOff x="6338829" y="2452629"/>
            <a:chExt cx="7375644" cy="979082"/>
          </a:xfrm>
        </p:grpSpPr>
        <p:sp>
          <p:nvSpPr>
            <p:cNvPr id="11" name="橢圓 10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6348354" y="2477604"/>
              <a:ext cx="736611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>
                  <a:solidFill>
                    <a:srgbClr val="00B0F0"/>
                  </a:solidFill>
                </a:rPr>
                <a:t>操作按鈕：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選擇植物、放置植物、使用鏟子或其他道具。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774482" y="4689743"/>
            <a:ext cx="6452314" cy="979082"/>
            <a:chOff x="6338829" y="2452629"/>
            <a:chExt cx="6452314" cy="979082"/>
          </a:xfrm>
        </p:grpSpPr>
        <p:sp>
          <p:nvSpPr>
            <p:cNvPr id="14" name="橢圓 13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6348354" y="2477604"/>
              <a:ext cx="644278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>
                  <a:solidFill>
                    <a:srgbClr val="00B0F0"/>
                  </a:solidFill>
                </a:rPr>
                <a:t>結算畫面：</a:t>
              </a:r>
              <a:endParaRPr lang="en-US" altLang="zh-TW" sz="2800" b="1" dirty="0" smtClean="0">
                <a:solidFill>
                  <a:srgbClr val="00B0F0"/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顯示勝利</a:t>
              </a:r>
              <a:r>
                <a:rPr lang="en-US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/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失敗結果、分數或解鎖提示。</a:t>
              </a:r>
              <a:endParaRPr lang="en-US" altLang="zh-TW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341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407987" y="3429000"/>
            <a:ext cx="1431143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32CB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程式</a:t>
            </a:r>
            <a:r>
              <a:rPr lang="zh-TW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實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作</a:t>
            </a:r>
            <a:endParaRPr lang="zh-TW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125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9837869" y="37498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TW" altLang="en-US" sz="3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程式實作</a:t>
            </a:r>
            <a:endParaRPr lang="zh-TW" altLang="en-US" sz="3600" b="1" dirty="0">
              <a:solidFill>
                <a:srgbClr val="FFFFFF">
                  <a:alpha val="20000"/>
                </a:srgbClr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762513" y="2828836"/>
            <a:ext cx="66669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7200" b="1" dirty="0" smtClean="0">
                <a:solidFill>
                  <a:srgbClr val="00B050"/>
                </a:solidFill>
              </a:rPr>
              <a:t>詳情請見程式碼</a:t>
            </a:r>
            <a:endParaRPr lang="en-US" altLang="zh-TW" sz="7200" b="1" dirty="0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413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407988" y="3429000"/>
            <a:ext cx="1460570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A365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成果心得</a:t>
            </a:r>
            <a:endParaRPr lang="zh-TW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39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37869" y="37498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TW" altLang="en-US" sz="3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提問環節</a:t>
            </a:r>
            <a:endParaRPr lang="zh-TW" altLang="en-US" sz="3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762513" y="2967335"/>
            <a:ext cx="6666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dirty="0" smtClean="0">
                <a:solidFill>
                  <a:srgbClr val="A466D8"/>
                </a:solidFill>
              </a:rPr>
              <a:t>有問題可以趁現在問</a:t>
            </a:r>
            <a:endParaRPr lang="en-US" altLang="zh-TW" sz="5400" b="1" dirty="0" smtClean="0">
              <a:solidFill>
                <a:srgbClr val="A466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183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3182382" y="5041900"/>
            <a:ext cx="58272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塔防、策略、生存挑戰</a:t>
            </a:r>
            <a:endParaRPr lang="zh-TW" altLang="en-US" sz="4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橢圓 2"/>
          <p:cNvSpPr/>
          <p:nvPr/>
        </p:nvSpPr>
        <p:spPr>
          <a:xfrm>
            <a:off x="2615869" y="5245100"/>
            <a:ext cx="914400" cy="914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8512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0287E-6 -1.48148E-6 L 0.47734 -0.00092 " pathEditMode="relative" rAng="0" ptsTypes="AA">
                                      <p:cBhvr>
                                        <p:cTn id="12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860" y="-4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3" grpId="1" animBg="1"/>
      <p:bldP spid="3" grpId="2" animBg="1"/>
    </p:bldLst>
  </p:timing>
</p:sld>
</file>

<file path=ppt/theme/theme1.xml><?xml version="1.0" encoding="utf-8"?>
<a:theme xmlns:a="http://schemas.openxmlformats.org/drawingml/2006/main" name="Office 佈景主題">
  <a:themeElements>
    <a:clrScheme name="比賽用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03E0D"/>
      </a:accent1>
      <a:accent2>
        <a:srgbClr val="F8B70C"/>
      </a:accent2>
      <a:accent3>
        <a:srgbClr val="32CB58"/>
      </a:accent3>
      <a:accent4>
        <a:srgbClr val="1C9FCB"/>
      </a:accent4>
      <a:accent5>
        <a:srgbClr val="A466D8"/>
      </a:accent5>
      <a:accent6>
        <a:srgbClr val="0070C0"/>
      </a:accent6>
      <a:hlink>
        <a:srgbClr val="0563C1"/>
      </a:hlink>
      <a:folHlink>
        <a:srgbClr val="954F72"/>
      </a:folHlink>
    </a:clrScheme>
    <a:fontScheme name="比賽用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690</Words>
  <Application>Microsoft Office PowerPoint</Application>
  <PresentationFormat>自訂</PresentationFormat>
  <Paragraphs>95</Paragraphs>
  <Slides>20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1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Windows 使用者</dc:creator>
  <cp:lastModifiedBy>User</cp:lastModifiedBy>
  <cp:revision>201</cp:revision>
  <dcterms:created xsi:type="dcterms:W3CDTF">2022-11-30T00:12:37Z</dcterms:created>
  <dcterms:modified xsi:type="dcterms:W3CDTF">2026-01-03T23:43:11Z</dcterms:modified>
</cp:coreProperties>
</file>