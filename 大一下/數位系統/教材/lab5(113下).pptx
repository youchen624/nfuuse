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  <p:sldMasterId id="2147484025" r:id="rId2"/>
  </p:sldMasterIdLst>
  <p:notesMasterIdLst>
    <p:notesMasterId r:id="rId27"/>
  </p:notesMasterIdLst>
  <p:handoutMasterIdLst>
    <p:handoutMasterId r:id="rId28"/>
  </p:handoutMasterIdLst>
  <p:sldIdLst>
    <p:sldId id="258" r:id="rId3"/>
    <p:sldId id="305" r:id="rId4"/>
    <p:sldId id="259" r:id="rId5"/>
    <p:sldId id="263" r:id="rId6"/>
    <p:sldId id="262" r:id="rId7"/>
    <p:sldId id="264" r:id="rId8"/>
    <p:sldId id="265" r:id="rId9"/>
    <p:sldId id="267" r:id="rId10"/>
    <p:sldId id="266" r:id="rId11"/>
    <p:sldId id="291" r:id="rId12"/>
    <p:sldId id="268" r:id="rId13"/>
    <p:sldId id="270" r:id="rId14"/>
    <p:sldId id="310" r:id="rId15"/>
    <p:sldId id="306" r:id="rId16"/>
    <p:sldId id="260" r:id="rId17"/>
    <p:sldId id="272" r:id="rId18"/>
    <p:sldId id="274" r:id="rId19"/>
    <p:sldId id="298" r:id="rId20"/>
    <p:sldId id="299" r:id="rId21"/>
    <p:sldId id="300" r:id="rId22"/>
    <p:sldId id="301" r:id="rId23"/>
    <p:sldId id="307" r:id="rId24"/>
    <p:sldId id="304" r:id="rId25"/>
    <p:sldId id="309" r:id="rId26"/>
  </p:sldIdLst>
  <p:sldSz cx="12192000" cy="6858000"/>
  <p:notesSz cx="7099300" cy="10234613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321B"/>
    <a:srgbClr val="0099FF"/>
    <a:srgbClr val="793C21"/>
    <a:srgbClr val="FF0000"/>
    <a:srgbClr val="FF9966"/>
    <a:srgbClr val="00FF00"/>
    <a:srgbClr val="0066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60" autoAdjust="0"/>
    <p:restoredTop sz="94660"/>
  </p:normalViewPr>
  <p:slideViewPr>
    <p:cSldViewPr>
      <p:cViewPr varScale="1">
        <p:scale>
          <a:sx n="108" d="100"/>
          <a:sy n="108" d="100"/>
        </p:scale>
        <p:origin x="92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defTabSz="912813" eaLnBrk="1" hangingPunct="1">
              <a:defRPr kumimoji="1"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t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kumimoji="1"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defTabSz="912813" eaLnBrk="1" hangingPunct="1">
              <a:defRPr kumimoji="1" sz="11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42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4" tIns="45711" rIns="91424" bIns="45711" numCol="1" anchor="b" anchorCtr="0" compatLnSpc="1">
            <a:prstTxWarp prst="textNoShape">
              <a:avLst/>
            </a:prstTxWarp>
          </a:bodyPr>
          <a:lstStyle>
            <a:lvl1pPr algn="r" defTabSz="912813" eaLnBrk="1" hangingPunct="1">
              <a:defRPr kumimoji="1" sz="1100" smtClean="0"/>
            </a:lvl1pPr>
          </a:lstStyle>
          <a:p>
            <a:pPr>
              <a:defRPr/>
            </a:pPr>
            <a:fld id="{85C7CB94-FA84-4EA2-BBE0-FE6EC69D47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kumimoji="1"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kumimoji="1"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1288" y="768350"/>
            <a:ext cx="68183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kumimoji="1"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30" tIns="49514" rIns="99030" bIns="4951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kumimoji="1" sz="1300" smtClean="0"/>
            </a:lvl1pPr>
          </a:lstStyle>
          <a:p>
            <a:pPr>
              <a:defRPr/>
            </a:pPr>
            <a:fld id="{56E875DF-4C14-4857-98F5-9636008D993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BE8EB53-5880-4A57-B11C-52807D31DFC0}" type="slidenum">
              <a:rPr lang="en-US" altLang="zh-TW" sz="1300"/>
              <a:pPr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  <p:sp>
        <p:nvSpPr>
          <p:cNvPr id="6147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8350"/>
            <a:ext cx="6818312" cy="3836988"/>
          </a:xfrm>
          <a:ln/>
        </p:spPr>
      </p:sp>
      <p:sp>
        <p:nvSpPr>
          <p:cNvPr id="6148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zh-TW" smtClean="0">
              <a:latin typeface="Arial" panose="020B0604020202020204" pitchFamily="34" charset="0"/>
            </a:endParaRPr>
          </a:p>
        </p:txBody>
      </p:sp>
      <p:sp>
        <p:nvSpPr>
          <p:cNvPr id="6149" name="投影片編號版面配置區 3"/>
          <p:cNvSpPr txBox="1">
            <a:spLocks noGrp="1"/>
          </p:cNvSpPr>
          <p:nvPr/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0" tIns="49514" rIns="99030" bIns="49514" anchor="b"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3F129B2-26C9-4224-B148-17E25A2CF533}" type="slidenum">
              <a:rPr lang="en-US" altLang="zh-TW" sz="1300"/>
              <a:pPr algn="r" eaLnBrk="1" hangingPunct="1"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kumimoji="1" lang="zh-TW" altLang="zh-TW" sz="2400">
              <a:latin typeface="Times New Roman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kumimoji="1" lang="zh-TW" altLang="zh-TW" sz="2400">
              <a:latin typeface="Times New Roman" pitchFamily="18" charset="0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kumimoji="1" lang="zh-TW" altLang="zh-TW" sz="2400" smtClean="0">
              <a:latin typeface="Times New Roman" pitchFamily="18" charset="0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3200" y="4114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asfasdfadfadfasdfasfasdf</a:t>
            </a: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F28429-19D8-4759-834E-883A6224AB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199564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4FAC7-0554-417A-8FB8-A2A0263F18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533107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1C96C-14EC-47C3-8D20-2B611B95F86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02675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0A21D-1200-49EB-9A84-84887BF2F57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84034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BE397-3F6A-432C-A5CE-3A51D83EA1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152103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76E296-BEF2-4349-AEDB-C7AE3E14D8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4601951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8E08E-627E-4F9F-9AA4-BE188C640D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944276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F9363-A4EC-4315-84B1-70EB3689A6F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8162181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D01D67-15BC-4DD8-B715-E160ECD92AE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89771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470B90-F7CC-4A66-BE50-802B8B5A579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610426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A67D6-465C-4A2A-BC83-5F8A454DC80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148013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17600" y="1447800"/>
            <a:ext cx="10363200" cy="4611688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B9A6D-8912-4703-A533-B0AFAFAE957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014836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2FA50-0C3F-4866-8F88-5C7E8EC79CA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133189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 rotWithShape="0">
          <a:gsLst>
            <a:gs pos="0">
              <a:srgbClr val="002F5E"/>
            </a:gs>
            <a:gs pos="5000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gamma/>
                  <a:shade val="61961"/>
                  <a:invGamma/>
                </a:schemeClr>
              </a:gs>
              <a:gs pos="5000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14401" y="2438400"/>
            <a:ext cx="11275484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3505200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WordArt 10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0" cap="none" spc="0" normalizeH="0" baseline="0" noProof="0">
                <a:ln>
                  <a:noFill/>
                </a:ln>
                <a:solidFill>
                  <a:srgbClr val="0066CC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National Formosa University</a:t>
            </a:r>
            <a:endParaRPr kumimoji="1" lang="zh-TW" altLang="en-US" sz="3600" b="1" i="0" u="none" strike="noStrike" kern="10" cap="none" spc="0" normalizeH="0" baseline="0" noProof="0">
              <a:ln>
                <a:noFill/>
              </a:ln>
              <a:solidFill>
                <a:srgbClr val="0066CC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1105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10597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743200" y="41148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b="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en-US" altLang="zh-TW">
              <a:solidFill>
                <a:srgbClr val="FFFFFF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r>
              <a:rPr kumimoji="1" lang="en-US" altLang="zh-TW" smtClean="0">
                <a:solidFill>
                  <a:srgbClr val="FFFFFF"/>
                </a:solidFill>
              </a:rPr>
              <a:t>asfasdfadfadfasdfasfasdf</a:t>
            </a:r>
            <a:endParaRPr kumimoji="1" lang="en-US" altLang="zh-TW">
              <a:solidFill>
                <a:srgbClr val="FFFFFF"/>
              </a:solidFill>
            </a:endParaRPr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A01E4033-A0E2-45EB-8B4D-8DE091B6338B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8933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0C34280C-A8B1-4ECD-B75F-CC3410F1DAD0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654088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E0F23633-49D2-4D6A-ADB3-8918E0AE8622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83267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371A623E-8655-4132-A78C-E49202BA21E5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26842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E75DD040-26A1-4F99-8754-FE95E4F85A16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69317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D32B7E04-757A-4A9D-A0CC-98901E93BFA6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2191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A881822E-9EEB-4D09-83BE-FC6EC29E9409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2574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4A2D6186-1AD2-4F30-B66E-546A394F2FF9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10953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C18D3F8B-82C7-4B35-ACD4-4A97F96B1BD3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46302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5436F589-1D63-4F20-B620-2D88C16F5C2B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73916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13800" y="152400"/>
            <a:ext cx="2667000" cy="5907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97800" cy="5907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FEE792E1-36DF-408E-A9FF-6B57C16A736C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72501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117600" y="1447800"/>
            <a:ext cx="10363200" cy="4611688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22C55A53-1EB6-4120-9246-351D6D9481D2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763087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363200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11176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400800" y="1447800"/>
            <a:ext cx="5080000" cy="46116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C63A96B0-EA37-49A8-92DF-4E8D77C0BE1F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42101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kumimoji="1" lang="zh-TW" altLang="zh-TW" sz="2400">
              <a:latin typeface="Times New Roman" pitchFamily="18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kumimoji="1" lang="zh-TW" altLang="zh-TW" sz="2400" smtClean="0">
              <a:latin typeface="Times New Roman" pitchFamily="18" charset="0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kumimoji="1" lang="zh-TW" altLang="zh-TW" sz="2400">
              <a:latin typeface="Times New Roman" pitchFamily="18" charset="0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kumimoji="1" lang="zh-TW" altLang="zh-TW" sz="2400">
              <a:latin typeface="Times New Roman" pitchFamily="18" charset="0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196C3AD-79F8-4DE6-8580-E7C47B2A14A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19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kumimoji="1" lang="zh-TW" altLang="zh-TW" smtClean="0">
              <a:latin typeface="Times New Roman" pitchFamily="18" charset="0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auto"/>
            <a:r>
              <a:rPr lang="en-US" altLang="zh-TW" sz="3600" b="1" kern="10">
                <a:solidFill>
                  <a:schemeClr val="bg1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National Formosa University</a:t>
            </a:r>
            <a:endParaRPr lang="zh-TW" altLang="en-US" sz="3600" b="1" kern="10">
              <a:solidFill>
                <a:schemeClr val="bg1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TW" altLang="en-US" smtClean="0">
                <a:ea typeface="華康唐風隸" pitchFamily="49" charset="-120"/>
              </a:rPr>
              <a:t>數位系統實習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24" r:id="rId1"/>
    <p:sldLayoutId id="2147484012" r:id="rId2"/>
    <p:sldLayoutId id="2147484013" r:id="rId3"/>
    <p:sldLayoutId id="2147484014" r:id="rId4"/>
    <p:sldLayoutId id="2147484015" r:id="rId5"/>
    <p:sldLayoutId id="2147484016" r:id="rId6"/>
    <p:sldLayoutId id="2147484017" r:id="rId7"/>
    <p:sldLayoutId id="2147484018" r:id="rId8"/>
    <p:sldLayoutId id="2147484019" r:id="rId9"/>
    <p:sldLayoutId id="2147484020" r:id="rId10"/>
    <p:sldLayoutId id="2147484021" r:id="rId11"/>
    <p:sldLayoutId id="2147484022" r:id="rId12"/>
    <p:sldLayoutId id="2147484023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2F5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508000" y="1"/>
            <a:ext cx="1930400" cy="6856413"/>
          </a:xfrm>
          <a:prstGeom prst="rect">
            <a:avLst/>
          </a:prstGeom>
          <a:gradFill rotWithShape="0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gamma/>
                  <a:shade val="61961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39184" y="1341438"/>
            <a:ext cx="6299200" cy="15240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914400" y="6629401"/>
            <a:ext cx="4673600" cy="22701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1018117" y="404813"/>
            <a:ext cx="11173883" cy="7620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15294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1524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447800"/>
            <a:ext cx="10363200" cy="461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9576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109577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ea typeface="新細明體" pitchFamily="18" charset="-120"/>
              </a:defRPr>
            </a:lvl1pPr>
          </a:lstStyle>
          <a:p>
            <a:pPr eaLnBrk="1" hangingPunct="1">
              <a:defRPr/>
            </a:pPr>
            <a:endParaRPr kumimoji="1" lang="zh-TW" altLang="zh-TW">
              <a:solidFill>
                <a:srgbClr val="FFFFFF"/>
              </a:solidFill>
            </a:endParaRPr>
          </a:p>
        </p:txBody>
      </p:sp>
      <p:sp>
        <p:nvSpPr>
          <p:cNvPr id="109578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 eaLnBrk="1" hangingPunct="1">
              <a:defRPr/>
            </a:pPr>
            <a:fld id="{94F0DEF7-13C1-410B-8CC9-26AA1B4E670D}" type="slidenum">
              <a:rPr kumimoji="1" lang="en-US" altLang="zh-TW" smtClean="0">
                <a:solidFill>
                  <a:srgbClr val="FFFFFF"/>
                </a:solidFill>
              </a:rPr>
              <a:pPr eaLnBrk="1" hangingPunct="1">
                <a:defRPr/>
              </a:pPr>
              <a:t>‹#›</a:t>
            </a:fld>
            <a:endParaRPr kumimoji="1" lang="en-US" altLang="zh-TW">
              <a:solidFill>
                <a:srgbClr val="FFFFFF"/>
              </a:solidFill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450620" y="0"/>
            <a:ext cx="46166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18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36" name="WordArt 12"/>
          <p:cNvSpPr>
            <a:spLocks noChangeArrowheads="1" noChangeShapeType="1" noTextEdit="1"/>
          </p:cNvSpPr>
          <p:nvPr/>
        </p:nvSpPr>
        <p:spPr bwMode="auto">
          <a:xfrm rot="5400000">
            <a:off x="-2972857" y="2972858"/>
            <a:ext cx="6858000" cy="912284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wordArtVert"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600" b="1" i="0" u="none" strike="noStrike" kern="10" cap="none" spc="0" normalizeH="0" baseline="0" noProof="0">
                <a:ln>
                  <a:noFill/>
                </a:ln>
                <a:solidFill>
                  <a:srgbClr val="0066CC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National Formosa University</a:t>
            </a:r>
            <a:endParaRPr kumimoji="1" lang="zh-TW" altLang="en-US" sz="3600" b="1" i="0" u="none" strike="noStrike" kern="10" cap="none" spc="0" normalizeH="0" baseline="0" noProof="0">
              <a:ln>
                <a:noFill/>
              </a:ln>
              <a:solidFill>
                <a:srgbClr val="0066CC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1037" name="Text Box 13"/>
          <p:cNvSpPr txBox="1">
            <a:spLocks noChangeArrowheads="1"/>
          </p:cNvSpPr>
          <p:nvPr userDrawn="1"/>
        </p:nvSpPr>
        <p:spPr bwMode="auto">
          <a:xfrm>
            <a:off x="5588000" y="6491288"/>
            <a:ext cx="2438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標楷體" pitchFamily="65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華康唐風隸" pitchFamily="49" charset="-120"/>
                <a:cs typeface="+mn-cs"/>
              </a:rPr>
              <a:t>數位系統實習</a:t>
            </a:r>
          </a:p>
        </p:txBody>
      </p:sp>
    </p:spTree>
    <p:extLst>
      <p:ext uri="{BB962C8B-B14F-4D97-AF65-F5344CB8AC3E}">
        <p14:creationId xmlns:p14="http://schemas.microsoft.com/office/powerpoint/2010/main" val="331651242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</p:sldLayoutIdLst>
  <p:transition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empus Sans ITC" pitchFamily="82" charset="0"/>
          <a:ea typeface="金梅浪漫原體字" pitchFamily="49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000" b="1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2438400"/>
            <a:ext cx="82296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zh-TW" sz="880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rPr>
              <a:t>Lab </a:t>
            </a:r>
            <a:r>
              <a:rPr kumimoji="0" lang="en-US" altLang="zh-TW" sz="8800" smtClean="0">
                <a:solidFill>
                  <a:schemeClr val="tx1"/>
                </a:solidFill>
                <a:ea typeface="Arial Unicode MS" pitchFamily="34" charset="-120"/>
                <a:cs typeface="Arial Unicode MS" pitchFamily="34" charset="-120"/>
              </a:rPr>
              <a:t>5</a:t>
            </a:r>
            <a:endParaRPr lang="en-US" altLang="zh-TW" sz="8800" dirty="0">
              <a:solidFill>
                <a:schemeClr val="tx1"/>
              </a:solidFill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4038600" y="4419600"/>
            <a:ext cx="3886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1" hangingPunct="1">
              <a:defRPr/>
            </a:pPr>
            <a:r>
              <a:rPr kumimoji="1" lang="zh-TW" altLang="en-US" sz="3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Tempus Sans ITC" pitchFamily="82" charset="0"/>
                <a:ea typeface="金梅浪漫原體字" pitchFamily="49" charset="-120"/>
              </a:rPr>
              <a:t>可調式計時器</a:t>
            </a:r>
            <a:endParaRPr kumimoji="1" lang="en-US" altLang="zh-TW" sz="3200" b="1" dirty="0">
              <a:effectLst>
                <a:outerShdw blurRad="38100" dist="38100" dir="2700000" algn="tl">
                  <a:srgbClr val="000000"/>
                </a:outerShdw>
              </a:effectLst>
              <a:latin typeface="Tempus Sans ITC" pitchFamily="82" charset="0"/>
              <a:ea typeface="金梅浪漫原體字" pitchFamily="49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sz="9600" dirty="0" smtClean="0"/>
              <a:t>四位元上數</a:t>
            </a:r>
            <a:r>
              <a:rPr lang="zh-TW" altLang="en-US" sz="9600" dirty="0"/>
              <a:t>計數器</a:t>
            </a:r>
          </a:p>
        </p:txBody>
      </p:sp>
    </p:spTree>
    <p:extLst>
      <p:ext uri="{BB962C8B-B14F-4D97-AF65-F5344CB8AC3E}">
        <p14:creationId xmlns:p14="http://schemas.microsoft.com/office/powerpoint/2010/main" val="36235769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Lab5-1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設計一四位元可清除也可暫停的上數計數器，</a:t>
            </a:r>
            <a:r>
              <a:rPr lang="en-US" altLang="zh-TW" dirty="0" smtClean="0"/>
              <a:t>data</a:t>
            </a:r>
            <a:r>
              <a:rPr lang="zh-TW" altLang="en-US" dirty="0" smtClean="0"/>
              <a:t>為計數上限值，當</a:t>
            </a:r>
            <a:r>
              <a:rPr lang="en-US" altLang="zh-TW" dirty="0" smtClean="0"/>
              <a:t>Q = data</a:t>
            </a:r>
            <a:r>
              <a:rPr lang="zh-TW" altLang="en-US" dirty="0" smtClean="0"/>
              <a:t>時，</a:t>
            </a:r>
            <a:r>
              <a:rPr lang="en-US" altLang="zh-TW" dirty="0" err="1" smtClean="0"/>
              <a:t>tc</a:t>
            </a:r>
            <a:r>
              <a:rPr lang="en-US" altLang="zh-TW" dirty="0" smtClean="0"/>
              <a:t> = 1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3581401" y="2819400"/>
            <a:ext cx="5154613" cy="2514600"/>
            <a:chOff x="2057400" y="2667000"/>
            <a:chExt cx="5154613" cy="2514600"/>
          </a:xfrm>
        </p:grpSpPr>
        <p:pic>
          <p:nvPicPr>
            <p:cNvPr id="7172" name="圖片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17" t="29259" r="22501" b="55927"/>
            <a:stretch>
              <a:fillRect/>
            </a:stretch>
          </p:blipFill>
          <p:spPr bwMode="auto">
            <a:xfrm>
              <a:off x="2057400" y="2667000"/>
              <a:ext cx="5154613" cy="25146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矩形 2"/>
            <p:cNvSpPr/>
            <p:nvPr/>
          </p:nvSpPr>
          <p:spPr bwMode="auto">
            <a:xfrm>
              <a:off x="3505200" y="3733800"/>
              <a:ext cx="533400" cy="3810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kumimoji="1" lang="zh-TW" altLang="en-US">
                <a:latin typeface="Arial" charset="0"/>
                <a:ea typeface="標楷體" pitchFamily="65" charset="-120"/>
              </a:endParaRPr>
            </a:p>
          </p:txBody>
        </p:sp>
        <p:sp>
          <p:nvSpPr>
            <p:cNvPr id="6" name="矩形 5"/>
            <p:cNvSpPr/>
            <p:nvPr/>
          </p:nvSpPr>
          <p:spPr bwMode="auto">
            <a:xfrm>
              <a:off x="3505200" y="4223240"/>
              <a:ext cx="533400" cy="74246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kumimoji="1" lang="zh-TW" altLang="en-US">
                <a:latin typeface="Arial" charset="0"/>
                <a:ea typeface="標楷體" pitchFamily="65" charset="-120"/>
              </a:endParaRPr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4724400" y="3810000"/>
              <a:ext cx="533400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b="1" dirty="0" smtClean="0">
                  <a:solidFill>
                    <a:schemeClr val="bg2"/>
                  </a:solidFill>
                </a:rPr>
                <a:t>Q</a:t>
              </a:r>
              <a:endParaRPr lang="zh-TW" altLang="en-US" b="1" dirty="0">
                <a:solidFill>
                  <a:schemeClr val="bg2"/>
                </a:solidFill>
              </a:endParaRPr>
            </a:p>
          </p:txBody>
        </p:sp>
      </p:grpSp>
      <p:cxnSp>
        <p:nvCxnSpPr>
          <p:cNvPr id="9" name="直線單箭頭接點 8"/>
          <p:cNvCxnSpPr/>
          <p:nvPr/>
        </p:nvCxnSpPr>
        <p:spPr bwMode="auto">
          <a:xfrm>
            <a:off x="6400800" y="2895600"/>
            <a:ext cx="0" cy="304800"/>
          </a:xfrm>
          <a:prstGeom prst="straightConnector1">
            <a:avLst/>
          </a:prstGeom>
          <a:noFill/>
          <a:ln w="57150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線單箭頭接點 10"/>
          <p:cNvCxnSpPr/>
          <p:nvPr/>
        </p:nvCxnSpPr>
        <p:spPr bwMode="auto">
          <a:xfrm>
            <a:off x="5562601" y="4375640"/>
            <a:ext cx="0" cy="653560"/>
          </a:xfrm>
          <a:prstGeom prst="straightConnector1">
            <a:avLst/>
          </a:prstGeom>
          <a:noFill/>
          <a:ln w="57150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文字方塊 11"/>
          <p:cNvSpPr txBox="1"/>
          <p:nvPr/>
        </p:nvSpPr>
        <p:spPr>
          <a:xfrm>
            <a:off x="5334001" y="397507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</a:t>
            </a:r>
            <a:endParaRPr lang="zh-TW" altLang="en-US" sz="20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791201" y="3140978"/>
            <a:ext cx="1219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chemeClr val="bg2"/>
                </a:solidFill>
              </a:rPr>
              <a:t>data[3..0]</a:t>
            </a:r>
            <a:endParaRPr lang="zh-TW" altLang="en-US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4</a:t>
            </a:r>
            <a:r>
              <a:rPr lang="zh-TW" altLang="en-US" dirty="0" smtClean="0"/>
              <a:t>位元暫存器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56" y="1220932"/>
            <a:ext cx="7135091" cy="48750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763" y="4671037"/>
            <a:ext cx="1619250" cy="155257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3196834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半加器</a:t>
            </a:r>
            <a:r>
              <a:rPr lang="en-US" altLang="zh-TW" dirty="0" smtClean="0"/>
              <a:t>(HA)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1" y="1447800"/>
            <a:ext cx="2105025" cy="1543050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333" y="1465385"/>
            <a:ext cx="2171700" cy="2400300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059238"/>
            <a:ext cx="4171950" cy="2152650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6256204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半加器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088" y="2714625"/>
            <a:ext cx="39338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350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四位元遞增器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239" y="1245178"/>
            <a:ext cx="7403523" cy="492702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432" y="5257801"/>
            <a:ext cx="1685925" cy="119062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690639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多工器</a:t>
            </a:r>
            <a:r>
              <a:rPr lang="en-US" altLang="zh-TW" dirty="0" smtClean="0"/>
              <a:t>2_1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338" y="2462213"/>
            <a:ext cx="602932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521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多工器</a:t>
            </a:r>
            <a:r>
              <a:rPr lang="en-US" altLang="zh-TW" dirty="0" smtClean="0"/>
              <a:t>2_1_4BIT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3" y="1095376"/>
            <a:ext cx="7686675" cy="55340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663" y="3196432"/>
            <a:ext cx="1514475" cy="1114425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552096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多工器</a:t>
            </a:r>
            <a:r>
              <a:rPr lang="en-US" altLang="zh-TW" dirty="0" smtClean="0"/>
              <a:t>4_1_4BIT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790700"/>
            <a:ext cx="88963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821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四位元上數計數器</a:t>
            </a:r>
            <a:r>
              <a:rPr lang="en-US" altLang="zh-TW" sz="3600" dirty="0"/>
              <a:t>(</a:t>
            </a:r>
            <a:r>
              <a:rPr lang="zh-TW" altLang="en-US" sz="3600" dirty="0"/>
              <a:t>不變</a:t>
            </a:r>
            <a:r>
              <a:rPr lang="en-US" altLang="zh-TW" sz="3600" dirty="0"/>
              <a:t>/</a:t>
            </a:r>
            <a:r>
              <a:rPr lang="zh-TW" altLang="en-US" sz="3600" dirty="0"/>
              <a:t>清除</a:t>
            </a:r>
            <a:r>
              <a:rPr lang="en-US" altLang="zh-TW" sz="3600" dirty="0"/>
              <a:t>/</a:t>
            </a:r>
            <a:r>
              <a:rPr lang="zh-TW" altLang="en-US" sz="3600" dirty="0"/>
              <a:t>計數</a:t>
            </a:r>
            <a:r>
              <a:rPr lang="en-US" altLang="zh-TW" sz="3600" dirty="0"/>
              <a:t>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33" y="1219200"/>
            <a:ext cx="8840932" cy="368011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25" y="4260730"/>
            <a:ext cx="5049345" cy="2505852"/>
          </a:xfrm>
          <a:prstGeom prst="rect">
            <a:avLst/>
          </a:prstGeom>
        </p:spPr>
      </p:pic>
      <p:grpSp>
        <p:nvGrpSpPr>
          <p:cNvPr id="18" name="群組 17"/>
          <p:cNvGrpSpPr/>
          <p:nvPr/>
        </p:nvGrpSpPr>
        <p:grpSpPr>
          <a:xfrm>
            <a:off x="4114800" y="4953000"/>
            <a:ext cx="1707833" cy="1728788"/>
            <a:chOff x="4114800" y="4953000"/>
            <a:chExt cx="1707833" cy="1728788"/>
          </a:xfrm>
        </p:grpSpPr>
        <p:grpSp>
          <p:nvGrpSpPr>
            <p:cNvPr id="10" name="群組 9"/>
            <p:cNvGrpSpPr/>
            <p:nvPr/>
          </p:nvGrpSpPr>
          <p:grpSpPr>
            <a:xfrm>
              <a:off x="4114800" y="4953000"/>
              <a:ext cx="1707833" cy="1728788"/>
              <a:chOff x="4343400" y="4899314"/>
              <a:chExt cx="1552575" cy="1571625"/>
            </a:xfrm>
          </p:grpSpPr>
          <p:pic>
            <p:nvPicPr>
              <p:cNvPr id="6" name="圖片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400" y="4899314"/>
                <a:ext cx="1552575" cy="1571625"/>
              </a:xfrm>
              <a:prstGeom prst="rect">
                <a:avLst/>
              </a:prstGeom>
            </p:spPr>
          </p:pic>
          <p:cxnSp>
            <p:nvCxnSpPr>
              <p:cNvPr id="8" name="直線單箭頭接點 7"/>
              <p:cNvCxnSpPr/>
              <p:nvPr/>
            </p:nvCxnSpPr>
            <p:spPr bwMode="auto">
              <a:xfrm>
                <a:off x="5562600" y="5867400"/>
                <a:ext cx="152400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9" name="文字方塊 8"/>
              <p:cNvSpPr txBox="1"/>
              <p:nvPr/>
            </p:nvSpPr>
            <p:spPr>
              <a:xfrm>
                <a:off x="5234731" y="5736595"/>
                <a:ext cx="3278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100" dirty="0" err="1" smtClean="0">
                    <a:solidFill>
                      <a:schemeClr val="bg2"/>
                    </a:solidFill>
                  </a:rPr>
                  <a:t>tc</a:t>
                </a:r>
                <a:endParaRPr lang="zh-TW" altLang="en-US" sz="1100" dirty="0">
                  <a:solidFill>
                    <a:schemeClr val="bg2"/>
                  </a:solidFill>
                </a:endParaRPr>
              </a:p>
            </p:txBody>
          </p:sp>
        </p:grpSp>
        <p:sp>
          <p:nvSpPr>
            <p:cNvPr id="13" name="文字方塊 12"/>
            <p:cNvSpPr txBox="1"/>
            <p:nvPr/>
          </p:nvSpPr>
          <p:spPr>
            <a:xfrm>
              <a:off x="4396740" y="5226146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900" dirty="0" smtClean="0">
                  <a:solidFill>
                    <a:schemeClr val="bg2"/>
                  </a:solidFill>
                </a:rPr>
                <a:t>data[3..0]</a:t>
              </a:r>
              <a:endParaRPr lang="zh-TW" altLang="en-US" sz="900" dirty="0">
                <a:solidFill>
                  <a:schemeClr val="bg2"/>
                </a:solidFill>
              </a:endParaRPr>
            </a:p>
          </p:txBody>
        </p:sp>
        <p:cxnSp>
          <p:nvCxnSpPr>
            <p:cNvPr id="17" name="直線單箭頭接點 16"/>
            <p:cNvCxnSpPr>
              <a:endCxn id="13" idx="1"/>
            </p:cNvCxnSpPr>
            <p:nvPr/>
          </p:nvCxnSpPr>
          <p:spPr bwMode="auto">
            <a:xfrm>
              <a:off x="4114800" y="5341562"/>
              <a:ext cx="28194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1" name="圓角矩形圖說文字 20"/>
          <p:cNvSpPr/>
          <p:nvPr/>
        </p:nvSpPr>
        <p:spPr bwMode="auto">
          <a:xfrm>
            <a:off x="10668000" y="4419600"/>
            <a:ext cx="1143000" cy="479714"/>
          </a:xfrm>
          <a:prstGeom prst="wedgeRoundRectCallout">
            <a:avLst>
              <a:gd name="adj1" fmla="val -71475"/>
              <a:gd name="adj2" fmla="val 97475"/>
              <a:gd name="adj3" fmla="val 16667"/>
            </a:avLst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dirty="0" err="1" smtClean="0">
                <a:latin typeface="Arial" charset="0"/>
                <a:ea typeface="標楷體" pitchFamily="65" charset="-120"/>
              </a:rPr>
              <a:t>tc</a:t>
            </a:r>
            <a:r>
              <a:rPr kumimoji="1" lang="en-US" altLang="zh-TW" dirty="0" smtClean="0">
                <a:latin typeface="Arial" charset="0"/>
                <a:ea typeface="標楷體" pitchFamily="65" charset="-120"/>
              </a:rPr>
              <a:t> circuit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effectLst/>
              <a:latin typeface="Arial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83547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SDC File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記得要加</a:t>
            </a:r>
            <a:r>
              <a:rPr lang="en-US" altLang="zh-TW" dirty="0" err="1" smtClean="0"/>
              <a:t>sdc</a:t>
            </a:r>
            <a:r>
              <a:rPr lang="zh-TW" altLang="en-US" dirty="0" smtClean="0"/>
              <a:t>檔</a:t>
            </a:r>
            <a:endParaRPr lang="en-US" altLang="zh-TW" dirty="0" smtClean="0"/>
          </a:p>
          <a:p>
            <a:r>
              <a:rPr lang="zh-TW" altLang="en-US" dirty="0" smtClean="0"/>
              <a:t>內容與之前相同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09652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LAB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60" y="1133738"/>
            <a:ext cx="11289881" cy="559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2184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zh-TW" altLang="en-US" sz="8000" dirty="0" smtClean="0"/>
              <a:t>四位元上</a:t>
            </a:r>
            <a:r>
              <a:rPr lang="en-US" altLang="zh-TW" sz="8000" dirty="0" smtClean="0"/>
              <a:t>/</a:t>
            </a:r>
            <a:r>
              <a:rPr lang="zh-TW" altLang="en-US" sz="8000" dirty="0" smtClean="0"/>
              <a:t>下數計數器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29936358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Lab5-2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314"/>
            <a:ext cx="4953000" cy="4611687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/>
              <a:t>設計一四位元上</a:t>
            </a:r>
            <a:r>
              <a:rPr lang="en-US" altLang="zh-TW" dirty="0" smtClean="0"/>
              <a:t>/</a:t>
            </a:r>
            <a:r>
              <a:rPr lang="zh-TW" altLang="en-US" dirty="0" smtClean="0"/>
              <a:t>下數計數器</a:t>
            </a:r>
            <a:endParaRPr lang="en-US" altLang="zh-TW" dirty="0" smtClean="0"/>
          </a:p>
          <a:p>
            <a:pPr>
              <a:defRPr/>
            </a:pPr>
            <a:r>
              <a:rPr lang="zh-TW" altLang="en-US" dirty="0" smtClean="0"/>
              <a:t>功能：</a:t>
            </a:r>
            <a:endParaRPr lang="en-US" altLang="zh-TW" dirty="0" smtClean="0"/>
          </a:p>
          <a:p>
            <a:pPr lvl="1">
              <a:defRPr/>
            </a:pPr>
            <a:r>
              <a:rPr lang="zh-TW" altLang="en-US" dirty="0" smtClean="0"/>
              <a:t>上</a:t>
            </a:r>
            <a:r>
              <a:rPr lang="en-US" altLang="zh-TW" dirty="0" smtClean="0"/>
              <a:t>/</a:t>
            </a:r>
            <a:r>
              <a:rPr lang="zh-TW" altLang="en-US" dirty="0" smtClean="0"/>
              <a:t>下數</a:t>
            </a:r>
            <a:endParaRPr lang="en-US" altLang="zh-TW" dirty="0" smtClean="0"/>
          </a:p>
          <a:p>
            <a:pPr lvl="1">
              <a:defRPr/>
            </a:pPr>
            <a:r>
              <a:rPr lang="zh-TW" altLang="en-US" dirty="0" smtClean="0"/>
              <a:t>清除</a:t>
            </a:r>
            <a:endParaRPr lang="en-US" altLang="zh-TW" dirty="0" smtClean="0"/>
          </a:p>
          <a:p>
            <a:pPr lvl="1">
              <a:defRPr/>
            </a:pPr>
            <a:r>
              <a:rPr lang="zh-TW" altLang="en-US" dirty="0" smtClean="0"/>
              <a:t>計數</a:t>
            </a:r>
            <a:endParaRPr lang="en-US" altLang="zh-TW" dirty="0" smtClean="0"/>
          </a:p>
          <a:p>
            <a:pPr lvl="1">
              <a:defRPr/>
            </a:pPr>
            <a:r>
              <a:rPr lang="zh-TW" altLang="en-US" dirty="0" smtClean="0"/>
              <a:t>載入</a:t>
            </a:r>
            <a:endParaRPr lang="zh-TW" altLang="en-US" dirty="0"/>
          </a:p>
        </p:txBody>
      </p:sp>
      <p:cxnSp>
        <p:nvCxnSpPr>
          <p:cNvPr id="6" name="直線單箭頭接點 5"/>
          <p:cNvCxnSpPr/>
          <p:nvPr/>
        </p:nvCxnSpPr>
        <p:spPr bwMode="auto">
          <a:xfrm>
            <a:off x="10287000" y="4495800"/>
            <a:ext cx="990600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2" name="群組 11"/>
          <p:cNvGrpSpPr/>
          <p:nvPr/>
        </p:nvGrpSpPr>
        <p:grpSpPr>
          <a:xfrm>
            <a:off x="5417312" y="1371600"/>
            <a:ext cx="5860288" cy="4450466"/>
            <a:chOff x="5417312" y="1371600"/>
            <a:chExt cx="5860288" cy="4450466"/>
          </a:xfrm>
        </p:grpSpPr>
        <p:grpSp>
          <p:nvGrpSpPr>
            <p:cNvPr id="8" name="群組 7"/>
            <p:cNvGrpSpPr/>
            <p:nvPr/>
          </p:nvGrpSpPr>
          <p:grpSpPr>
            <a:xfrm>
              <a:off x="5417312" y="1371600"/>
              <a:ext cx="5860288" cy="4450466"/>
              <a:chOff x="5562600" y="1371600"/>
              <a:chExt cx="5860288" cy="4450466"/>
            </a:xfrm>
          </p:grpSpPr>
          <p:pic>
            <p:nvPicPr>
              <p:cNvPr id="5" name="圖片 4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62600" y="1371600"/>
                <a:ext cx="5860288" cy="4450466"/>
              </a:xfrm>
              <a:prstGeom prst="rect">
                <a:avLst/>
              </a:prstGeom>
            </p:spPr>
          </p:pic>
          <p:sp>
            <p:nvSpPr>
              <p:cNvPr id="7" name="文字方塊 6"/>
              <p:cNvSpPr txBox="1"/>
              <p:nvPr/>
            </p:nvSpPr>
            <p:spPr>
              <a:xfrm>
                <a:off x="9829800" y="4264967"/>
                <a:ext cx="533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 err="1" smtClean="0">
                    <a:solidFill>
                      <a:srgbClr val="FF0000"/>
                    </a:solidFill>
                  </a:rPr>
                  <a:t>tc</a:t>
                </a:r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cxnSp>
          <p:nvCxnSpPr>
            <p:cNvPr id="10" name="直線接點 9"/>
            <p:cNvCxnSpPr>
              <a:stCxn id="7" idx="3"/>
            </p:cNvCxnSpPr>
            <p:nvPr/>
          </p:nvCxnSpPr>
          <p:spPr bwMode="auto">
            <a:xfrm>
              <a:off x="10217912" y="4495800"/>
              <a:ext cx="831088" cy="0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半減器</a:t>
            </a:r>
            <a:r>
              <a:rPr lang="en-US" altLang="zh-TW" dirty="0" smtClean="0"/>
              <a:t>(HS)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636264"/>
              </p:ext>
            </p:extLst>
          </p:nvPr>
        </p:nvGraphicFramePr>
        <p:xfrm>
          <a:off x="2362200" y="1447800"/>
          <a:ext cx="777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3577921585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491509196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20420446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74816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44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9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210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8445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049611"/>
                  </a:ext>
                </a:extLst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4191001"/>
            <a:ext cx="2190750" cy="1552575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7239000" y="4419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7191376" y="5181600"/>
            <a:ext cx="962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BOR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8280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四位元遞減器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095376"/>
            <a:ext cx="8020050" cy="53816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682" y="5272995"/>
            <a:ext cx="1562100" cy="1085850"/>
          </a:xfrm>
          <a:prstGeom prst="rect">
            <a:avLst/>
          </a:prstGeom>
          <a:ln>
            <a:solidFill>
              <a:srgbClr val="7030A0"/>
            </a:solidFill>
          </a:ln>
        </p:spPr>
      </p:pic>
    </p:spTree>
    <p:extLst>
      <p:ext uri="{BB962C8B-B14F-4D97-AF65-F5344CB8AC3E}">
        <p14:creationId xmlns:p14="http://schemas.microsoft.com/office/powerpoint/2010/main" val="9075333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提示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447800"/>
            <a:ext cx="4591100" cy="4611688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205"/>
          <a:stretch/>
        </p:blipFill>
        <p:spPr>
          <a:xfrm>
            <a:off x="2285998" y="533400"/>
            <a:ext cx="4059207" cy="246033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2446" y="3458447"/>
            <a:ext cx="4626312" cy="2457588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cxnSp>
        <p:nvCxnSpPr>
          <p:cNvPr id="11" name="直線接點 10"/>
          <p:cNvCxnSpPr/>
          <p:nvPr/>
        </p:nvCxnSpPr>
        <p:spPr bwMode="auto">
          <a:xfrm>
            <a:off x="3200400" y="914400"/>
            <a:ext cx="2590800" cy="175260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線接點 12"/>
          <p:cNvCxnSpPr/>
          <p:nvPr/>
        </p:nvCxnSpPr>
        <p:spPr bwMode="auto">
          <a:xfrm flipH="1">
            <a:off x="3048000" y="841954"/>
            <a:ext cx="2362201" cy="1825046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1216887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65266"/>
            <a:ext cx="4465128" cy="2796082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 bwMode="auto">
          <a:xfrm>
            <a:off x="6248400" y="1572807"/>
            <a:ext cx="533400" cy="381000"/>
          </a:xfrm>
          <a:prstGeom prst="right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438" y="900823"/>
            <a:ext cx="4589876" cy="1724968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916" y="3604517"/>
            <a:ext cx="4626312" cy="2457588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  <p:cxnSp>
        <p:nvCxnSpPr>
          <p:cNvPr id="8" name="直線接點 7"/>
          <p:cNvCxnSpPr/>
          <p:nvPr/>
        </p:nvCxnSpPr>
        <p:spPr bwMode="auto">
          <a:xfrm flipH="1">
            <a:off x="2403118" y="808435"/>
            <a:ext cx="2362201" cy="1825046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" name="直線接點 4"/>
          <p:cNvCxnSpPr/>
          <p:nvPr/>
        </p:nvCxnSpPr>
        <p:spPr bwMode="auto">
          <a:xfrm>
            <a:off x="2743200" y="723900"/>
            <a:ext cx="1828800" cy="1866900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線接點 9"/>
          <p:cNvCxnSpPr/>
          <p:nvPr/>
        </p:nvCxnSpPr>
        <p:spPr bwMode="auto">
          <a:xfrm>
            <a:off x="8534400" y="1027146"/>
            <a:ext cx="1826330" cy="1258854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線接點 11"/>
          <p:cNvCxnSpPr/>
          <p:nvPr/>
        </p:nvCxnSpPr>
        <p:spPr bwMode="auto">
          <a:xfrm flipH="1">
            <a:off x="8487406" y="1028369"/>
            <a:ext cx="1856836" cy="1385177"/>
          </a:xfrm>
          <a:prstGeom prst="lin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向右箭號 14"/>
          <p:cNvSpPr/>
          <p:nvPr/>
        </p:nvSpPr>
        <p:spPr bwMode="auto">
          <a:xfrm>
            <a:off x="5919257" y="4619693"/>
            <a:ext cx="533400" cy="381000"/>
          </a:xfrm>
          <a:prstGeom prst="right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873" y="3508523"/>
            <a:ext cx="5162269" cy="264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1035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提示</a:t>
            </a:r>
            <a:endParaRPr lang="zh-TW" altLang="en-US" dirty="0"/>
          </a:p>
        </p:txBody>
      </p:sp>
      <p:sp>
        <p:nvSpPr>
          <p:cNvPr id="6" name="向右箭號 5"/>
          <p:cNvSpPr/>
          <p:nvPr/>
        </p:nvSpPr>
        <p:spPr bwMode="auto">
          <a:xfrm rot="5400000">
            <a:off x="6152023" y="2674793"/>
            <a:ext cx="615950" cy="457200"/>
          </a:xfrm>
          <a:prstGeom prst="right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91047"/>
            <a:ext cx="4692972" cy="2408705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44225"/>
            <a:ext cx="8123361" cy="338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075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提示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541174"/>
            <a:ext cx="1059180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730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tc</a:t>
            </a:r>
            <a:r>
              <a:rPr lang="en-US" altLang="zh-TW" dirty="0" smtClean="0"/>
              <a:t> circuit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79259"/>
            <a:ext cx="9768818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552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Lab5_3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609600" y="1219200"/>
            <a:ext cx="10896600" cy="4611688"/>
          </a:xfrm>
        </p:spPr>
        <p:txBody>
          <a:bodyPr/>
          <a:lstStyle/>
          <a:p>
            <a:r>
              <a:rPr lang="zh-TW" altLang="en-US" sz="2400" dirty="0" smtClean="0"/>
              <a:t>請實現上述</a:t>
            </a:r>
            <a:r>
              <a:rPr lang="zh-TW" altLang="en-US" sz="2400" dirty="0" smtClean="0"/>
              <a:t>之上</a:t>
            </a:r>
            <a:r>
              <a:rPr lang="en-US" altLang="zh-TW" sz="2400" dirty="0" smtClean="0"/>
              <a:t>/</a:t>
            </a:r>
            <a:r>
              <a:rPr lang="zh-TW" altLang="en-US" sz="2400" dirty="0" smtClean="0"/>
              <a:t>下數</a:t>
            </a:r>
            <a:r>
              <a:rPr lang="zh-TW" altLang="en-US" sz="2400" dirty="0" smtClean="0"/>
              <a:t>計數器，依</a:t>
            </a:r>
            <a:r>
              <a:rPr lang="en-US" altLang="zh-TW" sz="2400" dirty="0" smtClean="0"/>
              <a:t>16/50=0.32</a:t>
            </a:r>
            <a:r>
              <a:rPr lang="zh-TW" altLang="en-US" sz="2400" dirty="0" smtClean="0"/>
              <a:t>秒之計數速度，輸出數值到</a:t>
            </a:r>
            <a:r>
              <a:rPr lang="en-US" altLang="zh-TW" sz="2400" dirty="0" smtClean="0"/>
              <a:t>LEDR[3..0]</a:t>
            </a:r>
            <a:r>
              <a:rPr lang="zh-TW" altLang="en-US" sz="2400" dirty="0" smtClean="0"/>
              <a:t>，並輸出</a:t>
            </a:r>
            <a:r>
              <a:rPr lang="en-US" altLang="zh-TW" sz="2400" dirty="0" smtClean="0"/>
              <a:t>Q[23]</a:t>
            </a:r>
            <a:r>
              <a:rPr lang="zh-TW" altLang="en-US" sz="2400" dirty="0" smtClean="0"/>
              <a:t>到</a:t>
            </a:r>
            <a:r>
              <a:rPr lang="en-US" altLang="zh-TW" sz="2400" dirty="0" smtClean="0"/>
              <a:t>LEDR[9]</a:t>
            </a:r>
            <a:r>
              <a:rPr lang="zh-TW" altLang="en-US" sz="2400" dirty="0" smtClean="0"/>
              <a:t>以觀察除頻器是否正常</a:t>
            </a:r>
            <a:r>
              <a:rPr lang="en-US" altLang="zh-TW" sz="2400" dirty="0" smtClean="0"/>
              <a:t>!</a:t>
            </a:r>
            <a:endParaRPr lang="en-US" altLang="zh-TW" sz="2400" dirty="0"/>
          </a:p>
          <a:p>
            <a:r>
              <a:rPr lang="zh-TW" altLang="en-US" sz="2400" dirty="0" smtClean="0"/>
              <a:t>上撥“</a:t>
            </a:r>
            <a:r>
              <a:rPr lang="en-US" altLang="zh-TW" sz="2400" dirty="0" smtClean="0"/>
              <a:t>down” SW[8]</a:t>
            </a:r>
            <a:r>
              <a:rPr lang="zh-TW" altLang="en-US" sz="2400" dirty="0" smtClean="0"/>
              <a:t>開關，會下數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zh-TW" altLang="en-US" sz="2400" dirty="0"/>
              <a:t>實驗板上震盪時脈請接</a:t>
            </a:r>
            <a:r>
              <a:rPr lang="zh-TW" altLang="en-US" sz="2400" dirty="0" smtClean="0"/>
              <a:t>至</a:t>
            </a:r>
            <a:r>
              <a:rPr lang="en-US" altLang="zh-TW" sz="2400" dirty="0" smtClean="0"/>
              <a:t>16M</a:t>
            </a:r>
            <a:r>
              <a:rPr lang="zh-TW" altLang="en-US" sz="2400" dirty="0" smtClean="0"/>
              <a:t>除</a:t>
            </a:r>
            <a:r>
              <a:rPr lang="zh-TW" altLang="en-US" sz="2400" dirty="0"/>
              <a:t>頻器除</a:t>
            </a:r>
            <a:r>
              <a:rPr lang="zh-TW" altLang="en-US" sz="2400" dirty="0" smtClean="0"/>
              <a:t>頻，再以</a:t>
            </a:r>
            <a:r>
              <a:rPr lang="en-US" altLang="zh-TW" sz="2400" dirty="0" smtClean="0"/>
              <a:t>CARRY</a:t>
            </a:r>
            <a:r>
              <a:rPr lang="zh-TW" altLang="en-US" sz="2400" dirty="0" smtClean="0"/>
              <a:t>作為計數之致能。</a:t>
            </a:r>
            <a:endParaRPr lang="en-US" altLang="zh-TW" sz="2400" dirty="0"/>
          </a:p>
          <a:p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 rot="16200000">
            <a:off x="5313177" y="5872412"/>
            <a:ext cx="261610" cy="381000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r>
              <a:rPr lang="en-US" altLang="zh-TW" sz="500" dirty="0" smtClean="0">
                <a:solidFill>
                  <a:srgbClr val="0099FF"/>
                </a:solidFill>
              </a:rPr>
              <a:t>Q[23]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776779" y="6004181"/>
            <a:ext cx="3810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00" dirty="0" smtClean="0">
                <a:solidFill>
                  <a:srgbClr val="7030A0"/>
                </a:solidFill>
              </a:rPr>
              <a:t>Q[23]</a:t>
            </a:r>
            <a:endParaRPr lang="zh-TW" altLang="en-US" sz="500" dirty="0">
              <a:solidFill>
                <a:srgbClr val="7030A0"/>
              </a:solidFill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4953000" y="5943600"/>
            <a:ext cx="176656" cy="27217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grpSp>
        <p:nvGrpSpPr>
          <p:cNvPr id="28" name="群組 27"/>
          <p:cNvGrpSpPr/>
          <p:nvPr/>
        </p:nvGrpSpPr>
        <p:grpSpPr>
          <a:xfrm>
            <a:off x="1371600" y="2895600"/>
            <a:ext cx="9990836" cy="3660946"/>
            <a:chOff x="1371600" y="2895600"/>
            <a:chExt cx="9990836" cy="3660946"/>
          </a:xfrm>
        </p:grpSpPr>
        <p:grpSp>
          <p:nvGrpSpPr>
            <p:cNvPr id="25" name="群組 24"/>
            <p:cNvGrpSpPr/>
            <p:nvPr/>
          </p:nvGrpSpPr>
          <p:grpSpPr>
            <a:xfrm>
              <a:off x="1371600" y="2895600"/>
              <a:ext cx="9990836" cy="3660946"/>
              <a:chOff x="1371600" y="2895600"/>
              <a:chExt cx="9990836" cy="3660946"/>
            </a:xfrm>
          </p:grpSpPr>
          <p:grpSp>
            <p:nvGrpSpPr>
              <p:cNvPr id="6" name="群組 5"/>
              <p:cNvGrpSpPr/>
              <p:nvPr/>
            </p:nvGrpSpPr>
            <p:grpSpPr>
              <a:xfrm>
                <a:off x="1371600" y="2895600"/>
                <a:ext cx="9990836" cy="3660946"/>
                <a:chOff x="1371600" y="2895600"/>
                <a:chExt cx="9990836" cy="3660946"/>
              </a:xfrm>
            </p:grpSpPr>
            <p:grpSp>
              <p:nvGrpSpPr>
                <p:cNvPr id="9" name="群組 8"/>
                <p:cNvGrpSpPr/>
                <p:nvPr/>
              </p:nvGrpSpPr>
              <p:grpSpPr>
                <a:xfrm>
                  <a:off x="1371600" y="2895600"/>
                  <a:ext cx="9990836" cy="3660946"/>
                  <a:chOff x="998981" y="2905139"/>
                  <a:chExt cx="9990836" cy="3660946"/>
                </a:xfrm>
              </p:grpSpPr>
              <p:pic>
                <p:nvPicPr>
                  <p:cNvPr id="4" name="圖片 3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98981" y="2905139"/>
                    <a:ext cx="9990836" cy="3660946"/>
                  </a:xfrm>
                  <a:prstGeom prst="rect">
                    <a:avLst/>
                  </a:prstGeom>
                </p:spPr>
              </p:pic>
              <p:sp>
                <p:nvSpPr>
                  <p:cNvPr id="7" name="文字方塊 6"/>
                  <p:cNvSpPr txBox="1"/>
                  <p:nvPr/>
                </p:nvSpPr>
                <p:spPr>
                  <a:xfrm>
                    <a:off x="1143000" y="3147645"/>
                    <a:ext cx="609600" cy="276999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200" dirty="0" smtClean="0">
                        <a:solidFill>
                          <a:srgbClr val="FF0000"/>
                        </a:solidFill>
                      </a:rPr>
                      <a:t>KEY1</a:t>
                    </a:r>
                    <a:endParaRPr lang="zh-TW" altLang="en-US" sz="12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5" name="文字方塊 14"/>
                  <p:cNvSpPr txBox="1"/>
                  <p:nvPr/>
                </p:nvSpPr>
                <p:spPr>
                  <a:xfrm>
                    <a:off x="1374396" y="4370033"/>
                    <a:ext cx="609600" cy="276999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200" dirty="0" smtClean="0">
                        <a:solidFill>
                          <a:srgbClr val="FF0000"/>
                        </a:solidFill>
                      </a:rPr>
                      <a:t>SW[9]</a:t>
                    </a:r>
                    <a:endParaRPr lang="zh-TW" altLang="en-US" sz="12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6" name="文字方塊 15"/>
                  <p:cNvSpPr txBox="1"/>
                  <p:nvPr/>
                </p:nvSpPr>
                <p:spPr>
                  <a:xfrm>
                    <a:off x="1374396" y="4967716"/>
                    <a:ext cx="987804" cy="261610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100" dirty="0" smtClean="0">
                        <a:solidFill>
                          <a:srgbClr val="FF0000"/>
                        </a:solidFill>
                      </a:rPr>
                      <a:t>CLOCK_50</a:t>
                    </a:r>
                    <a:endParaRPr lang="zh-TW" altLang="en-US" sz="11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7" name="文字方塊 16"/>
                  <p:cNvSpPr txBox="1"/>
                  <p:nvPr/>
                </p:nvSpPr>
                <p:spPr>
                  <a:xfrm>
                    <a:off x="1295400" y="5590401"/>
                    <a:ext cx="609600" cy="261610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050" dirty="0" smtClean="0">
                        <a:solidFill>
                          <a:srgbClr val="FF0000"/>
                        </a:solidFill>
                      </a:rPr>
                      <a:t>KEY0</a:t>
                    </a:r>
                    <a:endParaRPr lang="zh-TW" altLang="en-US" sz="105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8" name="文字方塊 17"/>
                  <p:cNvSpPr txBox="1"/>
                  <p:nvPr/>
                </p:nvSpPr>
                <p:spPr>
                  <a:xfrm>
                    <a:off x="5791200" y="3424644"/>
                    <a:ext cx="762000" cy="261610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100" dirty="0" smtClean="0">
                        <a:solidFill>
                          <a:srgbClr val="FF0000"/>
                        </a:solidFill>
                      </a:rPr>
                      <a:t>SW[3..0]</a:t>
                    </a:r>
                    <a:endParaRPr lang="zh-TW" altLang="en-US" sz="11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0" name="文字方塊 19"/>
                  <p:cNvSpPr txBox="1"/>
                  <p:nvPr/>
                </p:nvSpPr>
                <p:spPr>
                  <a:xfrm>
                    <a:off x="6485381" y="3971939"/>
                    <a:ext cx="626617" cy="253916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000" dirty="0" smtClean="0">
                        <a:solidFill>
                          <a:srgbClr val="FF0000"/>
                        </a:solidFill>
                      </a:rPr>
                      <a:t>SW[8]</a:t>
                    </a:r>
                    <a:endParaRPr lang="zh-TW" altLang="en-US" sz="10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6858000" y="5971401"/>
                    <a:ext cx="838200" cy="253916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050" dirty="0" smtClean="0">
                        <a:solidFill>
                          <a:srgbClr val="FF0000"/>
                        </a:solidFill>
                      </a:rPr>
                      <a:t>LEDR[9]</a:t>
                    </a:r>
                    <a:endParaRPr lang="zh-TW" altLang="en-US" sz="105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22" name="文字方塊 21"/>
                  <p:cNvSpPr txBox="1"/>
                  <p:nvPr/>
                </p:nvSpPr>
                <p:spPr>
                  <a:xfrm>
                    <a:off x="9601200" y="3505200"/>
                    <a:ext cx="838200" cy="253916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050" dirty="0" smtClean="0">
                        <a:solidFill>
                          <a:srgbClr val="FF0000"/>
                        </a:solidFill>
                      </a:rPr>
                      <a:t>LEDR[3..0]</a:t>
                    </a:r>
                    <a:endParaRPr lang="zh-TW" altLang="en-US" sz="1050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  <p:sp>
              <p:nvSpPr>
                <p:cNvPr id="3" name="文字方塊 2"/>
                <p:cNvSpPr txBox="1"/>
                <p:nvPr/>
              </p:nvSpPr>
              <p:spPr>
                <a:xfrm>
                  <a:off x="3810000" y="4298938"/>
                  <a:ext cx="457200" cy="184666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600" dirty="0" smtClean="0">
                      <a:solidFill>
                        <a:srgbClr val="793C21"/>
                      </a:solidFill>
                    </a:rPr>
                    <a:t>div16M</a:t>
                  </a:r>
                  <a:endParaRPr lang="zh-TW" altLang="en-US" sz="600" dirty="0">
                    <a:solidFill>
                      <a:srgbClr val="793C21"/>
                    </a:solidFill>
                  </a:endParaRPr>
                </a:p>
              </p:txBody>
            </p:sp>
            <p:sp>
              <p:nvSpPr>
                <p:cNvPr id="5" name="文字方塊 4"/>
                <p:cNvSpPr txBox="1"/>
                <p:nvPr/>
              </p:nvSpPr>
              <p:spPr>
                <a:xfrm>
                  <a:off x="4267200" y="4705841"/>
                  <a:ext cx="457200" cy="184666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600" dirty="0" smtClean="0">
                      <a:solidFill>
                        <a:srgbClr val="0099FF"/>
                      </a:solidFill>
                    </a:rPr>
                    <a:t>Q[23..0]</a:t>
                  </a:r>
                  <a:endParaRPr lang="zh-TW" altLang="en-US" sz="600" dirty="0">
                    <a:solidFill>
                      <a:srgbClr val="0099FF"/>
                    </a:solidFill>
                  </a:endParaRPr>
                </a:p>
              </p:txBody>
            </p:sp>
          </p:grpSp>
          <p:sp>
            <p:nvSpPr>
              <p:cNvPr id="11" name="矩形 10"/>
              <p:cNvSpPr/>
              <p:nvPr/>
            </p:nvSpPr>
            <p:spPr bwMode="auto">
              <a:xfrm>
                <a:off x="5181600" y="5988190"/>
                <a:ext cx="381000" cy="107810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標楷體" pitchFamily="65" charset="-12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 bwMode="auto">
              <a:xfrm>
                <a:off x="4953000" y="5867400"/>
                <a:ext cx="176656" cy="376954"/>
              </a:xfrm>
              <a:prstGeom prst="rect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TW" alt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標楷體" pitchFamily="65" charset="-120"/>
                </a:endParaRPr>
              </a:p>
            </p:txBody>
          </p:sp>
        </p:grpSp>
        <p:sp>
          <p:nvSpPr>
            <p:cNvPr id="10" name="文字方塊 9"/>
            <p:cNvSpPr txBox="1"/>
            <p:nvPr/>
          </p:nvSpPr>
          <p:spPr>
            <a:xfrm rot="10800000">
              <a:off x="4929959" y="5858368"/>
              <a:ext cx="261610" cy="357410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r>
                <a:rPr lang="en-US" altLang="zh-TW" sz="500" dirty="0" smtClean="0">
                  <a:solidFill>
                    <a:srgbClr val="7030A0"/>
                  </a:solidFill>
                </a:rPr>
                <a:t>Q[23..0]</a:t>
              </a: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5135119" y="5990503"/>
              <a:ext cx="114300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500" dirty="0" smtClean="0">
                  <a:solidFill>
                    <a:srgbClr val="7030A0"/>
                  </a:solidFill>
                </a:rPr>
                <a:t>Q[23]</a:t>
              </a:r>
              <a:endParaRPr lang="zh-TW" altLang="en-US" sz="500" dirty="0">
                <a:solidFill>
                  <a:srgbClr val="7030A0"/>
                </a:solidFill>
              </a:endParaRPr>
            </a:p>
          </p:txBody>
        </p:sp>
      </p:grpSp>
      <p:sp>
        <p:nvSpPr>
          <p:cNvPr id="30" name="矩形 29"/>
          <p:cNvSpPr/>
          <p:nvPr/>
        </p:nvSpPr>
        <p:spPr bwMode="auto">
          <a:xfrm>
            <a:off x="9372600" y="6324600"/>
            <a:ext cx="914400" cy="914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pic>
        <p:nvPicPr>
          <p:cNvPr id="32" name="圖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4637493"/>
            <a:ext cx="501274" cy="590484"/>
          </a:xfrm>
          <a:prstGeom prst="rect">
            <a:avLst/>
          </a:prstGeom>
        </p:spPr>
      </p:pic>
      <p:cxnSp>
        <p:nvCxnSpPr>
          <p:cNvPr id="34" name="直線接點 33"/>
          <p:cNvCxnSpPr/>
          <p:nvPr/>
        </p:nvCxnSpPr>
        <p:spPr bwMode="auto">
          <a:xfrm flipH="1">
            <a:off x="7924799" y="4858757"/>
            <a:ext cx="609601" cy="0"/>
          </a:xfrm>
          <a:prstGeom prst="line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直線接點 37"/>
          <p:cNvCxnSpPr/>
          <p:nvPr/>
        </p:nvCxnSpPr>
        <p:spPr bwMode="auto">
          <a:xfrm flipV="1">
            <a:off x="7924800" y="3676715"/>
            <a:ext cx="0" cy="1182042"/>
          </a:xfrm>
          <a:prstGeom prst="line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橢圓 39"/>
          <p:cNvSpPr/>
          <p:nvPr/>
        </p:nvSpPr>
        <p:spPr bwMode="auto">
          <a:xfrm>
            <a:off x="7886948" y="3638503"/>
            <a:ext cx="75702" cy="85097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sp>
        <p:nvSpPr>
          <p:cNvPr id="43" name="橢圓 42"/>
          <p:cNvSpPr/>
          <p:nvPr/>
        </p:nvSpPr>
        <p:spPr bwMode="auto">
          <a:xfrm>
            <a:off x="8086606" y="4019548"/>
            <a:ext cx="68820" cy="77361"/>
          </a:xfrm>
          <a:prstGeom prst="ellipse">
            <a:avLst/>
          </a:prstGeom>
          <a:solidFill>
            <a:srgbClr val="7030A0"/>
          </a:solidFill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標楷體" pitchFamily="65" charset="-120"/>
            </a:endParaRPr>
          </a:p>
        </p:txBody>
      </p:sp>
      <p:cxnSp>
        <p:nvCxnSpPr>
          <p:cNvPr id="45" name="直線接點 44"/>
          <p:cNvCxnSpPr/>
          <p:nvPr/>
        </p:nvCxnSpPr>
        <p:spPr bwMode="auto">
          <a:xfrm flipH="1">
            <a:off x="8114807" y="4030233"/>
            <a:ext cx="6209" cy="1379323"/>
          </a:xfrm>
          <a:prstGeom prst="line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線接點 47"/>
          <p:cNvCxnSpPr/>
          <p:nvPr/>
        </p:nvCxnSpPr>
        <p:spPr bwMode="auto">
          <a:xfrm>
            <a:off x="8124851" y="5410200"/>
            <a:ext cx="655424" cy="0"/>
          </a:xfrm>
          <a:prstGeom prst="line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線接點 49"/>
          <p:cNvCxnSpPr>
            <a:endCxn id="32" idx="2"/>
          </p:cNvCxnSpPr>
          <p:nvPr/>
        </p:nvCxnSpPr>
        <p:spPr bwMode="auto">
          <a:xfrm flipV="1">
            <a:off x="8785037" y="5227977"/>
            <a:ext cx="0" cy="182223"/>
          </a:xfrm>
          <a:prstGeom prst="line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651676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Lab5_4</a:t>
            </a:r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609600" y="1219200"/>
            <a:ext cx="10896600" cy="4611688"/>
          </a:xfrm>
        </p:spPr>
        <p:txBody>
          <a:bodyPr/>
          <a:lstStyle/>
          <a:p>
            <a:r>
              <a:rPr lang="zh-TW" altLang="en-US" sz="2400" dirty="0" smtClean="0"/>
              <a:t>請實現上述</a:t>
            </a:r>
            <a:r>
              <a:rPr lang="zh-TW" altLang="en-US" sz="2400" dirty="0" smtClean="0"/>
              <a:t>之上</a:t>
            </a:r>
            <a:r>
              <a:rPr lang="en-US" altLang="zh-TW" sz="2400" dirty="0" smtClean="0"/>
              <a:t>/</a:t>
            </a:r>
            <a:r>
              <a:rPr lang="zh-TW" altLang="en-US" sz="2400" dirty="0" smtClean="0"/>
              <a:t>下數</a:t>
            </a:r>
            <a:r>
              <a:rPr lang="zh-TW" altLang="en-US" sz="2400" dirty="0" smtClean="0"/>
              <a:t>計數器，</a:t>
            </a:r>
            <a:r>
              <a:rPr lang="zh-TW" altLang="en-US" sz="2400" dirty="0"/>
              <a:t>依時脈</a:t>
            </a:r>
            <a:r>
              <a:rPr lang="zh-TW" altLang="en-US" sz="2400" dirty="0" smtClean="0"/>
              <a:t>輸出上</a:t>
            </a:r>
            <a:r>
              <a:rPr lang="en-US" altLang="zh-TW" sz="2400" dirty="0" smtClean="0"/>
              <a:t>/</a:t>
            </a:r>
            <a:r>
              <a:rPr lang="zh-TW" altLang="en-US" sz="2400" dirty="0" smtClean="0"/>
              <a:t>下</a:t>
            </a:r>
            <a:r>
              <a:rPr lang="zh-TW" altLang="en-US" sz="2400" dirty="0" smtClean="0"/>
              <a:t>數值到七段顯示器，並輸出</a:t>
            </a:r>
            <a:r>
              <a:rPr lang="en-US" altLang="zh-TW" sz="2400" dirty="0" smtClean="0"/>
              <a:t>Q[23]</a:t>
            </a:r>
            <a:r>
              <a:rPr lang="zh-TW" altLang="en-US" sz="2400" dirty="0" smtClean="0"/>
              <a:t>到</a:t>
            </a:r>
            <a:r>
              <a:rPr lang="en-US" altLang="zh-TW" sz="2400" dirty="0" smtClean="0"/>
              <a:t>LEDR[9]</a:t>
            </a:r>
            <a:endParaRPr lang="en-US" altLang="zh-TW" sz="2400" dirty="0"/>
          </a:p>
          <a:p>
            <a:r>
              <a:rPr lang="zh-TW" altLang="en-US" sz="2400" dirty="0" smtClean="0"/>
              <a:t>上撥“</a:t>
            </a:r>
            <a:r>
              <a:rPr lang="en-US" altLang="zh-TW" sz="2400" dirty="0" smtClean="0"/>
              <a:t>down” SW[8]</a:t>
            </a:r>
            <a:r>
              <a:rPr lang="zh-TW" altLang="en-US" sz="2400" dirty="0" smtClean="0"/>
              <a:t>開關，會下數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zh-TW" altLang="en-US" sz="2400" dirty="0"/>
              <a:t>實驗板上震盪時脈請接至除頻器除</a:t>
            </a:r>
            <a:r>
              <a:rPr lang="zh-TW" altLang="en-US" sz="2400" dirty="0" smtClean="0"/>
              <a:t>頻</a:t>
            </a:r>
            <a:r>
              <a:rPr lang="en-US" altLang="zh-TW" sz="2400" dirty="0" smtClean="0"/>
              <a:t>16M</a:t>
            </a:r>
            <a:r>
              <a:rPr lang="zh-TW" altLang="en-US" sz="2400" dirty="0" smtClean="0"/>
              <a:t>，再以</a:t>
            </a:r>
            <a:r>
              <a:rPr lang="en-US" altLang="zh-TW" sz="2400" dirty="0" smtClean="0"/>
              <a:t>CARRY</a:t>
            </a:r>
            <a:r>
              <a:rPr lang="zh-TW" altLang="en-US" sz="2400" dirty="0" smtClean="0"/>
              <a:t>作為計數之致能。</a:t>
            </a:r>
            <a:endParaRPr lang="en-US" altLang="zh-TW" sz="2400" dirty="0"/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86932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專案概觀">
  <a:themeElements>
    <a:clrScheme name="專案概觀 1">
      <a:dk1>
        <a:srgbClr val="000000"/>
      </a:dk1>
      <a:lt1>
        <a:srgbClr val="FFFFFF"/>
      </a:lt1>
      <a:dk2>
        <a:srgbClr val="0066CC"/>
      </a:dk2>
      <a:lt2>
        <a:srgbClr val="CBCBCB"/>
      </a:lt2>
      <a:accent1>
        <a:srgbClr val="00CCFF"/>
      </a:accent1>
      <a:accent2>
        <a:srgbClr val="00FFCC"/>
      </a:accent2>
      <a:accent3>
        <a:srgbClr val="AAB8E2"/>
      </a:accent3>
      <a:accent4>
        <a:srgbClr val="DADADA"/>
      </a:accent4>
      <a:accent5>
        <a:srgbClr val="AAE2FF"/>
      </a:accent5>
      <a:accent6>
        <a:srgbClr val="00E7B9"/>
      </a:accent6>
      <a:hlink>
        <a:srgbClr val="FF3300"/>
      </a:hlink>
      <a:folHlink>
        <a:srgbClr val="FF7C80"/>
      </a:folHlink>
    </a:clrScheme>
    <a:fontScheme name="專案概觀">
      <a:majorFont>
        <a:latin typeface="Tempus Sans ITC"/>
        <a:ea typeface="金梅浪漫原體字"/>
        <a:cs typeface=""/>
      </a:majorFont>
      <a:minorFont>
        <a:latin typeface="Tempus Sans ITC"/>
        <a:ea typeface="金梅浪漫原體字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專案概觀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CCFF"/>
        </a:accent1>
        <a:accent2>
          <a:srgbClr val="00FFCC"/>
        </a:accent2>
        <a:accent3>
          <a:srgbClr val="AAB8E2"/>
        </a:accent3>
        <a:accent4>
          <a:srgbClr val="DADADA"/>
        </a:accent4>
        <a:accent5>
          <a:srgbClr val="AAE2FF"/>
        </a:accent5>
        <a:accent6>
          <a:srgbClr val="00E7B9"/>
        </a:accent6>
        <a:hlink>
          <a:srgbClr val="FF33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專案概觀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專案概觀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Evolutionary Development of Hierarchical Learning Structures</Template>
  <TotalTime>16514</TotalTime>
  <Words>333</Words>
  <Application>Microsoft Office PowerPoint</Application>
  <PresentationFormat>寬螢幕</PresentationFormat>
  <Paragraphs>84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24</vt:i4>
      </vt:variant>
    </vt:vector>
  </HeadingPairs>
  <TitlesOfParts>
    <vt:vector size="35" baseType="lpstr">
      <vt:lpstr>Arial Unicode MS</vt:lpstr>
      <vt:lpstr>金梅浪漫原體字</vt:lpstr>
      <vt:lpstr>華康唐風隸</vt:lpstr>
      <vt:lpstr>新細明體</vt:lpstr>
      <vt:lpstr>標楷體</vt:lpstr>
      <vt:lpstr>Arial</vt:lpstr>
      <vt:lpstr>Tempus Sans ITC</vt:lpstr>
      <vt:lpstr>Times New Roman</vt:lpstr>
      <vt:lpstr>Wingdings</vt:lpstr>
      <vt:lpstr>專案概觀</vt:lpstr>
      <vt:lpstr>1_專案概觀</vt:lpstr>
      <vt:lpstr>Lab 5</vt:lpstr>
      <vt:lpstr>PowerPoint 簡報</vt:lpstr>
      <vt:lpstr>Lab5-1</vt:lpstr>
      <vt:lpstr>4位元暫存器</vt:lpstr>
      <vt:lpstr>半加器(HA)</vt:lpstr>
      <vt:lpstr>半加器</vt:lpstr>
      <vt:lpstr>四位元遞增器</vt:lpstr>
      <vt:lpstr>多工器2_1</vt:lpstr>
      <vt:lpstr>多工器2_1_4BIT</vt:lpstr>
      <vt:lpstr>多工器4_1_4BIT</vt:lpstr>
      <vt:lpstr>四位元上數計數器(不變/清除/計數)</vt:lpstr>
      <vt:lpstr>SDC File</vt:lpstr>
      <vt:lpstr>LAB</vt:lpstr>
      <vt:lpstr>PowerPoint 簡報</vt:lpstr>
      <vt:lpstr>Lab5-2</vt:lpstr>
      <vt:lpstr>半減器(HS)</vt:lpstr>
      <vt:lpstr>四位元遞減器</vt:lpstr>
      <vt:lpstr>提示</vt:lpstr>
      <vt:lpstr>PowerPoint 簡報</vt:lpstr>
      <vt:lpstr>提示</vt:lpstr>
      <vt:lpstr>提示</vt:lpstr>
      <vt:lpstr>tc circuit</vt:lpstr>
      <vt:lpstr>Lab5_3</vt:lpstr>
      <vt:lpstr>Lab5_4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579</cp:revision>
  <cp:lastPrinted>1601-01-01T00:00:00Z</cp:lastPrinted>
  <dcterms:created xsi:type="dcterms:W3CDTF">1601-01-01T00:00:00Z</dcterms:created>
  <dcterms:modified xsi:type="dcterms:W3CDTF">2024-05-26T09:04:03Z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