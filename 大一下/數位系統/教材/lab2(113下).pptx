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28"/>
  </p:notesMasterIdLst>
  <p:handoutMasterIdLst>
    <p:handoutMasterId r:id="rId29"/>
  </p:handoutMasterIdLst>
  <p:sldIdLst>
    <p:sldId id="258" r:id="rId2"/>
    <p:sldId id="315" r:id="rId3"/>
    <p:sldId id="317" r:id="rId4"/>
    <p:sldId id="339" r:id="rId5"/>
    <p:sldId id="318" r:id="rId6"/>
    <p:sldId id="367" r:id="rId7"/>
    <p:sldId id="322" r:id="rId8"/>
    <p:sldId id="338" r:id="rId9"/>
    <p:sldId id="368" r:id="rId10"/>
    <p:sldId id="355" r:id="rId11"/>
    <p:sldId id="356" r:id="rId12"/>
    <p:sldId id="359" r:id="rId13"/>
    <p:sldId id="357" r:id="rId14"/>
    <p:sldId id="360" r:id="rId15"/>
    <p:sldId id="358" r:id="rId16"/>
    <p:sldId id="362" r:id="rId17"/>
    <p:sldId id="361" r:id="rId18"/>
    <p:sldId id="363" r:id="rId19"/>
    <p:sldId id="364" r:id="rId20"/>
    <p:sldId id="366" r:id="rId21"/>
    <p:sldId id="382" r:id="rId22"/>
    <p:sldId id="379" r:id="rId23"/>
    <p:sldId id="380" r:id="rId24"/>
    <p:sldId id="381" r:id="rId25"/>
    <p:sldId id="377" r:id="rId26"/>
    <p:sldId id="378" r:id="rId27"/>
  </p:sldIdLst>
  <p:sldSz cx="12192000" cy="6858000"/>
  <p:notesSz cx="7099300" cy="10234613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3C21"/>
    <a:srgbClr val="65321B"/>
    <a:srgbClr val="FF9966"/>
    <a:srgbClr val="00FF00"/>
    <a:srgbClr val="0066FF"/>
    <a:srgbClr val="33CCFF"/>
    <a:srgbClr val="0099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90" autoAdjust="0"/>
    <p:restoredTop sz="93524" autoAdjust="0"/>
  </p:normalViewPr>
  <p:slideViewPr>
    <p:cSldViewPr>
      <p:cViewPr varScale="1">
        <p:scale>
          <a:sx n="107" d="100"/>
          <a:sy n="107" d="100"/>
        </p:scale>
        <p:origin x="1044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t" anchorCtr="0" compatLnSpc="1">
            <a:prstTxWarp prst="textNoShape">
              <a:avLst/>
            </a:prstTxWarp>
          </a:bodyPr>
          <a:lstStyle>
            <a:lvl1pPr defTabSz="912813" eaLnBrk="1" hangingPunct="1">
              <a:defRPr sz="11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t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1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20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b" anchorCtr="0" compatLnSpc="1">
            <a:prstTxWarp prst="textNoShape">
              <a:avLst/>
            </a:prstTxWarp>
          </a:bodyPr>
          <a:lstStyle>
            <a:lvl1pPr defTabSz="912813" eaLnBrk="1" hangingPunct="1">
              <a:defRPr sz="11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20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b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sz="11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990DD40F-DF45-42C6-B1F8-CB72926F85A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1288" y="768350"/>
            <a:ext cx="68183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328538B5-7DAB-4969-92C7-372FA26D4A5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0203E093-59A1-4063-BFB1-C11E93AD73FE}" type="slidenum">
              <a:rPr lang="en-US" altLang="zh-TW" sz="1300" smtClean="0"/>
              <a:pPr>
                <a:spcBef>
                  <a:spcPct val="0"/>
                </a:spcBef>
              </a:pPr>
              <a:t>1</a:t>
            </a:fld>
            <a:endParaRPr lang="en-US" altLang="zh-TW" sz="1300" smtClean="0"/>
          </a:p>
        </p:txBody>
      </p:sp>
      <p:sp>
        <p:nvSpPr>
          <p:cNvPr id="6147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6148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zh-TW" smtClean="0">
              <a:latin typeface="Arial" panose="020B0604020202020204" pitchFamily="34" charset="0"/>
            </a:endParaRPr>
          </a:p>
        </p:txBody>
      </p:sp>
      <p:sp>
        <p:nvSpPr>
          <p:cNvPr id="6149" name="投影片編號版面配置區 3"/>
          <p:cNvSpPr txBox="1">
            <a:spLocks noGrp="1"/>
          </p:cNvSpPr>
          <p:nvPr/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30" tIns="49514" rIns="99030" bIns="49514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C55846E-BB91-4DC3-BBCC-8506C92D7322}" type="slidenum">
              <a:rPr lang="en-US" altLang="zh-TW" sz="1300"/>
              <a:pPr algn="r" eaLnBrk="1" hangingPunct="1">
                <a:spcBef>
                  <a:spcPct val="0"/>
                </a:spcBef>
              </a:pPr>
              <a:t>1</a:t>
            </a:fld>
            <a:endParaRPr lang="en-US" altLang="zh-TW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gradFill rotWithShape="0">
          <a:gsLst>
            <a:gs pos="0">
              <a:srgbClr val="002F5E"/>
            </a:gs>
            <a:gs pos="50000">
              <a:schemeClr val="bg1"/>
            </a:gs>
            <a:gs pos="100000">
              <a:srgbClr val="002F5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08000" y="1"/>
            <a:ext cx="1930400" cy="6856413"/>
          </a:xfrm>
          <a:prstGeom prst="rect">
            <a:avLst/>
          </a:prstGeom>
          <a:gradFill rotWithShape="0">
            <a:gsLst>
              <a:gs pos="0">
                <a:schemeClr val="bg1">
                  <a:gamma/>
                  <a:shade val="61961"/>
                  <a:invGamma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bg1">
                  <a:gamma/>
                  <a:shade val="6196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914401" y="2438400"/>
            <a:ext cx="11275484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15294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0" y="3505200"/>
            <a:ext cx="6299200" cy="152400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2400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7" name="WordArt 10"/>
          <p:cNvSpPr>
            <a:spLocks noChangeArrowheads="1" noChangeShapeType="1" noTextEdit="1"/>
          </p:cNvSpPr>
          <p:nvPr/>
        </p:nvSpPr>
        <p:spPr bwMode="auto">
          <a:xfrm rot="5400000">
            <a:off x="-2972857" y="2972858"/>
            <a:ext cx="6858000" cy="91228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wordArtVert"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auto"/>
            <a:r>
              <a:rPr lang="en-US" altLang="zh-TW" sz="3600" b="1" kern="10">
                <a:solidFill>
                  <a:schemeClr val="bg1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標楷體" panose="03000509000000000000" pitchFamily="65" charset="-120"/>
              </a:rPr>
              <a:t>National Formosa University</a:t>
            </a:r>
            <a:endParaRPr lang="zh-TW" altLang="en-US" sz="3600" b="1" kern="10">
              <a:solidFill>
                <a:schemeClr val="bg1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標楷體" panose="03000509000000000000" pitchFamily="65" charset="-120"/>
            </a:endParaRPr>
          </a:p>
        </p:txBody>
      </p:sp>
      <p:sp>
        <p:nvSpPr>
          <p:cNvPr id="110596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10597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12286" y="4114800"/>
            <a:ext cx="10365314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="1"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asfasdfadfadfasdfasfasdf</a:t>
            </a: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F2C73A-B76F-4A0D-943E-EDDA11664E6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3779940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39AEA0-B417-4784-AED4-D53D86AA79F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377800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B88E63-8C4F-4B30-B2E0-16839C27572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6806302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117600" y="1447800"/>
            <a:ext cx="5080000" cy="4611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400800" y="1447800"/>
            <a:ext cx="5080000" cy="4611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D55BD-841B-4490-B8F3-98126D71CAA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2433976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8442F-AF31-4D9D-A5F5-D8E7B02F4CD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9574784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66A155-4E44-4D06-846C-A4637D5B21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8343813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BC3DA-93C2-40CA-8896-67250857A93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3569711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8CAA80-A44E-45AE-ABF2-184CCDCEA4B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6284414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1C4C7B-F26F-4577-B8B4-CB82A0A86CA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252477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506866-1AD0-44FC-BAA2-50062E023AC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1813460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13800" y="152400"/>
            <a:ext cx="2667000" cy="590708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12800" y="152400"/>
            <a:ext cx="7797800" cy="590708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282D35-FEA0-4FA0-AB0B-DB20D981F70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0418754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03632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1117600" y="1447800"/>
            <a:ext cx="5080000" cy="4611688"/>
          </a:xfrm>
        </p:spPr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400800" y="1447800"/>
            <a:ext cx="5080000" cy="46116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E20C9-325C-4059-AC29-4689AFD95DC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3140614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03632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1117600" y="1447800"/>
            <a:ext cx="5080000" cy="46116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400800" y="1447800"/>
            <a:ext cx="5080000" cy="222885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6400800" y="3829050"/>
            <a:ext cx="5080000" cy="22304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207251-F395-49CD-9704-71AA66C5F55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0585002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2F5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508000" y="1"/>
            <a:ext cx="1930400" cy="6856413"/>
          </a:xfrm>
          <a:prstGeom prst="rect">
            <a:avLst/>
          </a:prstGeom>
          <a:gradFill rotWithShape="0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gamma/>
                  <a:shade val="6196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239184" y="1341438"/>
            <a:ext cx="6299200" cy="152400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endParaRPr lang="zh-TW" altLang="zh-TW" sz="2400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914400" y="6629401"/>
            <a:ext cx="4673600" cy="22701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9573" name="Rectangle 5"/>
          <p:cNvSpPr>
            <a:spLocks noChangeArrowheads="1"/>
          </p:cNvSpPr>
          <p:nvPr/>
        </p:nvSpPr>
        <p:spPr bwMode="auto">
          <a:xfrm>
            <a:off x="1018117" y="404813"/>
            <a:ext cx="11173883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15294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zh-TW" altLang="zh-TW" sz="240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957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1524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095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447800"/>
            <a:ext cx="10668000" cy="461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</a:p>
        </p:txBody>
      </p:sp>
      <p:sp>
        <p:nvSpPr>
          <p:cNvPr id="109576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1722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9577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1722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9578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1722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538EC9C0-F28A-431C-BF1D-4048EF9A5A3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450619" y="0"/>
            <a:ext cx="46166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TW" altLang="zh-TW" smtClean="0">
              <a:latin typeface="Times New Roman" pitchFamily="18" charset="0"/>
              <a:ea typeface="新細明體" pitchFamily="18" charset="-120"/>
            </a:endParaRPr>
          </a:p>
        </p:txBody>
      </p:sp>
      <p:sp>
        <p:nvSpPr>
          <p:cNvPr id="1036" name="WordArt 12"/>
          <p:cNvSpPr>
            <a:spLocks noChangeArrowheads="1" noChangeShapeType="1" noTextEdit="1"/>
          </p:cNvSpPr>
          <p:nvPr/>
        </p:nvSpPr>
        <p:spPr bwMode="auto">
          <a:xfrm rot="5400000">
            <a:off x="-2972857" y="2972858"/>
            <a:ext cx="6858000" cy="91228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wordArtVert"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auto"/>
            <a:r>
              <a:rPr lang="en-US" altLang="zh-TW" sz="3600" b="1" kern="10">
                <a:solidFill>
                  <a:schemeClr val="bg1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標楷體" panose="03000509000000000000" pitchFamily="65" charset="-120"/>
              </a:rPr>
              <a:t>National Formosa University</a:t>
            </a:r>
            <a:endParaRPr lang="zh-TW" altLang="en-US" sz="3600" b="1" kern="10">
              <a:solidFill>
                <a:schemeClr val="bg1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標楷體" panose="03000509000000000000" pitchFamily="65" charset="-120"/>
            </a:endParaRPr>
          </a:p>
        </p:txBody>
      </p:sp>
      <p:sp>
        <p:nvSpPr>
          <p:cNvPr id="1037" name="Text Box 13"/>
          <p:cNvSpPr txBox="1">
            <a:spLocks noChangeArrowheads="1"/>
          </p:cNvSpPr>
          <p:nvPr userDrawn="1"/>
        </p:nvSpPr>
        <p:spPr bwMode="auto">
          <a:xfrm>
            <a:off x="5588000" y="6491288"/>
            <a:ext cx="2438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mtClean="0">
                <a:ea typeface="華康唐風隸" pitchFamily="49" charset="-120"/>
              </a:rPr>
              <a:t>數位系統實習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42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5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6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4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5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kumimoji="0" lang="en-US" altLang="zh-TW" sz="8800" dirty="0">
                <a:ea typeface="Arial Unicode MS" pitchFamily="34" charset="-120"/>
                <a:cs typeface="Arial Unicode MS" pitchFamily="34" charset="-120"/>
              </a:rPr>
              <a:t>Lab 2</a:t>
            </a:r>
            <a:endParaRPr lang="en-US" altLang="zh-TW" sz="8800" dirty="0"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2" name="副標題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tx2"/>
                </a:solidFill>
                <a:latin typeface="Tempus Sans ITC" pitchFamily="82" charset="0"/>
                <a:ea typeface="金梅浪漫原體字" pitchFamily="49" charset="-120"/>
              </a:rPr>
              <a:t>基本邏輯閘應用與</a:t>
            </a:r>
            <a:br>
              <a:rPr lang="zh-TW" altLang="en-US" dirty="0">
                <a:solidFill>
                  <a:schemeClr val="tx2"/>
                </a:solidFill>
                <a:latin typeface="Tempus Sans ITC" pitchFamily="82" charset="0"/>
                <a:ea typeface="金梅浪漫原體字" pitchFamily="49" charset="-120"/>
              </a:rPr>
            </a:br>
            <a:r>
              <a:rPr lang="zh-TW" altLang="en-US" dirty="0">
                <a:solidFill>
                  <a:schemeClr val="tx2"/>
                </a:solidFill>
                <a:latin typeface="Tempus Sans ITC" pitchFamily="82" charset="0"/>
                <a:ea typeface="金梅浪漫原體字" pitchFamily="49" charset="-120"/>
              </a:rPr>
              <a:t>多工器實習</a:t>
            </a:r>
          </a:p>
          <a:p>
            <a:endParaRPr lang="zh-TW" altLang="en-US" dirty="0"/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4343400" y="4495800"/>
            <a:ext cx="3886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1" hangingPunct="1">
              <a:defRPr/>
            </a:pPr>
            <a:endParaRPr lang="zh-TW" altLang="en-US" sz="32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empus Sans ITC" pitchFamily="82" charset="0"/>
              <a:ea typeface="金梅浪漫原體字" pitchFamily="49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z="3200" dirty="0"/>
              <a:t>基本邏輯閘應用</a:t>
            </a:r>
            <a:endParaRPr lang="en-US" altLang="zh-TW" sz="3200" dirty="0"/>
          </a:p>
        </p:txBody>
      </p:sp>
      <p:sp>
        <p:nvSpPr>
          <p:cNvPr id="4352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447800"/>
            <a:ext cx="10744200" cy="4611688"/>
          </a:xfrm>
        </p:spPr>
        <p:txBody>
          <a:bodyPr/>
          <a:lstStyle/>
          <a:p>
            <a:pPr eaLnBrk="1" hangingPunct="1">
              <a:defRPr/>
            </a:pPr>
            <a:r>
              <a:rPr lang="zh-TW" altLang="en-US" sz="2800" dirty="0"/>
              <a:t>利用</a:t>
            </a:r>
            <a:r>
              <a:rPr lang="en-US" altLang="zh-TW" sz="2800" dirty="0"/>
              <a:t>NAND</a:t>
            </a:r>
            <a:r>
              <a:rPr lang="zh-TW" altLang="en-US" sz="2800" dirty="0"/>
              <a:t>（反及閘）組成</a:t>
            </a:r>
            <a:r>
              <a:rPr lang="en-US" altLang="zh-TW" sz="2800" dirty="0"/>
              <a:t>INV</a:t>
            </a:r>
            <a:r>
              <a:rPr lang="zh-TW" altLang="en-US" sz="2800" dirty="0"/>
              <a:t>（反閘）</a:t>
            </a:r>
          </a:p>
        </p:txBody>
      </p:sp>
      <p:pic>
        <p:nvPicPr>
          <p:cNvPr id="7172" name="Picture 4" descr="NAND_inv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1" y="3200401"/>
            <a:ext cx="4200525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35261" name="Group 61"/>
          <p:cNvGraphicFramePr>
            <a:graphicFrameLocks noGrp="1"/>
          </p:cNvGraphicFramePr>
          <p:nvPr>
            <p:ph sz="half" idx="2"/>
          </p:nvPr>
        </p:nvGraphicFramePr>
        <p:xfrm>
          <a:off x="7848600" y="3200401"/>
          <a:ext cx="1905000" cy="1600201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9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輸入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輸出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8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A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Y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6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z="3200" dirty="0"/>
              <a:t>基本邏輯閘應用</a:t>
            </a:r>
            <a:endParaRPr lang="en-US" altLang="zh-TW" sz="3200" dirty="0"/>
          </a:p>
        </p:txBody>
      </p:sp>
      <p:sp>
        <p:nvSpPr>
          <p:cNvPr id="4392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62200" y="1447800"/>
            <a:ext cx="7543800" cy="4611688"/>
          </a:xfrm>
        </p:spPr>
        <p:txBody>
          <a:bodyPr/>
          <a:lstStyle/>
          <a:p>
            <a:pPr eaLnBrk="1" hangingPunct="1">
              <a:defRPr/>
            </a:pPr>
            <a:r>
              <a:rPr lang="zh-TW" altLang="en-US" sz="2800"/>
              <a:t>利用</a:t>
            </a:r>
            <a:r>
              <a:rPr lang="en-US" altLang="zh-TW" sz="2800"/>
              <a:t>NAND</a:t>
            </a:r>
            <a:r>
              <a:rPr lang="zh-TW" altLang="en-US" sz="2800"/>
              <a:t>（反及閘）組成</a:t>
            </a:r>
            <a:r>
              <a:rPr lang="en-US" altLang="zh-TW" sz="2800"/>
              <a:t>AND</a:t>
            </a:r>
            <a:r>
              <a:rPr lang="zh-TW" altLang="en-US" sz="2800"/>
              <a:t>（及閘）</a:t>
            </a:r>
          </a:p>
        </p:txBody>
      </p:sp>
      <p:pic>
        <p:nvPicPr>
          <p:cNvPr id="9220" name="Picture 22" descr="NAND_A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362201"/>
            <a:ext cx="5353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39320" name="Group 24"/>
          <p:cNvGraphicFramePr>
            <a:graphicFrameLocks noGrp="1"/>
          </p:cNvGraphicFramePr>
          <p:nvPr>
            <p:ph sz="half" idx="2"/>
          </p:nvPr>
        </p:nvGraphicFramePr>
        <p:xfrm>
          <a:off x="8305800" y="2362200"/>
          <a:ext cx="1981200" cy="2514602"/>
        </p:xfrm>
        <a:graphic>
          <a:graphicData uri="http://schemas.openxmlformats.org/drawingml/2006/table">
            <a:tbl>
              <a:tblPr/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7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輸入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輸出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err="1" smtClean="0"/>
              <a:t>DeMorgan’s</a:t>
            </a:r>
            <a:r>
              <a:rPr lang="en-US" altLang="zh-TW" dirty="0" smtClean="0"/>
              <a:t> Law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3657600" y="1828800"/>
                <a:ext cx="5363648" cy="12594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TW" sz="8000" b="1" i="1" dirty="0" smtClean="0">
                              <a:solidFill>
                                <a:srgbClr val="FFFF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8000" b="1" i="1" dirty="0">
                              <a:solidFill>
                                <a:srgbClr val="FFFF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TW" sz="8000" b="1" i="1" dirty="0">
                              <a:solidFill>
                                <a:srgbClr val="FFFF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8000" b="1" i="1" dirty="0">
                              <a:solidFill>
                                <a:srgbClr val="FFFF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r>
                        <a:rPr lang="en-US" altLang="zh-TW" sz="8000" b="1" i="1" dirty="0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TW" sz="8000" b="1" i="1" dirty="0" smtClean="0">
                              <a:solidFill>
                                <a:srgbClr val="FFFF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8000" b="1" i="1" dirty="0" smtClean="0">
                              <a:solidFill>
                                <a:srgbClr val="FFFF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TW" sz="8000" b="1" i="1" dirty="0" smtClean="0">
                              <a:solidFill>
                                <a:srgbClr val="FFFF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8000" b="1" i="1" dirty="0">
                              <a:solidFill>
                                <a:srgbClr val="FFFF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</m:oMath>
                  </m:oMathPara>
                </a14:m>
                <a:endParaRPr lang="zh-TW" altLang="en-US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1828800"/>
                <a:ext cx="5363648" cy="12594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/>
              <p:cNvSpPr txBox="1"/>
              <p:nvPr/>
            </p:nvSpPr>
            <p:spPr>
              <a:xfrm>
                <a:off x="4724400" y="3296771"/>
                <a:ext cx="5899051" cy="13852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TW" sz="8800" b="1" i="1" smtClean="0">
                              <a:solidFill>
                                <a:srgbClr val="FFFF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8800" b="1" i="1">
                              <a:solidFill>
                                <a:srgbClr val="FFFF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𝒂𝒃</m:t>
                          </m:r>
                        </m:e>
                      </m:acc>
                      <m:r>
                        <a:rPr lang="en-US" altLang="zh-TW" sz="8800" b="1" i="1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TW" sz="8800" b="1" i="1" smtClean="0">
                              <a:solidFill>
                                <a:srgbClr val="FFFF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8800" b="1" i="1">
                              <a:solidFill>
                                <a:srgbClr val="FFFF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  <m:r>
                        <a:rPr lang="en-US" altLang="zh-TW" sz="8800" b="1" i="1" smtClean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TW" sz="8800" b="1" i="1" smtClean="0">
                              <a:solidFill>
                                <a:srgbClr val="FFFF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8800" b="1" i="1">
                              <a:solidFill>
                                <a:srgbClr val="FFFF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</m:oMath>
                  </m:oMathPara>
                </a14:m>
                <a:endParaRPr lang="zh-TW" altLang="en-US" sz="88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296771"/>
                <a:ext cx="5899051" cy="13852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Lab 2.1</a:t>
            </a:r>
            <a:r>
              <a:rPr lang="en-US" altLang="zh-TW" dirty="0"/>
              <a:t>A</a:t>
            </a:r>
            <a:endParaRPr lang="en-US" altLang="zh-TW" dirty="0" smtClean="0"/>
          </a:p>
        </p:txBody>
      </p:sp>
      <p:sp>
        <p:nvSpPr>
          <p:cNvPr id="4413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6312" y="1447800"/>
            <a:ext cx="9939376" cy="4611688"/>
          </a:xfrm>
        </p:spPr>
        <p:txBody>
          <a:bodyPr/>
          <a:lstStyle/>
          <a:p>
            <a:pPr eaLnBrk="1" hangingPunct="1">
              <a:defRPr/>
            </a:pPr>
            <a:r>
              <a:rPr lang="zh-TW" altLang="en-US" sz="2800" dirty="0"/>
              <a:t>利用</a:t>
            </a:r>
            <a:r>
              <a:rPr lang="zh-TW" altLang="en-US" sz="2800" u="sng" dirty="0"/>
              <a:t>反及閘</a:t>
            </a:r>
            <a:r>
              <a:rPr lang="zh-TW" altLang="en-US" sz="2800" dirty="0"/>
              <a:t>，設計</a:t>
            </a:r>
            <a:r>
              <a:rPr lang="zh-TW" altLang="en-US" sz="2800" u="sng" dirty="0"/>
              <a:t>或閘</a:t>
            </a:r>
            <a:r>
              <a:rPr lang="zh-TW" altLang="en-US" sz="2800" dirty="0"/>
              <a:t>電路。</a:t>
            </a:r>
          </a:p>
          <a:p>
            <a:pPr eaLnBrk="1" hangingPunct="1">
              <a:defRPr/>
            </a:pPr>
            <a:r>
              <a:rPr lang="zh-TW" altLang="en-US" sz="2800" u="sng" dirty="0"/>
              <a:t>反及閘</a:t>
            </a:r>
            <a:r>
              <a:rPr lang="zh-TW" altLang="en-US" sz="2800" dirty="0"/>
              <a:t>的符號和真值表如下所示。</a:t>
            </a:r>
            <a:endParaRPr lang="en-US" altLang="zh-TW" sz="2800" dirty="0"/>
          </a:p>
          <a:p>
            <a:pPr eaLnBrk="1" hangingPunct="1">
              <a:defRPr/>
            </a:pPr>
            <a:r>
              <a:rPr lang="zh-TW" altLang="en-US" sz="2800" dirty="0"/>
              <a:t>請模擬看看</a:t>
            </a:r>
            <a:r>
              <a:rPr lang="en-US" altLang="zh-TW" sz="2800" dirty="0"/>
              <a:t>!</a:t>
            </a:r>
            <a:endParaRPr lang="zh-TW" altLang="en-US" sz="2800" dirty="0"/>
          </a:p>
        </p:txBody>
      </p:sp>
      <p:graphicFrame>
        <p:nvGraphicFramePr>
          <p:cNvPr id="441348" name="Group 4"/>
          <p:cNvGraphicFramePr>
            <a:graphicFrameLocks noGrp="1"/>
          </p:cNvGraphicFramePr>
          <p:nvPr>
            <p:ph sz="half" idx="2"/>
          </p:nvPr>
        </p:nvGraphicFramePr>
        <p:xfrm>
          <a:off x="6248400" y="3429000"/>
          <a:ext cx="1981200" cy="2194044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輸入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輸出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 A     B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Y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 0      0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 0      1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 1      0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 1      1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291" name="Picture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886200"/>
            <a:ext cx="24574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Lab 2.1.B</a:t>
            </a:r>
            <a:endParaRPr lang="en-US" altLang="zh-TW" dirty="0" smtClean="0"/>
          </a:p>
        </p:txBody>
      </p:sp>
      <p:sp>
        <p:nvSpPr>
          <p:cNvPr id="4413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6312" y="1447800"/>
            <a:ext cx="9939376" cy="4611688"/>
          </a:xfrm>
        </p:spPr>
        <p:txBody>
          <a:bodyPr/>
          <a:lstStyle/>
          <a:p>
            <a:pPr eaLnBrk="1" hangingPunct="1">
              <a:defRPr/>
            </a:pPr>
            <a:r>
              <a:rPr lang="zh-TW" altLang="en-US" sz="2800" dirty="0"/>
              <a:t>利用</a:t>
            </a:r>
            <a:r>
              <a:rPr lang="zh-TW" altLang="en-US" sz="2800" u="sng" dirty="0"/>
              <a:t>反及閘</a:t>
            </a:r>
            <a:r>
              <a:rPr lang="zh-TW" altLang="en-US" sz="2800" dirty="0"/>
              <a:t>，設計</a:t>
            </a:r>
            <a:r>
              <a:rPr lang="zh-TW" altLang="en-US" sz="2800" u="sng" dirty="0"/>
              <a:t>反或閘</a:t>
            </a:r>
            <a:r>
              <a:rPr lang="zh-TW" altLang="en-US" sz="2800" dirty="0"/>
              <a:t>電路。</a:t>
            </a:r>
          </a:p>
          <a:p>
            <a:pPr eaLnBrk="1" hangingPunct="1">
              <a:defRPr/>
            </a:pPr>
            <a:r>
              <a:rPr lang="zh-TW" altLang="en-US" sz="2800" u="sng" dirty="0"/>
              <a:t>反及閘</a:t>
            </a:r>
            <a:r>
              <a:rPr lang="zh-TW" altLang="en-US" sz="2800" dirty="0"/>
              <a:t>的符號和真值表如下所示。</a:t>
            </a:r>
            <a:endParaRPr lang="en-US" altLang="zh-TW" sz="2800" dirty="0"/>
          </a:p>
          <a:p>
            <a:pPr eaLnBrk="1" hangingPunct="1">
              <a:defRPr/>
            </a:pPr>
            <a:r>
              <a:rPr lang="zh-TW" altLang="en-US" sz="2800" dirty="0"/>
              <a:t>請模擬看看</a:t>
            </a:r>
            <a:r>
              <a:rPr lang="en-US" altLang="zh-TW" sz="2800" dirty="0"/>
              <a:t>!</a:t>
            </a:r>
            <a:endParaRPr lang="zh-TW" altLang="en-US" sz="2800" dirty="0"/>
          </a:p>
        </p:txBody>
      </p:sp>
      <p:graphicFrame>
        <p:nvGraphicFramePr>
          <p:cNvPr id="441348" name="Group 4"/>
          <p:cNvGraphicFramePr>
            <a:graphicFrameLocks noGrp="1"/>
          </p:cNvGraphicFramePr>
          <p:nvPr>
            <p:ph sz="half" idx="2"/>
          </p:nvPr>
        </p:nvGraphicFramePr>
        <p:xfrm>
          <a:off x="6248400" y="3429000"/>
          <a:ext cx="1981200" cy="2194044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輸入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輸出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 A     B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Y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 0      0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 0      1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 1      0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 1      1</a:t>
                      </a:r>
                    </a:p>
                  </a:txBody>
                  <a:tcPr marT="45677" marB="4567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291" name="Picture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886200"/>
            <a:ext cx="24574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3462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Lab 2.1.C</a:t>
            </a:r>
            <a:endParaRPr lang="en-US" altLang="zh-TW" dirty="0" smtClean="0"/>
          </a:p>
        </p:txBody>
      </p:sp>
      <p:sp>
        <p:nvSpPr>
          <p:cNvPr id="4454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26312" y="1447800"/>
            <a:ext cx="9939376" cy="4611688"/>
          </a:xfrm>
        </p:spPr>
        <p:txBody>
          <a:bodyPr/>
          <a:lstStyle/>
          <a:p>
            <a:pPr eaLnBrk="1" hangingPunct="1">
              <a:defRPr/>
            </a:pPr>
            <a:r>
              <a:rPr lang="zh-TW" altLang="en-US" sz="2800" dirty="0"/>
              <a:t>利用</a:t>
            </a:r>
            <a:r>
              <a:rPr lang="zh-TW" altLang="en-US" sz="2800" u="sng" dirty="0"/>
              <a:t>反及閘</a:t>
            </a:r>
            <a:r>
              <a:rPr lang="zh-TW" altLang="en-US" sz="2800" dirty="0"/>
              <a:t>，設計</a:t>
            </a:r>
            <a:r>
              <a:rPr lang="zh-TW" altLang="en-US" sz="2800" u="sng" dirty="0"/>
              <a:t>互斥或閘</a:t>
            </a:r>
            <a:r>
              <a:rPr lang="zh-TW" altLang="en-US" sz="2800" dirty="0"/>
              <a:t>電路。</a:t>
            </a:r>
          </a:p>
          <a:p>
            <a:pPr eaLnBrk="1" hangingPunct="1">
              <a:defRPr/>
            </a:pPr>
            <a:r>
              <a:rPr lang="zh-TW" altLang="en-US" sz="2800" u="sng" dirty="0"/>
              <a:t>互斥或閘</a:t>
            </a:r>
            <a:r>
              <a:rPr lang="zh-TW" altLang="en-US" sz="2800" dirty="0"/>
              <a:t>的符號和真值表如下所示。</a:t>
            </a:r>
            <a:endParaRPr lang="en-US" altLang="zh-TW" sz="2800" dirty="0"/>
          </a:p>
          <a:p>
            <a:pPr eaLnBrk="1" hangingPunct="1">
              <a:defRPr/>
            </a:pPr>
            <a:r>
              <a:rPr lang="zh-TW" altLang="en-US" sz="2800" dirty="0"/>
              <a:t>請模擬看看</a:t>
            </a:r>
            <a:r>
              <a:rPr lang="en-US" altLang="zh-TW" sz="2800" dirty="0"/>
              <a:t>!</a:t>
            </a:r>
            <a:endParaRPr lang="zh-TW" altLang="en-US" sz="2800" dirty="0"/>
          </a:p>
          <a:p>
            <a:pPr eaLnBrk="1" hangingPunct="1">
              <a:defRPr/>
            </a:pPr>
            <a:endParaRPr lang="zh-TW" altLang="en-US" sz="2800" dirty="0"/>
          </a:p>
        </p:txBody>
      </p:sp>
      <p:graphicFrame>
        <p:nvGraphicFramePr>
          <p:cNvPr id="445444" name="Group 4"/>
          <p:cNvGraphicFramePr>
            <a:graphicFrameLocks noGrp="1"/>
          </p:cNvGraphicFramePr>
          <p:nvPr>
            <p:ph sz="half" idx="2"/>
          </p:nvPr>
        </p:nvGraphicFramePr>
        <p:xfrm>
          <a:off x="6248400" y="3429000"/>
          <a:ext cx="1981200" cy="21971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輸入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輸出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 A     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 0      0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 0      1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 1      0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 1      1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5387" name="Picture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962400"/>
            <a:ext cx="24574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Lab 2A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1075868" y="1560512"/>
            <a:ext cx="10345064" cy="4611688"/>
          </a:xfrm>
        </p:spPr>
        <p:txBody>
          <a:bodyPr/>
          <a:lstStyle/>
          <a:p>
            <a:pPr>
              <a:defRPr/>
            </a:pPr>
            <a:r>
              <a:rPr lang="zh-TW" altLang="en-US" dirty="0" smtClean="0"/>
              <a:t>將</a:t>
            </a:r>
            <a:r>
              <a:rPr lang="en-US" altLang="zh-TW" dirty="0" smtClean="0"/>
              <a:t>Lab </a:t>
            </a:r>
            <a:r>
              <a:rPr lang="en-US" altLang="zh-TW" dirty="0" smtClean="0"/>
              <a:t>2.1.A</a:t>
            </a:r>
            <a:r>
              <a:rPr lang="zh-TW" altLang="en-US" dirty="0" smtClean="0"/>
              <a:t>到</a:t>
            </a:r>
            <a:r>
              <a:rPr lang="en-US" altLang="zh-TW" dirty="0" smtClean="0"/>
              <a:t>Lab </a:t>
            </a:r>
            <a:r>
              <a:rPr lang="en-US" altLang="zh-TW" dirty="0" smtClean="0"/>
              <a:t>2.1.C</a:t>
            </a:r>
            <a:r>
              <a:rPr lang="zh-TW" altLang="en-US" dirty="0" smtClean="0"/>
              <a:t>整合</a:t>
            </a:r>
            <a:r>
              <a:rPr lang="zh-TW" altLang="en-US" dirty="0" smtClean="0"/>
              <a:t>在同一電路上，以</a:t>
            </a:r>
            <a:r>
              <a:rPr lang="en-US" altLang="zh-TW" dirty="0" smtClean="0"/>
              <a:t>SW</a:t>
            </a:r>
            <a:r>
              <a:rPr lang="zh-TW" altLang="en-US" dirty="0" smtClean="0"/>
              <a:t>為輸入，</a:t>
            </a:r>
            <a:r>
              <a:rPr lang="en-US" altLang="zh-TW" dirty="0" smtClean="0"/>
              <a:t>LEDG[0]</a:t>
            </a:r>
            <a:r>
              <a:rPr lang="zh-TW" altLang="en-US" dirty="0" smtClean="0"/>
              <a:t>到</a:t>
            </a:r>
            <a:r>
              <a:rPr lang="en-US" altLang="zh-TW" dirty="0" smtClean="0"/>
              <a:t>LEDG[2]</a:t>
            </a:r>
            <a:r>
              <a:rPr lang="zh-TW" altLang="en-US" dirty="0" smtClean="0"/>
              <a:t>為輸出。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124201"/>
            <a:ext cx="4876800" cy="328088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Lab 2B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1075868" y="1447800"/>
            <a:ext cx="10345064" cy="4611688"/>
          </a:xfrm>
        </p:spPr>
        <p:txBody>
          <a:bodyPr/>
          <a:lstStyle/>
          <a:p>
            <a:pPr>
              <a:defRPr/>
            </a:pPr>
            <a:r>
              <a:rPr lang="zh-TW" altLang="en-US" dirty="0" smtClean="0"/>
              <a:t>以</a:t>
            </a:r>
            <a:r>
              <a:rPr lang="zh-TW" altLang="en-US" dirty="0" smtClean="0">
                <a:solidFill>
                  <a:srgbClr val="FF0000"/>
                </a:solidFill>
              </a:rPr>
              <a:t>反或閘</a:t>
            </a:r>
            <a:r>
              <a:rPr lang="zh-TW" altLang="en-US" dirty="0" smtClean="0"/>
              <a:t>實現下圖電路，以</a:t>
            </a:r>
            <a:r>
              <a:rPr lang="en-US" altLang="zh-TW" dirty="0" smtClean="0"/>
              <a:t>SW</a:t>
            </a:r>
            <a:r>
              <a:rPr lang="zh-TW" altLang="en-US" dirty="0" smtClean="0"/>
              <a:t>為輸入，</a:t>
            </a:r>
            <a:r>
              <a:rPr lang="en-US" altLang="zh-TW" dirty="0" smtClean="0"/>
              <a:t>LEDG[0]</a:t>
            </a:r>
            <a:r>
              <a:rPr lang="zh-TW" altLang="en-US" dirty="0" smtClean="0"/>
              <a:t>到</a:t>
            </a:r>
            <a:r>
              <a:rPr lang="en-US" altLang="zh-TW" dirty="0" smtClean="0"/>
              <a:t>LEDG[2]</a:t>
            </a:r>
            <a:r>
              <a:rPr lang="zh-TW" altLang="en-US" dirty="0" smtClean="0"/>
              <a:t>為輸出。</a:t>
            </a:r>
            <a:endParaRPr lang="zh-TW" altLang="en-US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2667001"/>
            <a:ext cx="5441152" cy="368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4730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zh-TW" altLang="en-US" dirty="0" smtClean="0"/>
              <a:t>多工器</a:t>
            </a:r>
            <a:endParaRPr lang="zh-TW" altLang="en-US" dirty="0"/>
          </a:p>
        </p:txBody>
      </p:sp>
      <p:sp>
        <p:nvSpPr>
          <p:cNvPr id="8" name="副標題 7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751837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mux2-1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463352"/>
            <a:ext cx="7943850" cy="23526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graphicFrame>
        <p:nvGraphicFramePr>
          <p:cNvPr id="5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938138"/>
              </p:ext>
            </p:extLst>
          </p:nvPr>
        </p:nvGraphicFramePr>
        <p:xfrm>
          <a:off x="5511800" y="4191000"/>
          <a:ext cx="1422400" cy="1584960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選擇線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輸出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950" y="4276726"/>
            <a:ext cx="1466850" cy="136207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圓角矩形圖說文字 6"/>
          <p:cNvSpPr/>
          <p:nvPr/>
        </p:nvSpPr>
        <p:spPr bwMode="auto">
          <a:xfrm>
            <a:off x="8534400" y="508518"/>
            <a:ext cx="704850" cy="762000"/>
          </a:xfrm>
          <a:prstGeom prst="wedgeRoundRectCallout">
            <a:avLst>
              <a:gd name="adj1" fmla="val -85698"/>
              <a:gd name="adj2" fmla="val 84541"/>
              <a:gd name="adj3" fmla="val 16667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dirty="0" smtClean="0">
                <a:latin typeface="Arial" charset="0"/>
              </a:rPr>
              <a:t>電</a:t>
            </a:r>
            <a:r>
              <a:rPr lang="zh-TW" altLang="en-US" dirty="0">
                <a:latin typeface="Arial" charset="0"/>
              </a:rPr>
              <a:t>路</a:t>
            </a:r>
          </a:p>
        </p:txBody>
      </p:sp>
      <p:sp>
        <p:nvSpPr>
          <p:cNvPr id="8" name="圓角矩形圖說文字 7"/>
          <p:cNvSpPr/>
          <p:nvPr/>
        </p:nvSpPr>
        <p:spPr bwMode="auto">
          <a:xfrm>
            <a:off x="9525000" y="4267200"/>
            <a:ext cx="704850" cy="762000"/>
          </a:xfrm>
          <a:prstGeom prst="wedgeRoundRectCallout">
            <a:avLst>
              <a:gd name="adj1" fmla="val -124087"/>
              <a:gd name="adj2" fmla="val 63725"/>
              <a:gd name="adj3" fmla="val 16667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dirty="0">
                <a:latin typeface="Arial" charset="0"/>
              </a:rPr>
              <a:t>符號</a:t>
            </a:r>
          </a:p>
        </p:txBody>
      </p:sp>
    </p:spTree>
    <p:extLst>
      <p:ext uri="{BB962C8B-B14F-4D97-AF65-F5344CB8AC3E}">
        <p14:creationId xmlns:p14="http://schemas.microsoft.com/office/powerpoint/2010/main" val="37681656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元件外接、模擬、燒錄實驗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叫出 </a:t>
            </a:r>
            <a:r>
              <a:rPr lang="en-US" altLang="zh-TW" dirty="0" smtClean="0"/>
              <a:t>mux2_1 </a:t>
            </a:r>
            <a:r>
              <a:rPr lang="zh-TW" altLang="en-US" dirty="0" smtClean="0"/>
              <a:t>符號元件</a:t>
            </a:r>
            <a:endParaRPr lang="en-US" altLang="zh-TW" dirty="0" smtClean="0"/>
          </a:p>
          <a:p>
            <a:r>
              <a:rPr lang="zh-TW" altLang="en-US" dirty="0" smtClean="0"/>
              <a:t>另存新檔，檔名和專案同名</a:t>
            </a:r>
            <a:endParaRPr lang="en-US" altLang="zh-TW" dirty="0" smtClean="0"/>
          </a:p>
          <a:p>
            <a:r>
              <a:rPr lang="zh-TW" altLang="en-US" dirty="0" smtClean="0"/>
              <a:t>模擬看看波形是否正確</a:t>
            </a:r>
            <a:endParaRPr lang="en-US" altLang="zh-TW" dirty="0" smtClean="0"/>
          </a:p>
          <a:p>
            <a:r>
              <a:rPr lang="zh-TW" altLang="en-US" dirty="0"/>
              <a:t>輸入接開關，輸出接</a:t>
            </a:r>
            <a:r>
              <a:rPr lang="en-US" altLang="zh-TW" dirty="0"/>
              <a:t>led</a:t>
            </a:r>
          </a:p>
          <a:p>
            <a:r>
              <a:rPr lang="zh-TW" altLang="en-US" dirty="0" smtClean="0"/>
              <a:t>燒錄到實驗板驗證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5910566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Mux2_1_bus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600200"/>
            <a:ext cx="6477000" cy="158115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163" y="3753644"/>
            <a:ext cx="1514475" cy="120015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圓角矩形圖說文字 5"/>
          <p:cNvSpPr/>
          <p:nvPr/>
        </p:nvSpPr>
        <p:spPr bwMode="auto">
          <a:xfrm>
            <a:off x="8534400" y="508518"/>
            <a:ext cx="704850" cy="762000"/>
          </a:xfrm>
          <a:prstGeom prst="wedgeRoundRectCallout">
            <a:avLst>
              <a:gd name="adj1" fmla="val -85698"/>
              <a:gd name="adj2" fmla="val 84541"/>
              <a:gd name="adj3" fmla="val 16667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dirty="0" smtClean="0">
                <a:latin typeface="Arial" charset="0"/>
              </a:rPr>
              <a:t>電</a:t>
            </a:r>
            <a:r>
              <a:rPr lang="zh-TW" altLang="en-US" dirty="0">
                <a:latin typeface="Arial" charset="0"/>
              </a:rPr>
              <a:t>路</a:t>
            </a:r>
          </a:p>
        </p:txBody>
      </p:sp>
      <p:sp>
        <p:nvSpPr>
          <p:cNvPr id="7" name="圓角矩形圖說文字 6"/>
          <p:cNvSpPr/>
          <p:nvPr/>
        </p:nvSpPr>
        <p:spPr bwMode="auto">
          <a:xfrm>
            <a:off x="7239000" y="3502301"/>
            <a:ext cx="704850" cy="762000"/>
          </a:xfrm>
          <a:prstGeom prst="wedgeRoundRectCallout">
            <a:avLst>
              <a:gd name="adj1" fmla="val -124087"/>
              <a:gd name="adj2" fmla="val 63725"/>
              <a:gd name="adj3" fmla="val 16667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dirty="0">
                <a:latin typeface="Arial" charset="0"/>
              </a:rPr>
              <a:t>符號</a:t>
            </a:r>
          </a:p>
        </p:txBody>
      </p:sp>
    </p:spTree>
    <p:extLst>
      <p:ext uri="{BB962C8B-B14F-4D97-AF65-F5344CB8AC3E}">
        <p14:creationId xmlns:p14="http://schemas.microsoft.com/office/powerpoint/2010/main" val="341055902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元件外接、模擬、燒錄實驗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叫出 </a:t>
            </a:r>
            <a:r>
              <a:rPr lang="en-US" altLang="zh-TW" dirty="0" smtClean="0"/>
              <a:t>mux2_1_bus </a:t>
            </a:r>
            <a:r>
              <a:rPr lang="zh-TW" altLang="en-US" dirty="0" smtClean="0"/>
              <a:t>符號元件</a:t>
            </a:r>
            <a:endParaRPr lang="en-US" altLang="zh-TW" dirty="0" smtClean="0"/>
          </a:p>
          <a:p>
            <a:r>
              <a:rPr lang="zh-TW" altLang="en-US" dirty="0" smtClean="0"/>
              <a:t>另存新檔，檔名和專案同名</a:t>
            </a:r>
            <a:endParaRPr lang="en-US" altLang="zh-TW" dirty="0" smtClean="0"/>
          </a:p>
          <a:p>
            <a:r>
              <a:rPr lang="zh-TW" altLang="en-US" dirty="0" smtClean="0"/>
              <a:t>模擬看看波形是否正確</a:t>
            </a:r>
            <a:endParaRPr lang="en-US" altLang="zh-TW" dirty="0" smtClean="0"/>
          </a:p>
          <a:p>
            <a:r>
              <a:rPr lang="zh-TW" altLang="en-US" dirty="0"/>
              <a:t>輸入接開關，輸出接</a:t>
            </a:r>
            <a:r>
              <a:rPr lang="en-US" altLang="zh-TW" dirty="0"/>
              <a:t>led</a:t>
            </a:r>
          </a:p>
          <a:p>
            <a:r>
              <a:rPr lang="zh-TW" altLang="en-US" dirty="0" smtClean="0"/>
              <a:t>燒錄到實驗板驗證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2057186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Mux4_1_bus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以</a:t>
            </a:r>
            <a:r>
              <a:rPr lang="en-US" altLang="zh-TW" dirty="0" smtClean="0"/>
              <a:t>3</a:t>
            </a:r>
            <a:r>
              <a:rPr lang="zh-TW" altLang="en-US" dirty="0" smtClean="0"/>
              <a:t>個 </a:t>
            </a:r>
            <a:r>
              <a:rPr lang="en-US" altLang="zh-TW" dirty="0" smtClean="0"/>
              <a:t>mux2_1_bus </a:t>
            </a:r>
            <a:r>
              <a:rPr lang="zh-TW" altLang="en-US" dirty="0" smtClean="0"/>
              <a:t>組成一個 </a:t>
            </a:r>
            <a:r>
              <a:rPr lang="en-US" altLang="zh-TW" dirty="0" smtClean="0"/>
              <a:t>mux4_1_bus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1" y="2133601"/>
            <a:ext cx="8438677" cy="292834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925" y="5247685"/>
            <a:ext cx="1504950" cy="130492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圓角矩形圖說文字 5"/>
          <p:cNvSpPr/>
          <p:nvPr/>
        </p:nvSpPr>
        <p:spPr bwMode="auto">
          <a:xfrm>
            <a:off x="9553575" y="5452626"/>
            <a:ext cx="704850" cy="762000"/>
          </a:xfrm>
          <a:prstGeom prst="wedgeRoundRectCallout">
            <a:avLst>
              <a:gd name="adj1" fmla="val -208809"/>
              <a:gd name="adj2" fmla="val -184847"/>
              <a:gd name="adj3" fmla="val 16667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dirty="0" smtClean="0">
                <a:latin typeface="Arial" charset="0"/>
              </a:rPr>
              <a:t>電</a:t>
            </a:r>
            <a:r>
              <a:rPr lang="zh-TW" altLang="en-US" dirty="0">
                <a:latin typeface="Arial" charset="0"/>
              </a:rPr>
              <a:t>路</a:t>
            </a:r>
          </a:p>
        </p:txBody>
      </p:sp>
      <p:sp>
        <p:nvSpPr>
          <p:cNvPr id="7" name="圓角矩形圖說文字 6"/>
          <p:cNvSpPr/>
          <p:nvPr/>
        </p:nvSpPr>
        <p:spPr bwMode="auto">
          <a:xfrm>
            <a:off x="7391400" y="5214347"/>
            <a:ext cx="704850" cy="762000"/>
          </a:xfrm>
          <a:prstGeom prst="wedgeRoundRectCallout">
            <a:avLst>
              <a:gd name="adj1" fmla="val -124087"/>
              <a:gd name="adj2" fmla="val 63725"/>
              <a:gd name="adj3" fmla="val 16667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dirty="0">
                <a:latin typeface="Arial" charset="0"/>
              </a:rPr>
              <a:t>符號</a:t>
            </a:r>
          </a:p>
        </p:txBody>
      </p:sp>
      <p:graphicFrame>
        <p:nvGraphicFramePr>
          <p:cNvPr id="8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719414"/>
              </p:ext>
            </p:extLst>
          </p:nvPr>
        </p:nvGraphicFramePr>
        <p:xfrm>
          <a:off x="1905000" y="4648200"/>
          <a:ext cx="1905000" cy="213360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選擇線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輸出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s[1]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s[0]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In[0]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In[1]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In[2]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In[3]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72634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元件外接、模擬、燒錄實驗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叫出 </a:t>
            </a:r>
            <a:r>
              <a:rPr lang="en-US" altLang="zh-TW" dirty="0" smtClean="0"/>
              <a:t>mux4_1_bus </a:t>
            </a:r>
            <a:r>
              <a:rPr lang="zh-TW" altLang="en-US" dirty="0" smtClean="0"/>
              <a:t>符號元件</a:t>
            </a:r>
            <a:endParaRPr lang="en-US" altLang="zh-TW" dirty="0" smtClean="0"/>
          </a:p>
          <a:p>
            <a:r>
              <a:rPr lang="zh-TW" altLang="en-US" dirty="0" smtClean="0"/>
              <a:t>另存新檔，檔名和專案同名</a:t>
            </a:r>
            <a:endParaRPr lang="en-US" altLang="zh-TW" dirty="0" smtClean="0"/>
          </a:p>
          <a:p>
            <a:r>
              <a:rPr lang="zh-TW" altLang="en-US" dirty="0" smtClean="0"/>
              <a:t>模擬看看波形是否正確</a:t>
            </a:r>
            <a:endParaRPr lang="en-US" altLang="zh-TW" dirty="0" smtClean="0"/>
          </a:p>
          <a:p>
            <a:r>
              <a:rPr lang="zh-TW" altLang="en-US" dirty="0"/>
              <a:t>輸入接開關，輸出接</a:t>
            </a:r>
            <a:r>
              <a:rPr lang="en-US" altLang="zh-TW" dirty="0"/>
              <a:t>led</a:t>
            </a:r>
          </a:p>
          <a:p>
            <a:r>
              <a:rPr lang="zh-TW" altLang="en-US" dirty="0" smtClean="0"/>
              <a:t>燒錄到實驗板驗證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850365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Mux2_1_2b_bus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以</a:t>
            </a:r>
            <a:r>
              <a:rPr lang="en-US" altLang="zh-TW" dirty="0" smtClean="0"/>
              <a:t>2</a:t>
            </a:r>
            <a:r>
              <a:rPr lang="zh-TW" altLang="en-US" dirty="0" smtClean="0"/>
              <a:t>個 </a:t>
            </a:r>
            <a:r>
              <a:rPr lang="en-US" altLang="zh-TW" dirty="0" smtClean="0"/>
              <a:t>mux2_1_bus </a:t>
            </a:r>
            <a:r>
              <a:rPr lang="zh-TW" altLang="en-US" dirty="0" smtClean="0"/>
              <a:t>組成一個 </a:t>
            </a:r>
            <a:r>
              <a:rPr lang="en-US" altLang="zh-TW" dirty="0" smtClean="0"/>
              <a:t>mux2_1_2b_bus</a:t>
            </a:r>
          </a:p>
          <a:p>
            <a:r>
              <a:rPr lang="zh-TW" altLang="en-US" dirty="0" smtClean="0"/>
              <a:t>要另外製作 接線轉匯流排 的轉接元件 </a:t>
            </a:r>
            <a:r>
              <a:rPr lang="en-US" altLang="zh-TW" dirty="0" smtClean="0"/>
              <a:t>wire2_bus</a:t>
            </a:r>
            <a:r>
              <a:rPr lang="zh-TW" altLang="en-US" dirty="0" smtClean="0"/>
              <a:t>才能完成這個實驗</a:t>
            </a:r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1" y="3429001"/>
            <a:ext cx="4010025" cy="168592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0" y="3429000"/>
            <a:ext cx="1504950" cy="129540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圓角矩形圖說文字 5"/>
          <p:cNvSpPr/>
          <p:nvPr/>
        </p:nvSpPr>
        <p:spPr bwMode="auto">
          <a:xfrm>
            <a:off x="6629400" y="5452626"/>
            <a:ext cx="704850" cy="762000"/>
          </a:xfrm>
          <a:prstGeom prst="wedgeRoundRectCallout">
            <a:avLst>
              <a:gd name="adj1" fmla="val -208809"/>
              <a:gd name="adj2" fmla="val -184847"/>
              <a:gd name="adj3" fmla="val 16667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dirty="0" smtClean="0">
                <a:latin typeface="Arial" charset="0"/>
              </a:rPr>
              <a:t>電</a:t>
            </a:r>
            <a:r>
              <a:rPr lang="zh-TW" altLang="en-US" dirty="0">
                <a:latin typeface="Arial" charset="0"/>
              </a:rPr>
              <a:t>路</a:t>
            </a:r>
          </a:p>
        </p:txBody>
      </p:sp>
      <p:sp>
        <p:nvSpPr>
          <p:cNvPr id="7" name="圓角矩形圖說文字 6"/>
          <p:cNvSpPr/>
          <p:nvPr/>
        </p:nvSpPr>
        <p:spPr bwMode="auto">
          <a:xfrm>
            <a:off x="8820150" y="5214347"/>
            <a:ext cx="704850" cy="762000"/>
          </a:xfrm>
          <a:prstGeom prst="wedgeRoundRectCallout">
            <a:avLst>
              <a:gd name="adj1" fmla="val -142620"/>
              <a:gd name="adj2" fmla="val -151785"/>
              <a:gd name="adj3" fmla="val 16667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dirty="0">
                <a:latin typeface="Arial" charset="0"/>
              </a:rPr>
              <a:t>符號</a:t>
            </a:r>
          </a:p>
        </p:txBody>
      </p:sp>
    </p:spTree>
    <p:extLst>
      <p:ext uri="{BB962C8B-B14F-4D97-AF65-F5344CB8AC3E}">
        <p14:creationId xmlns:p14="http://schemas.microsoft.com/office/powerpoint/2010/main" val="29978209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Mux2_1_2b_bus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5210176"/>
            <a:ext cx="1828800" cy="126682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756" y="1066800"/>
            <a:ext cx="7256461" cy="387870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圓角矩形圖說文字 5"/>
          <p:cNvSpPr/>
          <p:nvPr/>
        </p:nvSpPr>
        <p:spPr bwMode="auto">
          <a:xfrm>
            <a:off x="9429750" y="5061371"/>
            <a:ext cx="704850" cy="762000"/>
          </a:xfrm>
          <a:prstGeom prst="wedgeRoundRectCallout">
            <a:avLst>
              <a:gd name="adj1" fmla="val -208809"/>
              <a:gd name="adj2" fmla="val -184847"/>
              <a:gd name="adj3" fmla="val 16667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dirty="0" smtClean="0">
                <a:latin typeface="Arial" charset="0"/>
              </a:rPr>
              <a:t>電</a:t>
            </a:r>
            <a:r>
              <a:rPr lang="zh-TW" altLang="en-US" dirty="0">
                <a:latin typeface="Arial" charset="0"/>
              </a:rPr>
              <a:t>路</a:t>
            </a:r>
          </a:p>
        </p:txBody>
      </p:sp>
      <p:sp>
        <p:nvSpPr>
          <p:cNvPr id="7" name="圓角矩形圖說文字 6"/>
          <p:cNvSpPr/>
          <p:nvPr/>
        </p:nvSpPr>
        <p:spPr bwMode="auto">
          <a:xfrm>
            <a:off x="7620000" y="5887244"/>
            <a:ext cx="704850" cy="762000"/>
          </a:xfrm>
          <a:prstGeom prst="wedgeRoundRectCallout">
            <a:avLst>
              <a:gd name="adj1" fmla="val -208809"/>
              <a:gd name="adj2" fmla="val -41581"/>
              <a:gd name="adj3" fmla="val 16667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dirty="0">
                <a:latin typeface="Arial" charset="0"/>
              </a:rPr>
              <a:t>符號</a:t>
            </a:r>
          </a:p>
        </p:txBody>
      </p:sp>
    </p:spTree>
    <p:extLst>
      <p:ext uri="{BB962C8B-B14F-4D97-AF65-F5344CB8AC3E}">
        <p14:creationId xmlns:p14="http://schemas.microsoft.com/office/powerpoint/2010/main" val="207511963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元件外接、模擬、燒錄實驗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叫出 </a:t>
            </a:r>
            <a:r>
              <a:rPr lang="en-US" altLang="zh-TW" dirty="0" smtClean="0"/>
              <a:t>mux2_1_2b_bus </a:t>
            </a:r>
            <a:r>
              <a:rPr lang="zh-TW" altLang="en-US" dirty="0" smtClean="0"/>
              <a:t>符號元件</a:t>
            </a:r>
            <a:endParaRPr lang="en-US" altLang="zh-TW" dirty="0" smtClean="0"/>
          </a:p>
          <a:p>
            <a:r>
              <a:rPr lang="zh-TW" altLang="en-US" dirty="0" smtClean="0"/>
              <a:t>另存新檔，檔名和專案同名</a:t>
            </a:r>
            <a:endParaRPr lang="en-US" altLang="zh-TW" dirty="0" smtClean="0"/>
          </a:p>
          <a:p>
            <a:r>
              <a:rPr lang="zh-TW" altLang="en-US" dirty="0" smtClean="0"/>
              <a:t>模擬看看波形是否正確</a:t>
            </a:r>
            <a:endParaRPr lang="en-US" altLang="zh-TW" dirty="0" smtClean="0"/>
          </a:p>
          <a:p>
            <a:r>
              <a:rPr lang="zh-TW" altLang="en-US" dirty="0"/>
              <a:t>輸入接開關，輸出接</a:t>
            </a:r>
            <a:r>
              <a:rPr lang="en-US" altLang="zh-TW" dirty="0"/>
              <a:t>led</a:t>
            </a:r>
          </a:p>
          <a:p>
            <a:r>
              <a:rPr lang="zh-TW" altLang="en-US" dirty="0" smtClean="0"/>
              <a:t>燒錄到實驗板驗證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228884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元件外接、模擬、燒錄實驗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zh-TW" altLang="en-US" dirty="0" smtClean="0"/>
              <a:t>設計 </a:t>
            </a:r>
            <a:r>
              <a:rPr lang="en-US" altLang="zh-TW" dirty="0" smtClean="0"/>
              <a:t>mux2_1_</a:t>
            </a:r>
            <a:r>
              <a:rPr lang="en-US" altLang="zh-TW" dirty="0" smtClean="0">
                <a:solidFill>
                  <a:srgbClr val="FF0000"/>
                </a:solidFill>
              </a:rPr>
              <a:t>4b</a:t>
            </a:r>
            <a:r>
              <a:rPr lang="en-US" altLang="zh-TW" dirty="0" smtClean="0"/>
              <a:t>_bus </a:t>
            </a:r>
            <a:r>
              <a:rPr lang="zh-TW" altLang="en-US" dirty="0" smtClean="0"/>
              <a:t>電路</a:t>
            </a:r>
            <a:r>
              <a:rPr lang="zh-TW" altLang="en-US" dirty="0"/>
              <a:t>元件</a:t>
            </a:r>
            <a:r>
              <a:rPr lang="zh-TW" altLang="en-US" dirty="0" smtClean="0"/>
              <a:t>並做成符號</a:t>
            </a:r>
            <a:endParaRPr lang="en-US" altLang="zh-TW" dirty="0" smtClean="0"/>
          </a:p>
          <a:p>
            <a:r>
              <a:rPr lang="zh-TW" altLang="en-US" dirty="0" smtClean="0"/>
              <a:t>另存新檔，檔名和專案同名</a:t>
            </a:r>
            <a:endParaRPr lang="en-US" altLang="zh-TW" dirty="0" smtClean="0"/>
          </a:p>
          <a:p>
            <a:r>
              <a:rPr lang="zh-TW" altLang="en-US" dirty="0" smtClean="0"/>
              <a:t>模擬看看波形是否正確</a:t>
            </a:r>
            <a:endParaRPr lang="en-US" altLang="zh-TW" dirty="0" smtClean="0"/>
          </a:p>
          <a:p>
            <a:r>
              <a:rPr lang="zh-TW" altLang="en-US" dirty="0"/>
              <a:t>叫出符號，輸入接開關，輸出接</a:t>
            </a:r>
            <a:r>
              <a:rPr lang="en-US" altLang="zh-TW" dirty="0"/>
              <a:t>led</a:t>
            </a:r>
          </a:p>
          <a:p>
            <a:r>
              <a:rPr lang="zh-TW" altLang="en-US" dirty="0" smtClean="0"/>
              <a:t>燒錄到實驗板驗證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76" y="4773434"/>
            <a:ext cx="10907647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9229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zh-TW" altLang="en-US" dirty="0" smtClean="0"/>
              <a:t>解多工器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Demultiplexer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5" name="副標題 4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4396475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 </a:t>
            </a:r>
            <a:r>
              <a:rPr lang="zh-TW" altLang="en-US" dirty="0"/>
              <a:t>對 </a:t>
            </a:r>
            <a:r>
              <a:rPr lang="en-US" altLang="zh-TW" dirty="0" smtClean="0"/>
              <a:t>2 </a:t>
            </a:r>
            <a:r>
              <a:rPr lang="zh-TW" altLang="en-US" dirty="0"/>
              <a:t>解多工器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>
          <a:xfrm>
            <a:off x="812800" y="1447800"/>
            <a:ext cx="4978400" cy="4611688"/>
          </a:xfrm>
        </p:spPr>
        <p:txBody>
          <a:bodyPr/>
          <a:lstStyle/>
          <a:p>
            <a:r>
              <a:rPr lang="en-US" altLang="zh-TW" dirty="0" smtClean="0"/>
              <a:t>dmux1_2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1524000"/>
            <a:ext cx="6096851" cy="210531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37" y="3916032"/>
            <a:ext cx="2781688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691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Enable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Dmux1_2e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413933"/>
            <a:ext cx="7116168" cy="245779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4191000"/>
            <a:ext cx="1800476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73095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Bus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447800"/>
            <a:ext cx="6925642" cy="265784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956" y="4563833"/>
            <a:ext cx="1695687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93360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習題</a:t>
            </a:r>
            <a:r>
              <a:rPr lang="en-US" altLang="zh-TW" dirty="0" smtClean="0"/>
              <a:t>(</a:t>
            </a:r>
            <a:r>
              <a:rPr lang="en-US" altLang="zh-TW" dirty="0"/>
              <a:t>1 </a:t>
            </a:r>
            <a:r>
              <a:rPr lang="zh-TW" altLang="en-US" dirty="0"/>
              <a:t>對 </a:t>
            </a:r>
            <a:r>
              <a:rPr lang="en-US" altLang="zh-TW" dirty="0"/>
              <a:t>4 </a:t>
            </a:r>
            <a:r>
              <a:rPr lang="zh-TW" altLang="en-US" dirty="0"/>
              <a:t>解多工器</a:t>
            </a:r>
            <a:r>
              <a:rPr lang="en-US" altLang="zh-TW" dirty="0" smtClean="0"/>
              <a:t>)</a:t>
            </a:r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51535" y="1447800"/>
            <a:ext cx="9736531" cy="4611688"/>
          </a:xfrm>
        </p:spPr>
        <p:txBody>
          <a:bodyPr/>
          <a:lstStyle/>
          <a:p>
            <a:pPr eaLnBrk="1" hangingPunct="1">
              <a:defRPr/>
            </a:pPr>
            <a:r>
              <a:rPr lang="zh-TW" altLang="en-US" sz="2800" dirty="0"/>
              <a:t>設計一含致能腳「</a:t>
            </a:r>
            <a:r>
              <a:rPr lang="en-US" altLang="zh-TW" sz="2800" dirty="0"/>
              <a:t>E</a:t>
            </a:r>
            <a:r>
              <a:rPr lang="zh-TW" altLang="en-US" sz="2800" dirty="0"/>
              <a:t>」的 </a:t>
            </a:r>
            <a:r>
              <a:rPr lang="en-US" altLang="zh-TW" sz="2800" dirty="0"/>
              <a:t>1 </a:t>
            </a:r>
            <a:r>
              <a:rPr lang="zh-TW" altLang="en-US" sz="2800" dirty="0"/>
              <a:t>對 </a:t>
            </a:r>
            <a:r>
              <a:rPr lang="en-US" altLang="zh-TW" sz="2800" dirty="0"/>
              <a:t>4 </a:t>
            </a:r>
            <a:r>
              <a:rPr lang="zh-TW" altLang="en-US" sz="2800" dirty="0"/>
              <a:t>解多工器，請利用之前建好的</a:t>
            </a:r>
            <a:r>
              <a:rPr lang="zh-TW" altLang="en-US" sz="2800" dirty="0" smtClean="0"/>
              <a:t>元件做延伸，請</a:t>
            </a:r>
            <a:r>
              <a:rPr lang="zh-TW" altLang="en-US" sz="2800" dirty="0"/>
              <a:t>繪出電路並進行模擬和實驗。</a:t>
            </a:r>
          </a:p>
        </p:txBody>
      </p:sp>
      <p:graphicFrame>
        <p:nvGraphicFramePr>
          <p:cNvPr id="401539" name="Group 131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229452473"/>
              </p:ext>
            </p:extLst>
          </p:nvPr>
        </p:nvGraphicFramePr>
        <p:xfrm>
          <a:off x="5181600" y="4322760"/>
          <a:ext cx="4876800" cy="2230440"/>
        </p:xfrm>
        <a:graphic>
          <a:graphicData uri="http://schemas.openxmlformats.org/drawingml/2006/table">
            <a:tbl>
              <a:tblPr/>
              <a:tblGrid>
                <a:gridCol w="696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6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69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69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908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選擇線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致能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輸出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S[1]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S[0]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Y[3]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Y[2]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Y[1]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Y[0]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empus Sans ITC" pitchFamily="82" charset="0"/>
                          <a:ea typeface="金梅浪漫原體字" pitchFamily="49" charset="-12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2362200"/>
            <a:ext cx="6040738" cy="1703431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78" y="2361601"/>
            <a:ext cx="5553268" cy="1785175"/>
          </a:xfrm>
          <a:prstGeom prst="rect">
            <a:avLst/>
          </a:prstGeom>
        </p:spPr>
      </p:pic>
      <p:sp>
        <p:nvSpPr>
          <p:cNvPr id="18" name="向左箭號 17"/>
          <p:cNvSpPr/>
          <p:nvPr/>
        </p:nvSpPr>
        <p:spPr bwMode="auto">
          <a:xfrm>
            <a:off x="4953001" y="2899193"/>
            <a:ext cx="990600" cy="629444"/>
          </a:xfrm>
          <a:prstGeom prst="leftArrow">
            <a:avLst>
              <a:gd name="adj1" fmla="val 50000"/>
              <a:gd name="adj2" fmla="val 77410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573725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波形</a:t>
            </a:r>
            <a:endParaRPr lang="en-US" altLang="zh-TW" dirty="0" smtClean="0"/>
          </a:p>
        </p:txBody>
      </p:sp>
      <p:sp>
        <p:nvSpPr>
          <p:cNvPr id="403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51535" y="1447800"/>
            <a:ext cx="9736531" cy="4611688"/>
          </a:xfrm>
        </p:spPr>
        <p:txBody>
          <a:bodyPr/>
          <a:lstStyle/>
          <a:p>
            <a:pPr eaLnBrk="1" hangingPunct="1">
              <a:defRPr/>
            </a:pPr>
            <a:endParaRPr lang="zh-TW" altLang="en-US" sz="2800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2"/>
          <a:srcRect l="2313"/>
          <a:stretch/>
        </p:blipFill>
        <p:spPr>
          <a:xfrm>
            <a:off x="139942" y="2209800"/>
            <a:ext cx="12019401" cy="159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4225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專案概觀">
  <a:themeElements>
    <a:clrScheme name="專案概觀 1">
      <a:dk1>
        <a:srgbClr val="000000"/>
      </a:dk1>
      <a:lt1>
        <a:srgbClr val="FFFFFF"/>
      </a:lt1>
      <a:dk2>
        <a:srgbClr val="0066CC"/>
      </a:dk2>
      <a:lt2>
        <a:srgbClr val="CBCBCB"/>
      </a:lt2>
      <a:accent1>
        <a:srgbClr val="00CCFF"/>
      </a:accent1>
      <a:accent2>
        <a:srgbClr val="00FFCC"/>
      </a:accent2>
      <a:accent3>
        <a:srgbClr val="AAB8E2"/>
      </a:accent3>
      <a:accent4>
        <a:srgbClr val="DADADA"/>
      </a:accent4>
      <a:accent5>
        <a:srgbClr val="AAE2FF"/>
      </a:accent5>
      <a:accent6>
        <a:srgbClr val="00E7B9"/>
      </a:accent6>
      <a:hlink>
        <a:srgbClr val="FF3300"/>
      </a:hlink>
      <a:folHlink>
        <a:srgbClr val="FF7C80"/>
      </a:folHlink>
    </a:clrScheme>
    <a:fontScheme name="專案概觀">
      <a:majorFont>
        <a:latin typeface="Tempus Sans ITC"/>
        <a:ea typeface="金梅浪漫原體字"/>
        <a:cs typeface=""/>
      </a:majorFont>
      <a:minorFont>
        <a:latin typeface="Tempus Sans ITC"/>
        <a:ea typeface="金梅浪漫原體字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專案概觀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專案概觀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專案概觀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Evolutionary Development of Hierarchical Learning Structures</Template>
  <TotalTime>11757</TotalTime>
  <Words>674</Words>
  <Application>Microsoft Office PowerPoint</Application>
  <PresentationFormat>寬螢幕</PresentationFormat>
  <Paragraphs>216</Paragraphs>
  <Slides>26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7" baseType="lpstr">
      <vt:lpstr>Arial Unicode MS</vt:lpstr>
      <vt:lpstr>金梅浪漫原體字</vt:lpstr>
      <vt:lpstr>華康唐風隸</vt:lpstr>
      <vt:lpstr>新細明體</vt:lpstr>
      <vt:lpstr>標楷體</vt:lpstr>
      <vt:lpstr>Arial</vt:lpstr>
      <vt:lpstr>Cambria Math</vt:lpstr>
      <vt:lpstr>Tempus Sans ITC</vt:lpstr>
      <vt:lpstr>Times New Roman</vt:lpstr>
      <vt:lpstr>Wingdings</vt:lpstr>
      <vt:lpstr>專案概觀</vt:lpstr>
      <vt:lpstr>Lab 2</vt:lpstr>
      <vt:lpstr>基本邏輯閘應用</vt:lpstr>
      <vt:lpstr>基本邏輯閘應用</vt:lpstr>
      <vt:lpstr>DeMorgan’s Law</vt:lpstr>
      <vt:lpstr>Lab 2.1A</vt:lpstr>
      <vt:lpstr>Lab 2.1.B</vt:lpstr>
      <vt:lpstr>Lab 2.1.C</vt:lpstr>
      <vt:lpstr>Lab 2A</vt:lpstr>
      <vt:lpstr>Lab 2B</vt:lpstr>
      <vt:lpstr>多工器</vt:lpstr>
      <vt:lpstr>mux2-1</vt:lpstr>
      <vt:lpstr>元件外接、模擬、燒錄實驗</vt:lpstr>
      <vt:lpstr>Mux2_1_bus</vt:lpstr>
      <vt:lpstr>元件外接、模擬、燒錄實驗</vt:lpstr>
      <vt:lpstr>Mux4_1_bus</vt:lpstr>
      <vt:lpstr>元件外接、模擬、燒錄實驗</vt:lpstr>
      <vt:lpstr>Mux2_1_2b_bus</vt:lpstr>
      <vt:lpstr>Mux2_1_2b_bus</vt:lpstr>
      <vt:lpstr>元件外接、模擬、燒錄實驗</vt:lpstr>
      <vt:lpstr>元件外接、模擬、燒錄實驗</vt:lpstr>
      <vt:lpstr>解多工器(Demultiplexer)</vt:lpstr>
      <vt:lpstr>1 對 2 解多工器</vt:lpstr>
      <vt:lpstr>Enable </vt:lpstr>
      <vt:lpstr>Bus </vt:lpstr>
      <vt:lpstr>習題(1 對 4 解多工器)</vt:lpstr>
      <vt:lpstr>波形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316</cp:revision>
  <cp:lastPrinted>1601-01-01T00:00:00Z</cp:lastPrinted>
  <dcterms:created xsi:type="dcterms:W3CDTF">1601-01-01T00:00:00Z</dcterms:created>
  <dcterms:modified xsi:type="dcterms:W3CDTF">2025-02-22T05:15:00Z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