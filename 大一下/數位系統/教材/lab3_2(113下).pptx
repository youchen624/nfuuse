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1"/>
  </p:sldMasterIdLst>
  <p:notesMasterIdLst>
    <p:notesMasterId r:id="rId13"/>
  </p:notesMasterIdLst>
  <p:handoutMasterIdLst>
    <p:handoutMasterId r:id="rId14"/>
  </p:handoutMasterIdLst>
  <p:sldIdLst>
    <p:sldId id="311" r:id="rId2"/>
    <p:sldId id="314" r:id="rId3"/>
    <p:sldId id="322" r:id="rId4"/>
    <p:sldId id="324" r:id="rId5"/>
    <p:sldId id="316" r:id="rId6"/>
    <p:sldId id="323" r:id="rId7"/>
    <p:sldId id="317" r:id="rId8"/>
    <p:sldId id="318" r:id="rId9"/>
    <p:sldId id="319" r:id="rId10"/>
    <p:sldId id="320" r:id="rId11"/>
    <p:sldId id="321" r:id="rId12"/>
  </p:sldIdLst>
  <p:sldSz cx="12192000" cy="6858000"/>
  <p:notesSz cx="7099300" cy="1023461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66"/>
    <a:srgbClr val="FF0000"/>
    <a:srgbClr val="793C21"/>
    <a:srgbClr val="65321B"/>
    <a:srgbClr val="00FF00"/>
    <a:srgbClr val="0066FF"/>
    <a:srgbClr val="33CC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90" autoAdjust="0"/>
    <p:restoredTop sz="94660"/>
  </p:normalViewPr>
  <p:slideViewPr>
    <p:cSldViewPr>
      <p:cViewPr varScale="1">
        <p:scale>
          <a:sx n="114" d="100"/>
          <a:sy n="114" d="100"/>
        </p:scale>
        <p:origin x="768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1" rIns="91424" bIns="45711" numCol="1" anchor="t" anchorCtr="0" compatLnSpc="1">
            <a:prstTxWarp prst="textNoShape">
              <a:avLst/>
            </a:prstTxWarp>
          </a:bodyPr>
          <a:lstStyle>
            <a:lvl1pPr defTabSz="912813">
              <a:defRPr sz="11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420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1" rIns="91424" bIns="45711" numCol="1" anchor="t" anchorCtr="0" compatLnSpc="1">
            <a:prstTxWarp prst="textNoShape">
              <a:avLst/>
            </a:prstTxWarp>
          </a:bodyPr>
          <a:lstStyle>
            <a:lvl1pPr algn="r" defTabSz="912813">
              <a:defRPr sz="11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420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1" rIns="91424" bIns="45711" numCol="1" anchor="b" anchorCtr="0" compatLnSpc="1">
            <a:prstTxWarp prst="textNoShape">
              <a:avLst/>
            </a:prstTxWarp>
          </a:bodyPr>
          <a:lstStyle>
            <a:lvl1pPr defTabSz="912813">
              <a:defRPr sz="11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420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1" rIns="91424" bIns="45711" numCol="1" anchor="b" anchorCtr="0" compatLnSpc="1">
            <a:prstTxWarp prst="textNoShape">
              <a:avLst/>
            </a:prstTxWarp>
          </a:bodyPr>
          <a:lstStyle>
            <a:lvl1pPr algn="r" defTabSz="912813">
              <a:defRPr sz="1100">
                <a:ea typeface="新細明體" panose="02020500000000000000" pitchFamily="18" charset="-120"/>
              </a:defRPr>
            </a:lvl1pPr>
          </a:lstStyle>
          <a:p>
            <a:fld id="{3D8F85B8-EAF3-4BF2-A112-64FC54F0573C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0" tIns="49514" rIns="99030" bIns="4951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0" tIns="49514" rIns="99030" bIns="4951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1288" y="768350"/>
            <a:ext cx="68183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0" tIns="49514" rIns="99030" bIns="49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0" tIns="49514" rIns="99030" bIns="4951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0" tIns="49514" rIns="99030" bIns="4951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ea typeface="新細明體" panose="02020500000000000000" pitchFamily="18" charset="-120"/>
              </a:defRPr>
            </a:lvl1pPr>
          </a:lstStyle>
          <a:p>
            <a:fld id="{670B7120-5108-4089-B2D1-C7B899683C64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83532F9-7E29-44FF-9FCE-7C042C4347EC}" type="slidenum">
              <a:rPr lang="en-US" altLang="zh-TW" sz="1300" smtClean="0"/>
              <a:pPr>
                <a:spcBef>
                  <a:spcPct val="0"/>
                </a:spcBef>
              </a:pPr>
              <a:t>2</a:t>
            </a:fld>
            <a:endParaRPr lang="en-US" altLang="zh-TW" sz="1300" smtClean="0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18312" cy="3836988"/>
          </a:xfrm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667126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gradFill rotWithShape="0">
          <a:gsLst>
            <a:gs pos="0">
              <a:srgbClr val="002F5E"/>
            </a:gs>
            <a:gs pos="50000">
              <a:schemeClr val="bg1"/>
            </a:gs>
            <a:gs pos="100000">
              <a:srgbClr val="002F5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08000" y="1"/>
            <a:ext cx="1930400" cy="6856413"/>
          </a:xfrm>
          <a:prstGeom prst="rect">
            <a:avLst/>
          </a:prstGeom>
          <a:gradFill rotWithShape="0">
            <a:gsLst>
              <a:gs pos="0">
                <a:schemeClr val="bg1">
                  <a:gamma/>
                  <a:shade val="61961"/>
                  <a:invGamma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bg1">
                  <a:gamma/>
                  <a:shade val="61961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TW" altLang="zh-TW" sz="240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914401" y="2438400"/>
            <a:ext cx="11275484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15294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TW" altLang="zh-TW" sz="240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0" y="3505200"/>
            <a:ext cx="6299200" cy="152400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2400" smtClean="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7" name="WordArt 10"/>
          <p:cNvSpPr>
            <a:spLocks noChangeArrowheads="1" noChangeShapeType="1" noTextEdit="1"/>
          </p:cNvSpPr>
          <p:nvPr/>
        </p:nvSpPr>
        <p:spPr bwMode="auto">
          <a:xfrm rot="5400000">
            <a:off x="-2972857" y="2972858"/>
            <a:ext cx="6858000" cy="91228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wordArtVert"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auto"/>
            <a:r>
              <a:rPr lang="en-US" altLang="zh-TW" sz="3600" b="1" kern="10">
                <a:solidFill>
                  <a:schemeClr val="bg1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標楷體" panose="03000509000000000000" pitchFamily="65" charset="-120"/>
              </a:rPr>
              <a:t>National Formosa University</a:t>
            </a:r>
            <a:endParaRPr lang="zh-TW" altLang="en-US" sz="3600" b="1" kern="10">
              <a:solidFill>
                <a:schemeClr val="bg1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標楷體" panose="03000509000000000000" pitchFamily="65" charset="-120"/>
            </a:endParaRPr>
          </a:p>
        </p:txBody>
      </p:sp>
      <p:sp>
        <p:nvSpPr>
          <p:cNvPr id="110596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10597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743200" y="41148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b="0"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asfasdfadfadfasdfasfasdf</a:t>
            </a: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1E4033-A0E2-45EB-8B4D-8DE091B6338B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1384157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34280C-A8B1-4ECD-B75F-CC3410F1DAD0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4474294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F23633-49D2-4D6A-ADB3-8918E0AE862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302208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117600" y="1447800"/>
            <a:ext cx="5080000" cy="4611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400800" y="1447800"/>
            <a:ext cx="5080000" cy="4611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1A623E-8655-4132-A78C-E49202BA21E5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0595673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5DD040-26A1-4F99-8754-FE95E4F85A1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114181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2B7E04-757A-4A9D-A0CC-98901E93BFA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9249167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81822E-9EEB-4D09-83BE-FC6EC29E940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5108749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2D6186-1AD2-4F30-B66E-546A394F2FF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6492667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8D3F8B-82C7-4B35-ACD4-4A97F96B1BD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2738092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36F589-1D63-4F20-B620-2D88C16F5C2B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661870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13800" y="152400"/>
            <a:ext cx="2667000" cy="590708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12800" y="152400"/>
            <a:ext cx="7797800" cy="590708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E792E1-36DF-408E-A9FF-6B57C16A736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67242405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12800" y="152400"/>
            <a:ext cx="103632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1117600" y="1447800"/>
            <a:ext cx="10363200" cy="4611688"/>
          </a:xfrm>
        </p:spPr>
        <p:txBody>
          <a:bodyPr/>
          <a:lstStyle/>
          <a:p>
            <a:pPr lvl="0"/>
            <a:endParaRPr lang="zh-TW" altLang="en-US" noProof="0" smtClean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C55A53-1EB6-4120-9246-351D6D9481D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61900818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12800" y="152400"/>
            <a:ext cx="103632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1117600" y="1447800"/>
            <a:ext cx="5080000" cy="46116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400800" y="1447800"/>
            <a:ext cx="5080000" cy="46116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3A96B0-EA37-49A8-92DF-4E8D77C0BE1F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8082432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002F5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ChangeArrowheads="1"/>
          </p:cNvSpPr>
          <p:nvPr/>
        </p:nvSpPr>
        <p:spPr bwMode="auto">
          <a:xfrm>
            <a:off x="508000" y="1"/>
            <a:ext cx="1930400" cy="6856413"/>
          </a:xfrm>
          <a:prstGeom prst="rect">
            <a:avLst/>
          </a:prstGeom>
          <a:gradFill rotWithShape="0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gamma/>
                  <a:shade val="61961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TW" altLang="zh-TW" sz="240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239184" y="1341438"/>
            <a:ext cx="6299200" cy="152400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2400" smtClean="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09572" name="Rectangle 4"/>
          <p:cNvSpPr>
            <a:spLocks noChangeArrowheads="1"/>
          </p:cNvSpPr>
          <p:nvPr/>
        </p:nvSpPr>
        <p:spPr bwMode="auto">
          <a:xfrm>
            <a:off x="914400" y="6629401"/>
            <a:ext cx="4673600" cy="22701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TW" altLang="zh-TW" sz="240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09573" name="Rectangle 5"/>
          <p:cNvSpPr>
            <a:spLocks noChangeArrowheads="1"/>
          </p:cNvSpPr>
          <p:nvPr/>
        </p:nvSpPr>
        <p:spPr bwMode="auto">
          <a:xfrm>
            <a:off x="1018117" y="404813"/>
            <a:ext cx="11173883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15294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TW" altLang="zh-TW" sz="240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09574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812800" y="1524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9575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17600" y="1447800"/>
            <a:ext cx="10363200" cy="4611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9576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1722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9577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1722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9578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1722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</a:lstStyle>
          <a:p>
            <a:fld id="{94F0DEF7-13C1-410B-8CC9-26AA1B4E670D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450619" y="0"/>
            <a:ext cx="46166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mtClean="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036" name="WordArt 12"/>
          <p:cNvSpPr>
            <a:spLocks noChangeArrowheads="1" noChangeShapeType="1" noTextEdit="1"/>
          </p:cNvSpPr>
          <p:nvPr/>
        </p:nvSpPr>
        <p:spPr bwMode="auto">
          <a:xfrm rot="5400000">
            <a:off x="-2972857" y="2972858"/>
            <a:ext cx="6858000" cy="91228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wordArtVert"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auto"/>
            <a:r>
              <a:rPr lang="en-US" altLang="zh-TW" sz="3600" b="1" kern="10">
                <a:solidFill>
                  <a:schemeClr val="bg1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標楷體" panose="03000509000000000000" pitchFamily="65" charset="-120"/>
              </a:rPr>
              <a:t>National Formosa University</a:t>
            </a:r>
            <a:endParaRPr lang="zh-TW" altLang="en-US" sz="3600" b="1" kern="10">
              <a:solidFill>
                <a:schemeClr val="bg1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標楷體" panose="03000509000000000000" pitchFamily="65" charset="-120"/>
            </a:endParaRPr>
          </a:p>
        </p:txBody>
      </p:sp>
      <p:sp>
        <p:nvSpPr>
          <p:cNvPr id="1037" name="Text Box 13"/>
          <p:cNvSpPr txBox="1">
            <a:spLocks noChangeArrowheads="1"/>
          </p:cNvSpPr>
          <p:nvPr userDrawn="1"/>
        </p:nvSpPr>
        <p:spPr bwMode="auto">
          <a:xfrm>
            <a:off x="5588000" y="6491288"/>
            <a:ext cx="2438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mtClean="0">
                <a:ea typeface="華康唐風隸" pitchFamily="49" charset="-120"/>
              </a:rPr>
              <a:t>數位系統實習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12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  <p:sldLayoutId id="2147483910" r:id="rId12"/>
    <p:sldLayoutId id="2147483911" r:id="rId13"/>
  </p:sldLayoutIdLst>
  <p:transition/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4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/>
              <a:t>DE0-CV </a:t>
            </a:r>
            <a:r>
              <a:rPr lang="zh-TW" altLang="en-US" dirty="0" smtClean="0"/>
              <a:t>七段顯示器電路</a:t>
            </a:r>
            <a:endParaRPr lang="zh-TW" altLang="en-US" dirty="0"/>
          </a:p>
        </p:txBody>
      </p:sp>
      <p:pic>
        <p:nvPicPr>
          <p:cNvPr id="409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364" y="2286000"/>
            <a:ext cx="7153275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矩形 4"/>
          <p:cNvSpPr>
            <a:spLocks noChangeArrowheads="1"/>
          </p:cNvSpPr>
          <p:nvPr/>
        </p:nvSpPr>
        <p:spPr bwMode="auto">
          <a:xfrm>
            <a:off x="2519364" y="1524001"/>
            <a:ext cx="64420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3600" b="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要點亮某一段時，請輸出「</a:t>
            </a:r>
            <a:r>
              <a:rPr lang="en-US" altLang="zh-TW" sz="3600" b="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0</a:t>
            </a:r>
            <a:r>
              <a:rPr lang="zh-TW" altLang="en-US" sz="3600" b="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」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62EA29-0742-45CB-8DB8-F8D0575E717B}" type="slidenum">
              <a:rPr lang="en-US" altLang="zh-TW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TW" sz="1400">
              <a:latin typeface="Times New Roman" panose="02020603050405020304" pitchFamily="18" charset="0"/>
            </a:endParaRPr>
          </a:p>
        </p:txBody>
      </p:sp>
      <p:sp>
        <p:nvSpPr>
          <p:cNvPr id="849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ea typeface="新細明體" panose="02020500000000000000" pitchFamily="18" charset="-120"/>
              </a:rPr>
              <a:t>Multiple-Output Example: </a:t>
            </a:r>
            <a:endParaRPr lang="en-US" altLang="zh-TW" sz="3200" dirty="0">
              <a:ea typeface="新細明體" panose="02020500000000000000" pitchFamily="18" charset="-120"/>
            </a:endParaRPr>
          </a:p>
        </p:txBody>
      </p:sp>
      <p:pic>
        <p:nvPicPr>
          <p:cNvPr id="84998" name="Picture 7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2498" y="2602111"/>
            <a:ext cx="3252103" cy="2712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999" name="Picture 78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14"/>
          <a:stretch/>
        </p:blipFill>
        <p:spPr bwMode="auto">
          <a:xfrm>
            <a:off x="1849878" y="2743200"/>
            <a:ext cx="4779522" cy="2510200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Binary to 7-Segment Converter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913838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7447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" y="1447800"/>
            <a:ext cx="3277057" cy="414395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457200"/>
            <a:ext cx="5534797" cy="587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0532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748145"/>
            <a:ext cx="6757379" cy="547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76470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Lab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設計</a:t>
            </a:r>
            <a:r>
              <a:rPr lang="en-US" altLang="zh-TW" dirty="0" smtClean="0"/>
              <a:t>binary to 7-segment converter</a:t>
            </a:r>
          </a:p>
          <a:p>
            <a:r>
              <a:rPr lang="zh-TW" altLang="en-US" dirty="0" smtClean="0"/>
              <a:t>當</a:t>
            </a:r>
            <a:r>
              <a:rPr lang="en-US" altLang="zh-TW" dirty="0" err="1" smtClean="0"/>
              <a:t>wxyz</a:t>
            </a:r>
            <a:r>
              <a:rPr lang="zh-TW" altLang="en-US" dirty="0" smtClean="0"/>
              <a:t>超過</a:t>
            </a:r>
            <a:r>
              <a:rPr lang="en-US" altLang="zh-TW" dirty="0" smtClean="0"/>
              <a:t>9</a:t>
            </a:r>
            <a:r>
              <a:rPr lang="zh-TW" altLang="en-US" dirty="0" smtClean="0"/>
              <a:t>，會顯示對應的學號</a:t>
            </a:r>
            <a:endParaRPr lang="en-US" altLang="zh-TW" dirty="0" smtClean="0"/>
          </a:p>
          <a:p>
            <a:r>
              <a:rPr lang="zh-TW" altLang="en-US" dirty="0" smtClean="0"/>
              <a:t>模擬並燒錄實驗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4" name="Picture 7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14"/>
          <a:stretch/>
        </p:blipFill>
        <p:spPr bwMode="auto">
          <a:xfrm>
            <a:off x="4267201" y="4133850"/>
            <a:ext cx="3590925" cy="1885950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  <p:sp>
        <p:nvSpPr>
          <p:cNvPr id="5" name="文字方塊 4"/>
          <p:cNvSpPr txBox="1"/>
          <p:nvPr/>
        </p:nvSpPr>
        <p:spPr>
          <a:xfrm>
            <a:off x="2819400" y="4523581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SW[3..0]</a:t>
            </a:r>
            <a:endParaRPr lang="zh-TW" altLang="en-US" dirty="0"/>
          </a:p>
        </p:txBody>
      </p:sp>
      <p:sp>
        <p:nvSpPr>
          <p:cNvPr id="6" name="左大括弧 5"/>
          <p:cNvSpPr/>
          <p:nvPr/>
        </p:nvSpPr>
        <p:spPr bwMode="auto">
          <a:xfrm>
            <a:off x="3890108" y="4259519"/>
            <a:ext cx="296984" cy="873662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zh-TW" altLang="en-US">
              <a:latin typeface="Arial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7858126" y="838200"/>
            <a:ext cx="402907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600" dirty="0" smtClean="0"/>
              <a:t>12345678</a:t>
            </a:r>
            <a:endParaRPr lang="zh-TW" altLang="en-US" sz="6600" dirty="0"/>
          </a:p>
        </p:txBody>
      </p:sp>
      <p:sp>
        <p:nvSpPr>
          <p:cNvPr id="8" name="向上箭號 7"/>
          <p:cNvSpPr/>
          <p:nvPr/>
        </p:nvSpPr>
        <p:spPr bwMode="auto">
          <a:xfrm>
            <a:off x="8915400" y="1785268"/>
            <a:ext cx="304800" cy="797004"/>
          </a:xfrm>
          <a:prstGeom prst="upArrow">
            <a:avLst>
              <a:gd name="adj1" fmla="val 50000"/>
              <a:gd name="adj2" fmla="val 101136"/>
            </a:avLst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標楷體" pitchFamily="65" charset="-120"/>
              </a:rPr>
              <a:t>10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標楷體" pitchFamily="65" charset="-120"/>
            </a:endParaRPr>
          </a:p>
        </p:txBody>
      </p:sp>
      <p:sp>
        <p:nvSpPr>
          <p:cNvPr id="9" name="向上箭號 8"/>
          <p:cNvSpPr/>
          <p:nvPr/>
        </p:nvSpPr>
        <p:spPr bwMode="auto">
          <a:xfrm>
            <a:off x="11328400" y="1785268"/>
            <a:ext cx="304800" cy="797004"/>
          </a:xfrm>
          <a:prstGeom prst="upArrow">
            <a:avLst>
              <a:gd name="adj1" fmla="val 50000"/>
              <a:gd name="adj2" fmla="val 128409"/>
            </a:avLst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標楷體" pitchFamily="65" charset="-120"/>
              </a:rPr>
              <a:t>15</a:t>
            </a:r>
            <a:endParaRPr kumimoji="1" lang="zh-TW" altLang="en-US" sz="28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標楷體" pitchFamily="65" charset="-120"/>
            </a:endParaRPr>
          </a:p>
        </p:txBody>
      </p:sp>
      <p:sp>
        <p:nvSpPr>
          <p:cNvPr id="10" name="向上箭號 9"/>
          <p:cNvSpPr/>
          <p:nvPr/>
        </p:nvSpPr>
        <p:spPr bwMode="auto">
          <a:xfrm>
            <a:off x="9906000" y="1828800"/>
            <a:ext cx="304800" cy="797004"/>
          </a:xfrm>
          <a:prstGeom prst="upArrow">
            <a:avLst>
              <a:gd name="adj1" fmla="val 50000"/>
              <a:gd name="adj2" fmla="val 101136"/>
            </a:avLst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標楷體" pitchFamily="65" charset="-120"/>
              </a:rPr>
              <a:t>12</a:t>
            </a:r>
            <a:endParaRPr kumimoji="1" lang="zh-TW" altLang="en-US" sz="28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082728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提示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5715000" y="3505200"/>
            <a:ext cx="402907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600" dirty="0" smtClean="0"/>
              <a:t>12345678</a:t>
            </a:r>
            <a:endParaRPr lang="zh-TW" altLang="en-US" sz="6600" dirty="0"/>
          </a:p>
        </p:txBody>
      </p:sp>
      <p:sp>
        <p:nvSpPr>
          <p:cNvPr id="6" name="上彎箭號 5"/>
          <p:cNvSpPr/>
          <p:nvPr/>
        </p:nvSpPr>
        <p:spPr bwMode="auto">
          <a:xfrm>
            <a:off x="5029200" y="4495799"/>
            <a:ext cx="4572000" cy="1907184"/>
          </a:xfrm>
          <a:prstGeom prst="bentUpArrow">
            <a:avLst>
              <a:gd name="adj1" fmla="val 14993"/>
              <a:gd name="adj2" fmla="val 18621"/>
              <a:gd name="adj3" fmla="val 40341"/>
            </a:avLst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標楷體" pitchFamily="65" charset="-120"/>
            </a:endParaRPr>
          </a:p>
        </p:txBody>
      </p:sp>
      <p:sp>
        <p:nvSpPr>
          <p:cNvPr id="7" name="上彎箭號 6"/>
          <p:cNvSpPr/>
          <p:nvPr/>
        </p:nvSpPr>
        <p:spPr bwMode="auto">
          <a:xfrm>
            <a:off x="5029200" y="4343400"/>
            <a:ext cx="2133600" cy="381000"/>
          </a:xfrm>
          <a:prstGeom prst="bentUpArrow">
            <a:avLst>
              <a:gd name="adj1" fmla="val 34740"/>
              <a:gd name="adj2" fmla="val 39610"/>
              <a:gd name="adj3" fmla="val 40584"/>
            </a:avLst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標楷體" pitchFamily="65" charset="-120"/>
            </a:endParaRPr>
          </a:p>
        </p:txBody>
      </p:sp>
      <p:sp>
        <p:nvSpPr>
          <p:cNvPr id="8" name="上彎箭號 7"/>
          <p:cNvSpPr/>
          <p:nvPr/>
        </p:nvSpPr>
        <p:spPr bwMode="auto">
          <a:xfrm>
            <a:off x="5029200" y="4343400"/>
            <a:ext cx="3733800" cy="1371600"/>
          </a:xfrm>
          <a:prstGeom prst="bentUpArrow">
            <a:avLst>
              <a:gd name="adj1" fmla="val 19852"/>
              <a:gd name="adj2" fmla="val 25000"/>
              <a:gd name="adj3" fmla="val 50000"/>
            </a:avLst>
          </a:prstGeom>
          <a:solidFill>
            <a:srgbClr val="FF99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標楷體" pitchFamily="65" charset="-120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032" y="419693"/>
            <a:ext cx="6643935" cy="2742012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176" y="609600"/>
            <a:ext cx="3331385" cy="590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62621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zh-TW" altLang="en-US" dirty="0" smtClean="0"/>
              <a:t>編碼器、遞增器、與七段顯示器</a:t>
            </a:r>
            <a:endParaRPr lang="zh-TW" altLang="en-US" dirty="0"/>
          </a:p>
        </p:txBody>
      </p:sp>
      <p:sp>
        <p:nvSpPr>
          <p:cNvPr id="8" name="副標題 7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19776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半加器</a:t>
            </a:r>
            <a:r>
              <a:rPr lang="en-US" altLang="zh-TW" dirty="0" smtClean="0"/>
              <a:t>(HA)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702" y="1943100"/>
            <a:ext cx="1578769" cy="1157288"/>
          </a:xfrm>
          <a:prstGeom prst="rect">
            <a:avLst/>
          </a:prstGeom>
          <a:ln>
            <a:solidFill>
              <a:srgbClr val="7030A0"/>
            </a:solidFill>
          </a:ln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501" y="1956290"/>
            <a:ext cx="1628775" cy="1800225"/>
          </a:xfrm>
          <a:prstGeom prst="rect">
            <a:avLst/>
          </a:prstGeom>
          <a:ln>
            <a:solidFill>
              <a:srgbClr val="7030A0"/>
            </a:solidFill>
          </a:ln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1" y="3901678"/>
            <a:ext cx="3128963" cy="1614488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10317572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半加器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817" y="2893220"/>
            <a:ext cx="2950369" cy="107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2955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四位元遞增器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680" y="1791135"/>
            <a:ext cx="5552642" cy="3695267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824" y="4800602"/>
            <a:ext cx="1264444" cy="892969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33101206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lab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顯示完整學號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41" y="1995969"/>
            <a:ext cx="11236917" cy="470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8173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專案概觀">
  <a:themeElements>
    <a:clrScheme name="專案概觀 1">
      <a:dk1>
        <a:srgbClr val="000000"/>
      </a:dk1>
      <a:lt1>
        <a:srgbClr val="FFFFFF"/>
      </a:lt1>
      <a:dk2>
        <a:srgbClr val="0066CC"/>
      </a:dk2>
      <a:lt2>
        <a:srgbClr val="CBCBCB"/>
      </a:lt2>
      <a:accent1>
        <a:srgbClr val="00CCFF"/>
      </a:accent1>
      <a:accent2>
        <a:srgbClr val="00FFCC"/>
      </a:accent2>
      <a:accent3>
        <a:srgbClr val="AAB8E2"/>
      </a:accent3>
      <a:accent4>
        <a:srgbClr val="DADADA"/>
      </a:accent4>
      <a:accent5>
        <a:srgbClr val="AAE2FF"/>
      </a:accent5>
      <a:accent6>
        <a:srgbClr val="00E7B9"/>
      </a:accent6>
      <a:hlink>
        <a:srgbClr val="FF3300"/>
      </a:hlink>
      <a:folHlink>
        <a:srgbClr val="FF7C80"/>
      </a:folHlink>
    </a:clrScheme>
    <a:fontScheme name="專案概觀">
      <a:majorFont>
        <a:latin typeface="Tempus Sans ITC"/>
        <a:ea typeface="金梅浪漫原體字"/>
        <a:cs typeface=""/>
      </a:majorFont>
      <a:minorFont>
        <a:latin typeface="Tempus Sans ITC"/>
        <a:ea typeface="金梅浪漫原體字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專案概觀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CCFF"/>
        </a:accent1>
        <a:accent2>
          <a:srgbClr val="00FFCC"/>
        </a:accent2>
        <a:accent3>
          <a:srgbClr val="AAB8E2"/>
        </a:accent3>
        <a:accent4>
          <a:srgbClr val="DADADA"/>
        </a:accent4>
        <a:accent5>
          <a:srgbClr val="AAE2FF"/>
        </a:accent5>
        <a:accent6>
          <a:srgbClr val="00E7B9"/>
        </a:accent6>
        <a:hlink>
          <a:srgbClr val="FF33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專案概觀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專案概觀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Evolutionary Development of Hierarchical Learning Structures</Template>
  <TotalTime>14386</TotalTime>
  <Words>85</Words>
  <Application>Microsoft Office PowerPoint</Application>
  <PresentationFormat>寬螢幕</PresentationFormat>
  <Paragraphs>24</Paragraphs>
  <Slides>11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20" baseType="lpstr">
      <vt:lpstr>金梅浪漫原體字</vt:lpstr>
      <vt:lpstr>華康唐風隸</vt:lpstr>
      <vt:lpstr>新細明體</vt:lpstr>
      <vt:lpstr>標楷體</vt:lpstr>
      <vt:lpstr>Arial</vt:lpstr>
      <vt:lpstr>Tempus Sans ITC</vt:lpstr>
      <vt:lpstr>Times New Roman</vt:lpstr>
      <vt:lpstr>Wingdings</vt:lpstr>
      <vt:lpstr>專案概觀</vt:lpstr>
      <vt:lpstr>DE0-CV 七段顯示器電路</vt:lpstr>
      <vt:lpstr>Multiple-Output Example: </vt:lpstr>
      <vt:lpstr>7447</vt:lpstr>
      <vt:lpstr>PowerPoint 簡報</vt:lpstr>
      <vt:lpstr>Lab</vt:lpstr>
      <vt:lpstr>提示</vt:lpstr>
      <vt:lpstr>編碼器、遞增器、與七段顯示器</vt:lpstr>
      <vt:lpstr>半加器(HA)</vt:lpstr>
      <vt:lpstr>半加器</vt:lpstr>
      <vt:lpstr>四位元遞增器</vt:lpstr>
      <vt:lpstr>lab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408</cp:revision>
  <cp:lastPrinted>1601-01-01T00:00:00Z</cp:lastPrinted>
  <dcterms:created xsi:type="dcterms:W3CDTF">1601-01-01T00:00:00Z</dcterms:created>
  <dcterms:modified xsi:type="dcterms:W3CDTF">2024-04-27T05:46:22Z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