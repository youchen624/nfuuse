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56"/>
  </p:notesMasterIdLst>
  <p:handoutMasterIdLst>
    <p:handoutMasterId r:id="rId57"/>
  </p:handoutMasterIdLst>
  <p:sldIdLst>
    <p:sldId id="258" r:id="rId2"/>
    <p:sldId id="260" r:id="rId3"/>
    <p:sldId id="368" r:id="rId4"/>
    <p:sldId id="281" r:id="rId5"/>
    <p:sldId id="312" r:id="rId6"/>
    <p:sldId id="315" r:id="rId7"/>
    <p:sldId id="369" r:id="rId8"/>
    <p:sldId id="286" r:id="rId9"/>
    <p:sldId id="287" r:id="rId10"/>
    <p:sldId id="288" r:id="rId11"/>
    <p:sldId id="261" r:id="rId12"/>
    <p:sldId id="313" r:id="rId13"/>
    <p:sldId id="314" r:id="rId14"/>
    <p:sldId id="292" r:id="rId15"/>
    <p:sldId id="293" r:id="rId16"/>
    <p:sldId id="370" r:id="rId17"/>
    <p:sldId id="317" r:id="rId18"/>
    <p:sldId id="371" r:id="rId19"/>
    <p:sldId id="349" r:id="rId20"/>
    <p:sldId id="350" r:id="rId21"/>
    <p:sldId id="354" r:id="rId22"/>
    <p:sldId id="353" r:id="rId23"/>
    <p:sldId id="366" r:id="rId24"/>
    <p:sldId id="351" r:id="rId25"/>
    <p:sldId id="367" r:id="rId26"/>
    <p:sldId id="372" r:id="rId27"/>
    <p:sldId id="361" r:id="rId28"/>
    <p:sldId id="363" r:id="rId29"/>
    <p:sldId id="364" r:id="rId30"/>
    <p:sldId id="373" r:id="rId31"/>
    <p:sldId id="365" r:id="rId32"/>
    <p:sldId id="267" r:id="rId33"/>
    <p:sldId id="297" r:id="rId34"/>
    <p:sldId id="298" r:id="rId35"/>
    <p:sldId id="344" r:id="rId36"/>
    <p:sldId id="268" r:id="rId37"/>
    <p:sldId id="306" r:id="rId38"/>
    <p:sldId id="374" r:id="rId39"/>
    <p:sldId id="345" r:id="rId40"/>
    <p:sldId id="346" r:id="rId41"/>
    <p:sldId id="347" r:id="rId42"/>
    <p:sldId id="375" r:id="rId43"/>
    <p:sldId id="337" r:id="rId44"/>
    <p:sldId id="338" r:id="rId45"/>
    <p:sldId id="339" r:id="rId46"/>
    <p:sldId id="340" r:id="rId47"/>
    <p:sldId id="342" r:id="rId48"/>
    <p:sldId id="343" r:id="rId49"/>
    <p:sldId id="280" r:id="rId50"/>
    <p:sldId id="308" r:id="rId51"/>
    <p:sldId id="307" r:id="rId52"/>
    <p:sldId id="309" r:id="rId53"/>
    <p:sldId id="310" r:id="rId54"/>
    <p:sldId id="311" r:id="rId55"/>
  </p:sldIdLst>
  <p:sldSz cx="12192000" cy="6858000"/>
  <p:notesSz cx="7099300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93C21"/>
    <a:srgbClr val="65321B"/>
    <a:srgbClr val="FF9966"/>
    <a:srgbClr val="00FF00"/>
    <a:srgbClr val="0066FF"/>
    <a:srgbClr val="33CC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0" autoAdjust="0"/>
    <p:restoredTop sz="94660"/>
  </p:normalViewPr>
  <p:slideViewPr>
    <p:cSldViewPr>
      <p:cViewPr varScale="1">
        <p:scale>
          <a:sx n="114" d="100"/>
          <a:sy n="114" d="100"/>
        </p:scale>
        <p:origin x="756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t" anchorCtr="0" compatLnSpc="1">
            <a:prstTxWarp prst="textNoShape">
              <a:avLst/>
            </a:prstTxWarp>
          </a:bodyPr>
          <a:lstStyle>
            <a:lvl1pPr defTabSz="912813" eaLnBrk="1" hangingPunct="1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t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b" anchorCtr="0" compatLnSpc="1">
            <a:prstTxWarp prst="textNoShape">
              <a:avLst/>
            </a:prstTxWarp>
          </a:bodyPr>
          <a:lstStyle>
            <a:lvl1pPr defTabSz="912813" eaLnBrk="1" hangingPunct="1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b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1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41473556-526E-4D94-9E47-4694FF22495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8350"/>
            <a:ext cx="68183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42BF4CC7-D529-4469-8931-543B851971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2C316E0-EED3-45CA-8780-6F1FD780E823}" type="slidenum">
              <a:rPr lang="en-US" altLang="zh-TW" sz="1300" smtClean="0"/>
              <a:pPr>
                <a:spcBef>
                  <a:spcPct val="0"/>
                </a:spcBef>
              </a:pPr>
              <a:t>1</a:t>
            </a:fld>
            <a:endParaRPr lang="en-US" altLang="zh-TW" sz="1300" smtClean="0"/>
          </a:p>
        </p:txBody>
      </p:sp>
      <p:sp>
        <p:nvSpPr>
          <p:cNvPr id="6147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6148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zh-TW" smtClean="0">
              <a:latin typeface="Arial" panose="020B0604020202020204" pitchFamily="34" charset="0"/>
            </a:endParaRPr>
          </a:p>
        </p:txBody>
      </p:sp>
      <p:sp>
        <p:nvSpPr>
          <p:cNvPr id="6149" name="投影片編號版面配置區 3"/>
          <p:cNvSpPr txBox="1">
            <a:spLocks noGrp="1"/>
          </p:cNvSpPr>
          <p:nvPr/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30" tIns="49514" rIns="99030" bIns="49514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3573477-4ABC-409B-AC8F-19623B3C4C20}" type="slidenum">
              <a:rPr lang="en-US" altLang="zh-TW" sz="1300"/>
              <a:pPr algn="r" eaLnBrk="1" hangingPunct="1">
                <a:spcBef>
                  <a:spcPct val="0"/>
                </a:spcBef>
              </a:pPr>
              <a:t>1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1536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1536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56751AD-30D8-46C9-9BC9-DF91EB92E56B}" type="slidenum">
              <a:rPr lang="en-US" altLang="zh-TW" sz="1300" smtClean="0"/>
              <a:pPr>
                <a:spcBef>
                  <a:spcPct val="0"/>
                </a:spcBef>
              </a:pPr>
              <a:t>10</a:t>
            </a:fld>
            <a:endParaRPr lang="en-US" altLang="zh-TW" sz="13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2048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2048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0358D56-21EC-46A9-8858-6D291F766920}" type="slidenum">
              <a:rPr lang="en-US" altLang="zh-TW" sz="1300" smtClean="0"/>
              <a:pPr>
                <a:spcBef>
                  <a:spcPct val="0"/>
                </a:spcBef>
              </a:pPr>
              <a:t>14</a:t>
            </a:fld>
            <a:endParaRPr lang="en-US" altLang="zh-TW" sz="13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gradFill rotWithShape="0">
          <a:gsLst>
            <a:gs pos="0">
              <a:srgbClr val="002F5E"/>
            </a:gs>
            <a:gs pos="5000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shade val="61961"/>
                  <a:invGamma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914401" y="2438400"/>
            <a:ext cx="11275484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3505200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2400" smtClean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" name="WordArt 10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US" altLang="zh-TW" sz="3600" b="1" kern="10">
                <a:solidFill>
                  <a:schemeClr val="bg1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標楷體" panose="03000509000000000000" pitchFamily="65" charset="-120"/>
              </a:rPr>
              <a:t>National Formosa University</a:t>
            </a:r>
            <a:endParaRPr lang="zh-TW" altLang="en-US" sz="3600" b="1" kern="10">
              <a:solidFill>
                <a:schemeClr val="bg1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標楷體" panose="03000509000000000000" pitchFamily="65" charset="-120"/>
            </a:endParaRPr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2286000"/>
            <a:ext cx="10363200" cy="1752600"/>
          </a:xfrm>
        </p:spPr>
        <p:txBody>
          <a:bodyPr/>
          <a:lstStyle>
            <a:lvl1pPr>
              <a:defRPr sz="66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1059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12286" y="4114800"/>
            <a:ext cx="10365314" cy="2055814"/>
          </a:xfrm>
        </p:spPr>
        <p:txBody>
          <a:bodyPr/>
          <a:lstStyle>
            <a:lvl1pPr marL="0" indent="0" algn="l">
              <a:buFont typeface="Wingdings" pitchFamily="2" charset="2"/>
              <a:buNone/>
              <a:defRPr b="0"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B0DE5-EBA7-4411-B81F-0187CBDEA77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163633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2084FC-D66A-479C-84AB-610061BA99B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378549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659588-F392-491A-9503-74081760C76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88088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5982D-AC0E-4204-BA8F-ECCB5EE1B11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806647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24813-970E-4C7E-AC3B-A47D3D75426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6793277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A64741-E2DA-4259-9957-069B04C793E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275332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622D35-C5D3-4DA8-A360-987217BC5B2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937542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C5ECD-E20E-4EB3-B35B-BC208F3EBD6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5754886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20EA2-4658-40A8-AA1A-47180EE4F88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8226252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34B09-431A-46CF-AC79-2F34EDB0B22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7580981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13800" y="152400"/>
            <a:ext cx="2667000" cy="5907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97800" cy="5907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E3F00B-D06B-49FC-85FE-2C60C4A6340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6519212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3632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223098-8C72-4E4C-9F3D-F89C51CB348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9761412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39184" y="1341438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2400" smtClean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914400" y="6629401"/>
            <a:ext cx="4673600" cy="22701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1018117" y="404813"/>
            <a:ext cx="11173883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524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447800"/>
            <a:ext cx="10363200" cy="461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109576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9577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1722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9578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7D0AA14E-81C9-43CD-AB8D-E09AC2F7ABD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450619" y="0"/>
            <a:ext cx="46166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mtClean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36" name="WordArt 12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US" altLang="zh-TW" sz="3600" b="1" kern="10">
                <a:solidFill>
                  <a:schemeClr val="bg1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標楷體" panose="03000509000000000000" pitchFamily="65" charset="-120"/>
              </a:rPr>
              <a:t>National Formosa University</a:t>
            </a:r>
            <a:endParaRPr lang="zh-TW" altLang="en-US" sz="3600" b="1" kern="10">
              <a:solidFill>
                <a:schemeClr val="bg1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標楷體" panose="03000509000000000000" pitchFamily="65" charset="-120"/>
            </a:endParaRPr>
          </a:p>
        </p:txBody>
      </p:sp>
      <p:sp>
        <p:nvSpPr>
          <p:cNvPr id="1037" name="Text Box 13"/>
          <p:cNvSpPr txBox="1">
            <a:spLocks noChangeArrowheads="1"/>
          </p:cNvSpPr>
          <p:nvPr userDrawn="1"/>
        </p:nvSpPr>
        <p:spPr bwMode="auto">
          <a:xfrm>
            <a:off x="5588000" y="6491288"/>
            <a:ext cx="2438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mtClean="0">
                <a:ea typeface="華康唐風隸" pitchFamily="49" charset="-120"/>
              </a:rPr>
              <a:t>數位系統實習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19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kumimoji="0" lang="en-US" altLang="zh-TW" sz="8800" dirty="0">
                <a:latin typeface="標楷體" pitchFamily="65" charset="-120"/>
                <a:ea typeface="標楷體" pitchFamily="65" charset="-120"/>
                <a:cs typeface="Arial Unicode MS" pitchFamily="34" charset="-120"/>
              </a:rPr>
              <a:t>Lab 1</a:t>
            </a:r>
            <a:endParaRPr lang="en-US" altLang="zh-TW" sz="8800" dirty="0">
              <a:latin typeface="標楷體" pitchFamily="65" charset="-120"/>
              <a:ea typeface="標楷體" pitchFamily="65" charset="-120"/>
              <a:cs typeface="Arial Unicode MS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chemeClr val="tx2"/>
                </a:solidFill>
                <a:latin typeface="標楷體" pitchFamily="65" charset="-120"/>
              </a:rPr>
              <a:t>基本邏輯</a:t>
            </a:r>
            <a:r>
              <a:rPr lang="zh-TW" altLang="en-US" b="1" dirty="0" smtClean="0">
                <a:solidFill>
                  <a:schemeClr val="tx2"/>
                </a:solidFill>
                <a:latin typeface="標楷體" pitchFamily="65" charset="-120"/>
              </a:rPr>
              <a:t>實習</a:t>
            </a:r>
            <a:endParaRPr lang="en-US" altLang="zh-TW" b="1" dirty="0" smtClean="0">
              <a:solidFill>
                <a:schemeClr val="tx2"/>
              </a:solidFill>
              <a:latin typeface="標楷體" pitchFamily="65" charset="-120"/>
            </a:endParaRPr>
          </a:p>
          <a:p>
            <a:r>
              <a:rPr lang="zh-TW" altLang="en-US" b="1" dirty="0" smtClean="0">
                <a:solidFill>
                  <a:schemeClr val="tx2"/>
                </a:solidFill>
                <a:latin typeface="標楷體" pitchFamily="65" charset="-120"/>
              </a:rPr>
              <a:t>軟體</a:t>
            </a:r>
            <a:r>
              <a:rPr lang="zh-TW" altLang="en-US" b="1" dirty="0">
                <a:solidFill>
                  <a:schemeClr val="tx2"/>
                </a:solidFill>
                <a:latin typeface="標楷體" pitchFamily="65" charset="-120"/>
              </a:rPr>
              <a:t>操作說明</a:t>
            </a:r>
          </a:p>
          <a:p>
            <a:r>
              <a:rPr lang="en-US" altLang="zh-TW" dirty="0" smtClean="0"/>
              <a:t>FPGA</a:t>
            </a:r>
            <a:r>
              <a:rPr lang="zh-TW" altLang="en-US" dirty="0" smtClean="0"/>
              <a:t>實驗板使用練習</a:t>
            </a:r>
            <a:endParaRPr lang="zh-TW" altLang="en-US" dirty="0"/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4343400" y="4495800"/>
            <a:ext cx="3886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1" hangingPunct="1">
              <a:defRPr/>
            </a:pPr>
            <a:endParaRPr lang="zh-TW" altLang="en-US" sz="32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標楷體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開啟</a:t>
            </a:r>
            <a:r>
              <a:rPr lang="en-US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Quartus II</a:t>
            </a:r>
            <a:r>
              <a:rPr lang="zh-TW" altLang="en-US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15</a:t>
            </a:r>
            <a:r>
              <a:rPr lang="zh-TW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en-US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r>
              <a:rPr lang="zh-TW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軟體</a:t>
            </a:r>
            <a:endParaRPr lang="zh-TW" altLang="en-US" b="0" smtClean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171" name="AutoShape 3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TW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[</a:t>
            </a:r>
            <a:r>
              <a:rPr lang="en-US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Quartus II</a:t>
            </a:r>
            <a:r>
              <a:rPr lang="zh-TW" altLang="en-US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15</a:t>
            </a:r>
            <a:r>
              <a:rPr lang="zh-TW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en-US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r>
              <a:rPr lang="zh-TW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] 會出現</a:t>
            </a:r>
            <a:r>
              <a:rPr lang="zh-TW" altLang="en-US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以下圖示。</a:t>
            </a:r>
            <a:endParaRPr lang="zh-TW" altLang="zh-TW" b="0" smtClean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717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800" y="1981200"/>
            <a:ext cx="83312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TW" altLang="en-US" dirty="0" smtClean="0"/>
              <a:t>開新專案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070654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開啟新專案</a:t>
            </a:r>
            <a:r>
              <a:rPr lang="en-US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(1/2)</a:t>
            </a:r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在 </a:t>
            </a:r>
            <a:r>
              <a:rPr lang="en-US" altLang="zh-TW" b="0" dirty="0" err="1" smtClean="0">
                <a:effectLst/>
                <a:latin typeface="標楷體" pitchFamily="65" charset="-120"/>
                <a:ea typeface="標楷體" pitchFamily="65" charset="-120"/>
              </a:rPr>
              <a:t>Quartus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 II</a:t>
            </a: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15</a:t>
            </a:r>
            <a:r>
              <a:rPr lang="zh-TW" altLang="zh-TW" b="0" dirty="0" smtClean="0">
                <a:effectLst/>
                <a:latin typeface="標楷體" pitchFamily="65" charset="-120"/>
                <a:ea typeface="標楷體" pitchFamily="65" charset="-120"/>
              </a:rPr>
              <a:t>.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0</a:t>
            </a: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軟體環境下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,</a:t>
            </a: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開啟一個新的專案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: [File] </a:t>
            </a:r>
            <a:r>
              <a:rPr lang="zh-TW" altLang="zh-TW" b="0" dirty="0" smtClean="0">
                <a:effectLst/>
                <a:latin typeface="標楷體" pitchFamily="65" charset="-120"/>
                <a:ea typeface="標楷體" pitchFamily="65" charset="-120"/>
              </a:rPr>
              <a:t>→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[New Project</a:t>
            </a: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Wizard]</a:t>
            </a:r>
            <a:r>
              <a:rPr lang="zh-TW" altLang="zh-TW" b="0" dirty="0" smtClean="0">
                <a:effectLst/>
                <a:latin typeface="標楷體" pitchFamily="65" charset="-120"/>
                <a:ea typeface="標楷體" pitchFamily="65" charset="-120"/>
              </a:rPr>
              <a:t> →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[Next]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8196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038" y="2667000"/>
            <a:ext cx="4576762" cy="354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964" y="1235076"/>
            <a:ext cx="5507037" cy="426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開啟新專案</a:t>
            </a:r>
            <a:r>
              <a:rPr lang="en-US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(2/2)</a:t>
            </a:r>
          </a:p>
        </p:txBody>
      </p:sp>
      <p:sp>
        <p:nvSpPr>
          <p:cNvPr id="9220" name="矩形 6"/>
          <p:cNvSpPr>
            <a:spLocks noChangeArrowheads="1"/>
          </p:cNvSpPr>
          <p:nvPr/>
        </p:nvSpPr>
        <p:spPr bwMode="auto">
          <a:xfrm>
            <a:off x="5311776" y="1752600"/>
            <a:ext cx="5127625" cy="29210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9221" name="直線單箭頭接點 9"/>
          <p:cNvCxnSpPr>
            <a:cxnSpLocks noChangeShapeType="1"/>
            <a:stCxn id="9220" idx="1"/>
          </p:cNvCxnSpPr>
          <p:nvPr/>
        </p:nvCxnSpPr>
        <p:spPr bwMode="auto">
          <a:xfrm flipH="1" flipV="1">
            <a:off x="4668839" y="1854200"/>
            <a:ext cx="642937" cy="4445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2" name="文字方塊 12"/>
          <p:cNvSpPr txBox="1">
            <a:spLocks noChangeArrowheads="1"/>
          </p:cNvSpPr>
          <p:nvPr/>
        </p:nvSpPr>
        <p:spPr bwMode="auto">
          <a:xfrm>
            <a:off x="2133600" y="1524001"/>
            <a:ext cx="28956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b="0">
                <a:latin typeface="標楷體" panose="03000509000000000000" pitchFamily="65" charset="-120"/>
                <a:ea typeface="標楷體" panose="03000509000000000000" pitchFamily="65" charset="-120"/>
              </a:rPr>
              <a:t>路徑位置</a:t>
            </a:r>
            <a:r>
              <a:rPr lang="en-US" altLang="zh-TW" b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b="0">
                <a:latin typeface="標楷體" panose="03000509000000000000" pitchFamily="65" charset="-120"/>
                <a:ea typeface="標楷體" panose="03000509000000000000" pitchFamily="65" charset="-120"/>
              </a:rPr>
              <a:t>路徑不能有中文</a:t>
            </a:r>
            <a:r>
              <a:rPr lang="en-US" altLang="zh-TW" b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223" name="矩形 13"/>
          <p:cNvSpPr>
            <a:spLocks noChangeArrowheads="1"/>
          </p:cNvSpPr>
          <p:nvPr/>
        </p:nvSpPr>
        <p:spPr bwMode="auto">
          <a:xfrm>
            <a:off x="5257801" y="2133600"/>
            <a:ext cx="5127625" cy="29210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9224" name="直線單箭頭接點 14"/>
          <p:cNvCxnSpPr>
            <a:cxnSpLocks noChangeShapeType="1"/>
            <a:stCxn id="9223" idx="1"/>
          </p:cNvCxnSpPr>
          <p:nvPr/>
        </p:nvCxnSpPr>
        <p:spPr bwMode="auto">
          <a:xfrm flipH="1">
            <a:off x="4953000" y="2279650"/>
            <a:ext cx="304800" cy="99695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5" name="文字方塊 18"/>
          <p:cNvSpPr txBox="1">
            <a:spLocks noChangeArrowheads="1"/>
          </p:cNvSpPr>
          <p:nvPr/>
        </p:nvSpPr>
        <p:spPr bwMode="auto">
          <a:xfrm>
            <a:off x="2057400" y="3200400"/>
            <a:ext cx="3073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b="0">
                <a:latin typeface="標楷體" panose="03000509000000000000" pitchFamily="65" charset="-120"/>
                <a:ea typeface="標楷體" panose="03000509000000000000" pitchFamily="65" charset="-120"/>
              </a:rPr>
              <a:t>專案名稱</a:t>
            </a:r>
            <a:r>
              <a:rPr lang="en-US" altLang="zh-TW" b="0">
                <a:latin typeface="標楷體" panose="03000509000000000000" pitchFamily="65" charset="-120"/>
                <a:ea typeface="標楷體" panose="03000509000000000000" pitchFamily="65" charset="-120"/>
              </a:rPr>
              <a:t>lab0(</a:t>
            </a:r>
            <a:r>
              <a:rPr lang="zh-TW" altLang="en-US" b="0">
                <a:latin typeface="標楷體" panose="03000509000000000000" pitchFamily="65" charset="-120"/>
                <a:ea typeface="標楷體" panose="03000509000000000000" pitchFamily="65" charset="-120"/>
              </a:rPr>
              <a:t>不能有中文字</a:t>
            </a:r>
            <a:r>
              <a:rPr lang="en-US" altLang="zh-TW" b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226" name="矩形 19"/>
          <p:cNvSpPr>
            <a:spLocks noChangeArrowheads="1"/>
          </p:cNvSpPr>
          <p:nvPr/>
        </p:nvSpPr>
        <p:spPr bwMode="auto">
          <a:xfrm>
            <a:off x="5257801" y="2466976"/>
            <a:ext cx="5127625" cy="200025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9227" name="直線單箭頭接點 20"/>
          <p:cNvCxnSpPr>
            <a:cxnSpLocks noChangeShapeType="1"/>
          </p:cNvCxnSpPr>
          <p:nvPr/>
        </p:nvCxnSpPr>
        <p:spPr bwMode="auto">
          <a:xfrm flipH="1">
            <a:off x="5029201" y="2667000"/>
            <a:ext cx="309563" cy="68580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8" name="矩形 37"/>
          <p:cNvSpPr>
            <a:spLocks noChangeArrowheads="1"/>
          </p:cNvSpPr>
          <p:nvPr/>
        </p:nvSpPr>
        <p:spPr bwMode="auto">
          <a:xfrm>
            <a:off x="8921751" y="5199063"/>
            <a:ext cx="600075" cy="28416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229" name="文字方塊 42"/>
          <p:cNvSpPr txBox="1">
            <a:spLocks noChangeArrowheads="1"/>
          </p:cNvSpPr>
          <p:nvPr/>
        </p:nvSpPr>
        <p:spPr bwMode="auto">
          <a:xfrm>
            <a:off x="8915401" y="4572000"/>
            <a:ext cx="5953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endParaRPr lang="zh-TW" altLang="en-US" b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550" y="2209800"/>
            <a:ext cx="4838700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設定裝置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[Assignments]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→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[Device]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→設定後請按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OK</a:t>
            </a:r>
            <a:endParaRPr lang="zh-TW" altLang="en-US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293" name="矩形圖說文字 5"/>
          <p:cNvSpPr>
            <a:spLocks noChangeArrowheads="1"/>
          </p:cNvSpPr>
          <p:nvPr/>
        </p:nvSpPr>
        <p:spPr bwMode="auto">
          <a:xfrm>
            <a:off x="8534400" y="2514600"/>
            <a:ext cx="1600200" cy="457200"/>
          </a:xfrm>
          <a:prstGeom prst="wedgeRectCallout">
            <a:avLst>
              <a:gd name="adj1" fmla="val -114486"/>
              <a:gd name="adj2" fmla="val 93056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 b="0">
                <a:latin typeface="標楷體" panose="03000509000000000000" pitchFamily="65" charset="-120"/>
                <a:ea typeface="標楷體" panose="03000509000000000000" pitchFamily="65" charset="-120"/>
              </a:rPr>
              <a:t>選取</a:t>
            </a:r>
            <a:r>
              <a:rPr lang="en-US" altLang="zh-TW" sz="1800" b="0">
                <a:latin typeface="標楷體" panose="03000509000000000000" pitchFamily="65" charset="-120"/>
                <a:ea typeface="標楷體" panose="03000509000000000000" pitchFamily="65" charset="-120"/>
              </a:rPr>
              <a:t>FBGA</a:t>
            </a: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294" name="矩形圖說文字 6"/>
          <p:cNvSpPr>
            <a:spLocks noChangeArrowheads="1"/>
          </p:cNvSpPr>
          <p:nvPr/>
        </p:nvSpPr>
        <p:spPr bwMode="auto">
          <a:xfrm>
            <a:off x="8534400" y="3124200"/>
            <a:ext cx="1600200" cy="457200"/>
          </a:xfrm>
          <a:prstGeom prst="wedgeRectCallout">
            <a:avLst>
              <a:gd name="adj1" fmla="val -114486"/>
              <a:gd name="adj2" fmla="val -41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 b="0">
                <a:latin typeface="標楷體" panose="03000509000000000000" pitchFamily="65" charset="-120"/>
                <a:ea typeface="標楷體" panose="03000509000000000000" pitchFamily="65" charset="-120"/>
              </a:rPr>
              <a:t>選取</a:t>
            </a:r>
            <a:r>
              <a:rPr lang="en-US" altLang="zh-TW" sz="1800" b="0">
                <a:latin typeface="標楷體" panose="03000509000000000000" pitchFamily="65" charset="-120"/>
                <a:ea typeface="標楷體" panose="03000509000000000000" pitchFamily="65" charset="-120"/>
              </a:rPr>
              <a:t>484</a:t>
            </a: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295" name="矩形圖說文字 7"/>
          <p:cNvSpPr>
            <a:spLocks noChangeArrowheads="1"/>
          </p:cNvSpPr>
          <p:nvPr/>
        </p:nvSpPr>
        <p:spPr bwMode="auto">
          <a:xfrm>
            <a:off x="8534400" y="3733800"/>
            <a:ext cx="1600200" cy="457200"/>
          </a:xfrm>
          <a:prstGeom prst="wedgeRectCallout">
            <a:avLst>
              <a:gd name="adj1" fmla="val -112898"/>
              <a:gd name="adj2" fmla="val -87500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 b="0">
                <a:latin typeface="標楷體" panose="03000509000000000000" pitchFamily="65" charset="-120"/>
                <a:ea typeface="標楷體" panose="03000509000000000000" pitchFamily="65" charset="-120"/>
              </a:rPr>
              <a:t>選取</a:t>
            </a:r>
            <a:r>
              <a:rPr lang="en-US" altLang="zh-TW" sz="1800" b="0">
                <a:latin typeface="標楷體" panose="03000509000000000000" pitchFamily="65" charset="-120"/>
                <a:ea typeface="標楷體" panose="03000509000000000000" pitchFamily="65" charset="-120"/>
              </a:rPr>
              <a:t>7</a:t>
            </a: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296" name="矩形圖說文字 8"/>
          <p:cNvSpPr>
            <a:spLocks noChangeArrowheads="1"/>
          </p:cNvSpPr>
          <p:nvPr/>
        </p:nvSpPr>
        <p:spPr bwMode="auto">
          <a:xfrm>
            <a:off x="7848601" y="4800600"/>
            <a:ext cx="2765425" cy="685800"/>
          </a:xfrm>
          <a:prstGeom prst="wedgeRectCallout">
            <a:avLst>
              <a:gd name="adj1" fmla="val -72222"/>
              <a:gd name="adj2" fmla="val -70833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 b="0">
                <a:latin typeface="標楷體" panose="03000509000000000000" pitchFamily="65" charset="-120"/>
                <a:ea typeface="標楷體" panose="03000509000000000000" pitchFamily="65" charset="-120"/>
              </a:rPr>
              <a:t>選取</a:t>
            </a:r>
            <a:r>
              <a:rPr lang="en-US" altLang="zh-TW" sz="1800" b="0">
                <a:latin typeface="標楷體" panose="03000509000000000000" pitchFamily="65" charset="-120"/>
                <a:ea typeface="標楷體" panose="03000509000000000000" pitchFamily="65" charset="-120"/>
              </a:rPr>
              <a:t>DE0-CV</a:t>
            </a:r>
            <a:r>
              <a:rPr lang="zh-TW" altLang="en-US" sz="1800" b="0">
                <a:latin typeface="標楷體" panose="03000509000000000000" pitchFamily="65" charset="-120"/>
                <a:ea typeface="標楷體" panose="03000509000000000000" pitchFamily="65" charset="-120"/>
              </a:rPr>
              <a:t>上的晶片型號</a:t>
            </a:r>
            <a:endParaRPr lang="en-US" altLang="zh-TW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0">
                <a:latin typeface="標楷體" panose="03000509000000000000" pitchFamily="65" charset="-120"/>
                <a:ea typeface="標楷體" panose="03000509000000000000" pitchFamily="65" charset="-120"/>
              </a:rPr>
              <a:t>5CEBA4F23C7</a:t>
            </a: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TW" altLang="en-US" dirty="0" smtClean="0"/>
              <a:t>繪製電路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896576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b="0" dirty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加入新設計檔</a:t>
            </a:r>
          </a:p>
        </p:txBody>
      </p:sp>
      <p:sp>
        <p:nvSpPr>
          <p:cNvPr id="356356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加入新的設計檔案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	[File] →[New] →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	[Block Diagram/Schematic File]</a:t>
            </a: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→</a:t>
            </a:r>
            <a:endParaRPr lang="en-US" altLang="zh-TW" b="0" dirty="0" smtClean="0">
              <a:effectLst/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	[OK];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	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10244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057400"/>
            <a:ext cx="280035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57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右邊為一個空白的電路圖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11268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57400"/>
            <a:ext cx="7772400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圓角矩形 2"/>
          <p:cNvSpPr>
            <a:spLocks noChangeArrowheads="1"/>
          </p:cNvSpPr>
          <p:nvPr/>
        </p:nvSpPr>
        <p:spPr bwMode="auto">
          <a:xfrm>
            <a:off x="3276600" y="2514600"/>
            <a:ext cx="5791200" cy="25908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繪製電路</a:t>
            </a:r>
            <a:r>
              <a:rPr lang="en-US" altLang="zh-TW" smtClean="0">
                <a:latin typeface="標楷體" pitchFamily="65" charset="-120"/>
                <a:ea typeface="標楷體" pitchFamily="65" charset="-120"/>
              </a:rPr>
              <a:t>(1/6)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在空白電路圖的的位置</a:t>
            </a:r>
            <a:r>
              <a:rPr lang="en-US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滑鼠左鍵案兩下</a:t>
            </a:r>
            <a:r>
              <a:rPr lang="en-US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即可顯示下圖</a:t>
            </a:r>
            <a:r>
              <a:rPr lang="en-US" altLang="zh-TW" b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</a:p>
        </p:txBody>
      </p:sp>
      <p:pic>
        <p:nvPicPr>
          <p:cNvPr id="1434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435225"/>
            <a:ext cx="5943600" cy="412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矩形 15"/>
          <p:cNvSpPr>
            <a:spLocks noChangeArrowheads="1"/>
          </p:cNvSpPr>
          <p:nvPr/>
        </p:nvSpPr>
        <p:spPr bwMode="auto">
          <a:xfrm>
            <a:off x="4724400" y="4876800"/>
            <a:ext cx="1943100" cy="4318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4342" name="直線單箭頭接點 17"/>
          <p:cNvCxnSpPr>
            <a:cxnSpLocks noChangeShapeType="1"/>
            <a:stCxn id="14341" idx="1"/>
          </p:cNvCxnSpPr>
          <p:nvPr/>
        </p:nvCxnSpPr>
        <p:spPr bwMode="auto">
          <a:xfrm rot="10800000">
            <a:off x="4203700" y="5092700"/>
            <a:ext cx="520700" cy="1588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3" name="文字方塊 18"/>
          <p:cNvSpPr txBox="1">
            <a:spLocks noChangeArrowheads="1"/>
          </p:cNvSpPr>
          <p:nvPr/>
        </p:nvSpPr>
        <p:spPr bwMode="auto">
          <a:xfrm>
            <a:off x="2209800" y="4191001"/>
            <a:ext cx="21336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800" b="0">
                <a:latin typeface="標楷體" panose="03000509000000000000" pitchFamily="65" charset="-120"/>
                <a:ea typeface="標楷體" panose="03000509000000000000" pitchFamily="65" charset="-120"/>
              </a:rPr>
              <a:t>請輸入邏輯閘元件名稱</a:t>
            </a:r>
            <a:r>
              <a:rPr lang="en-US" altLang="zh-TW" sz="2800" b="0">
                <a:latin typeface="標楷體" panose="03000509000000000000" pitchFamily="65" charset="-120"/>
                <a:ea typeface="標楷體" panose="03000509000000000000" pitchFamily="65" charset="-120"/>
              </a:rPr>
              <a:t>(ex. And2,</a:t>
            </a:r>
            <a:r>
              <a:rPr lang="zh-TW" altLang="en-US" sz="2800" b="0">
                <a:latin typeface="標楷體" panose="03000509000000000000" pitchFamily="65" charset="-120"/>
                <a:ea typeface="標楷體" panose="03000509000000000000" pitchFamily="65" charset="-120"/>
              </a:rPr>
              <a:t>數字</a:t>
            </a:r>
            <a:r>
              <a:rPr lang="en-US" altLang="zh-TW" sz="2800" b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2800" b="0">
                <a:latin typeface="標楷體" panose="03000509000000000000" pitchFamily="65" charset="-120"/>
                <a:ea typeface="標楷體" panose="03000509000000000000" pitchFamily="65" charset="-120"/>
              </a:rPr>
              <a:t>代表</a:t>
            </a:r>
            <a:r>
              <a:rPr lang="en-US" altLang="zh-TW" sz="2800" b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2800" b="0">
                <a:latin typeface="標楷體" panose="03000509000000000000" pitchFamily="65" charset="-120"/>
                <a:ea typeface="標楷體" panose="03000509000000000000" pitchFamily="65" charset="-120"/>
              </a:rPr>
              <a:t>個輸入訊號</a:t>
            </a:r>
            <a:r>
              <a:rPr lang="en-US" altLang="zh-TW" sz="2800" b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繪製電路</a:t>
            </a:r>
            <a:r>
              <a:rPr lang="en-US" altLang="zh-TW" smtClean="0">
                <a:latin typeface="標楷體" pitchFamily="65" charset="-120"/>
                <a:ea typeface="標楷體" pitchFamily="65" charset="-120"/>
              </a:rPr>
              <a:t>(2/6)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sz="36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按</a:t>
            </a:r>
            <a:r>
              <a:rPr lang="en-US" altLang="zh-TW" sz="36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[OK</a:t>
            </a:r>
            <a:r>
              <a:rPr lang="zh-TW" altLang="en-US" sz="36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36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or Enter]</a:t>
            </a:r>
          </a:p>
          <a:p>
            <a:pPr eaLnBrk="1" hangingPunct="1"/>
            <a:r>
              <a:rPr lang="zh-TW" altLang="en-US" sz="36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此時游標會變成邏輯閘</a:t>
            </a:r>
            <a:r>
              <a:rPr lang="en-US" altLang="zh-TW" sz="36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36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移到電路圖上</a:t>
            </a:r>
            <a:r>
              <a:rPr lang="en-US" altLang="zh-TW" sz="36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36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按滑鼠左鍵即可。</a:t>
            </a:r>
          </a:p>
        </p:txBody>
      </p:sp>
      <p:pic>
        <p:nvPicPr>
          <p:cNvPr id="1638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1" y="3429001"/>
            <a:ext cx="296227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1" y="2057400"/>
            <a:ext cx="48863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繪製電路</a:t>
            </a:r>
            <a:r>
              <a:rPr lang="en-US" altLang="zh-TW" smtClean="0">
                <a:latin typeface="標楷體" pitchFamily="65" charset="-120"/>
                <a:ea typeface="標楷體" pitchFamily="65" charset="-120"/>
              </a:rPr>
              <a:t>(3/6)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7412" name="Rectangle 17"/>
          <p:cNvSpPr>
            <a:spLocks noChangeArrowheads="1"/>
          </p:cNvSpPr>
          <p:nvPr/>
        </p:nvSpPr>
        <p:spPr bwMode="auto">
          <a:xfrm>
            <a:off x="5715000" y="2895600"/>
            <a:ext cx="381000" cy="381000"/>
          </a:xfrm>
          <a:prstGeom prst="rect">
            <a:avLst/>
          </a:prstGeom>
          <a:noFill/>
          <a:ln w="25400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413" name="AutoShape 18"/>
          <p:cNvSpPr>
            <a:spLocks noChangeArrowheads="1"/>
          </p:cNvSpPr>
          <p:nvPr/>
        </p:nvSpPr>
        <p:spPr bwMode="auto">
          <a:xfrm>
            <a:off x="2743200" y="4114800"/>
            <a:ext cx="2209800" cy="1143000"/>
          </a:xfrm>
          <a:prstGeom prst="wedgeRectCallout">
            <a:avLst>
              <a:gd name="adj1" fmla="val 84194"/>
              <a:gd name="adj2" fmla="val -122639"/>
            </a:avLst>
          </a:prstGeom>
          <a:noFill/>
          <a:ln w="9525" algn="ctr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800" b="0">
                <a:latin typeface="標楷體" panose="03000509000000000000" pitchFamily="65" charset="-120"/>
                <a:ea typeface="標楷體" panose="03000509000000000000" pitchFamily="65" charset="-120"/>
              </a:rPr>
              <a:t>利用 </a:t>
            </a:r>
            <a:r>
              <a:rPr lang="en-US" altLang="zh-TW" sz="1800" b="0">
                <a:latin typeface="標楷體" panose="03000509000000000000" pitchFamily="65" charset="-120"/>
                <a:ea typeface="標楷體" panose="03000509000000000000" pitchFamily="65" charset="-120"/>
              </a:rPr>
              <a:t>[Add Wire] </a:t>
            </a:r>
            <a:r>
              <a:rPr lang="zh-TW" altLang="en-US" sz="1800" b="0">
                <a:latin typeface="標楷體" panose="03000509000000000000" pitchFamily="65" charset="-120"/>
                <a:ea typeface="標楷體" panose="03000509000000000000" pitchFamily="65" charset="-120"/>
              </a:rPr>
              <a:t>加入輸出與輸入的線路</a:t>
            </a:r>
            <a:r>
              <a:rPr lang="en-US" altLang="zh-TW" sz="1800" b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繪製電路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(4/6)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在邏輯閘上按滑鼠右</a:t>
            </a:r>
            <a:endParaRPr lang="en-US" altLang="zh-TW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鍵後</a:t>
            </a: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選取</a:t>
            </a: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Generate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Pins for Symbol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Ports.(</a:t>
            </a: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即可產生邏輯</a:t>
            </a:r>
            <a:endParaRPr lang="en-US" altLang="zh-TW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閘元件的輸入及輸出</a:t>
            </a: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  <p:sp>
        <p:nvSpPr>
          <p:cNvPr id="18435" name="Text Box 7"/>
          <p:cNvSpPr txBox="1">
            <a:spLocks noChangeArrowheads="1"/>
          </p:cNvSpPr>
          <p:nvPr/>
        </p:nvSpPr>
        <p:spPr bwMode="auto">
          <a:xfrm>
            <a:off x="2955926" y="1563688"/>
            <a:ext cx="70262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426" y="1270001"/>
            <a:ext cx="4867275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繪製電路</a:t>
            </a:r>
            <a:r>
              <a:rPr lang="en-US" altLang="zh-TW" smtClean="0">
                <a:latin typeface="標楷體" pitchFamily="65" charset="-120"/>
                <a:ea typeface="標楷體" pitchFamily="65" charset="-120"/>
              </a:rPr>
              <a:t>(5/6)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814" y="2209801"/>
            <a:ext cx="7364186" cy="11715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繪製電路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(6/6)</a:t>
            </a: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[File]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→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[Save]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→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[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選擇一開始設定的檔案路徑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]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→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[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儲存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].</a:t>
            </a:r>
            <a:endParaRPr lang="zh-TW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1508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590801"/>
            <a:ext cx="5334000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TW" altLang="en-US" dirty="0" smtClean="0"/>
              <a:t>分析與合成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579941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編譯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(1/2)</a:t>
            </a:r>
            <a:endParaRPr lang="zh-TW" altLang="en-US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[Processing]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→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[Start]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  <a:sym typeface="Wingdings" panose="05000000000000000000" pitchFamily="2" charset="2"/>
              </a:rPr>
              <a:t>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[Start analysis &amp; Synthesis]</a:t>
            </a:r>
            <a:endParaRPr lang="zh-TW" altLang="en-US" dirty="0" smtClean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/>
          <a:srcRect l="13333" t="1852" r="47083" b="54444"/>
          <a:stretch/>
        </p:blipFill>
        <p:spPr>
          <a:xfrm>
            <a:off x="2782687" y="2566556"/>
            <a:ext cx="6580909" cy="4087091"/>
          </a:xfrm>
          <a:prstGeom prst="rect">
            <a:avLst/>
          </a:prstGeom>
        </p:spPr>
      </p:pic>
      <p:sp>
        <p:nvSpPr>
          <p:cNvPr id="5" name="向左箭號 4"/>
          <p:cNvSpPr/>
          <p:nvPr/>
        </p:nvSpPr>
        <p:spPr bwMode="auto">
          <a:xfrm>
            <a:off x="8839200" y="3886200"/>
            <a:ext cx="1524000" cy="457200"/>
          </a:xfrm>
          <a:prstGeom prst="lef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en-US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TW" altLang="en-US" dirty="0" smtClean="0"/>
              <a:t>功能模擬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686454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/>
              <a:t>開</a:t>
            </a:r>
            <a:r>
              <a:rPr lang="zh-TW" altLang="en-US" dirty="0"/>
              <a:t>檔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File-&gt;new-&gt; University Program VWF</a:t>
            </a:r>
            <a:endParaRPr lang="zh-TW" altLang="en-US" dirty="0"/>
          </a:p>
        </p:txBody>
      </p:sp>
      <p:pic>
        <p:nvPicPr>
          <p:cNvPr id="46084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1981200"/>
            <a:ext cx="280035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00580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/>
              <a:t>波形編輯器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pic>
        <p:nvPicPr>
          <p:cNvPr id="47108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4" y="1771650"/>
            <a:ext cx="8689975" cy="444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64652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/>
              <a:t>匯入埠</a:t>
            </a:r>
            <a:r>
              <a:rPr lang="zh-TW" altLang="en-US" dirty="0"/>
              <a:t>腳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Edit-&gt;Insert-&gt;Insert Node or Bus…</a:t>
            </a:r>
          </a:p>
          <a:p>
            <a:pPr>
              <a:defRPr/>
            </a:pPr>
            <a:r>
              <a:rPr lang="en-US" altLang="zh-TW" dirty="0" smtClean="0"/>
              <a:t>Node Finder-&gt;List-&gt;</a:t>
            </a:r>
            <a:r>
              <a:rPr lang="zh-TW" altLang="en-US" dirty="0" smtClean="0"/>
              <a:t>腳位</a:t>
            </a:r>
            <a:endParaRPr lang="zh-TW" altLang="en-US" dirty="0"/>
          </a:p>
        </p:txBody>
      </p:sp>
      <p:pic>
        <p:nvPicPr>
          <p:cNvPr id="5120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2590801"/>
            <a:ext cx="81153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5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138" y="1976439"/>
            <a:ext cx="329565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圓角矩形 7"/>
          <p:cNvSpPr>
            <a:spLocks noChangeArrowheads="1"/>
          </p:cNvSpPr>
          <p:nvPr/>
        </p:nvSpPr>
        <p:spPr bwMode="auto">
          <a:xfrm>
            <a:off x="2514600" y="3124200"/>
            <a:ext cx="2590800" cy="2286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51208" name="圓角矩形 8"/>
          <p:cNvSpPr>
            <a:spLocks noChangeArrowheads="1"/>
          </p:cNvSpPr>
          <p:nvPr/>
        </p:nvSpPr>
        <p:spPr bwMode="auto">
          <a:xfrm>
            <a:off x="9448800" y="3048000"/>
            <a:ext cx="998538" cy="2286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51209" name="圓角矩形 9"/>
          <p:cNvSpPr>
            <a:spLocks noChangeArrowheads="1"/>
          </p:cNvSpPr>
          <p:nvPr/>
        </p:nvSpPr>
        <p:spPr bwMode="auto">
          <a:xfrm>
            <a:off x="9242426" y="4800600"/>
            <a:ext cx="620713" cy="2286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4348161"/>
            <a:ext cx="4048591" cy="2252801"/>
          </a:xfrm>
          <a:prstGeom prst="rect">
            <a:avLst/>
          </a:prstGeom>
        </p:spPr>
      </p:pic>
      <p:sp>
        <p:nvSpPr>
          <p:cNvPr id="51210" name="圓角矩形 10"/>
          <p:cNvSpPr>
            <a:spLocks noChangeArrowheads="1"/>
          </p:cNvSpPr>
          <p:nvPr/>
        </p:nvSpPr>
        <p:spPr bwMode="auto">
          <a:xfrm>
            <a:off x="8841032" y="5017721"/>
            <a:ext cx="998538" cy="490537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91353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/>
              <a:t>格子大小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Edit-&gt;Grid Size-&gt;1 us</a:t>
            </a:r>
            <a:endParaRPr lang="zh-TW" altLang="en-US" dirty="0"/>
          </a:p>
        </p:txBody>
      </p:sp>
      <p:pic>
        <p:nvPicPr>
          <p:cNvPr id="50180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838201"/>
            <a:ext cx="245745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2514601"/>
            <a:ext cx="7777163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0182" name="直線單箭頭接點 6"/>
          <p:cNvCxnSpPr>
            <a:cxnSpLocks noChangeShapeType="1"/>
          </p:cNvCxnSpPr>
          <p:nvPr/>
        </p:nvCxnSpPr>
        <p:spPr bwMode="auto">
          <a:xfrm>
            <a:off x="3886200" y="4572000"/>
            <a:ext cx="6019800" cy="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6292868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編輯輸入波形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37" y="1474177"/>
            <a:ext cx="1060132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1657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/>
              <a:t>存波形檔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File-&gt;Save As-&gt;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927631"/>
            <a:ext cx="7383843" cy="565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359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Run Functional Simulation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600" y="1066800"/>
            <a:ext cx="9492885" cy="5491957"/>
          </a:xfrm>
          <a:prstGeom prst="rect">
            <a:avLst/>
          </a:prstGeom>
        </p:spPr>
      </p:pic>
      <p:sp>
        <p:nvSpPr>
          <p:cNvPr id="11" name="圓角矩形圖說文字 10"/>
          <p:cNvSpPr/>
          <p:nvPr/>
        </p:nvSpPr>
        <p:spPr bwMode="auto">
          <a:xfrm>
            <a:off x="2590800" y="2057400"/>
            <a:ext cx="3276600" cy="457200"/>
          </a:xfrm>
          <a:prstGeom prst="wedgeRoundRectCallout">
            <a:avLst>
              <a:gd name="adj1" fmla="val -4342"/>
              <a:gd name="adj2" fmla="val -181491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 Functional Simulation</a:t>
            </a: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2" name="向右箭號 11"/>
          <p:cNvSpPr/>
          <p:nvPr/>
        </p:nvSpPr>
        <p:spPr bwMode="auto">
          <a:xfrm>
            <a:off x="4114800" y="3490317"/>
            <a:ext cx="990600" cy="873522"/>
          </a:xfrm>
          <a:prstGeom prst="rightArrow">
            <a:avLst>
              <a:gd name="adj1" fmla="val 50000"/>
              <a:gd name="adj2" fmla="val 50888"/>
            </a:avLst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>
                <a:latin typeface="Arial" charset="0"/>
              </a:rPr>
              <a:t>Result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72327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TW" altLang="en-US" dirty="0" smtClean="0"/>
              <a:t>實驗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zh-TW" altLang="en-US" dirty="0" smtClean="0"/>
              <a:t>燒錄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093320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外接輸入</a:t>
            </a:r>
            <a:r>
              <a:rPr lang="en-US" altLang="zh-TW" dirty="0" smtClean="0"/>
              <a:t>/</a:t>
            </a:r>
            <a:r>
              <a:rPr lang="zh-TW" altLang="en-US" dirty="0" smtClean="0"/>
              <a:t>輸出腳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參考</a:t>
            </a:r>
            <a:r>
              <a:rPr lang="en-US" altLang="zh-TW" dirty="0" smtClean="0"/>
              <a:t>Dev-cv user manual</a:t>
            </a:r>
          </a:p>
          <a:p>
            <a:r>
              <a:rPr lang="zh-TW" altLang="en-US" dirty="0" smtClean="0"/>
              <a:t>輸入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602" y="3106894"/>
            <a:ext cx="3885679" cy="310499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467" y="2133600"/>
            <a:ext cx="5534025" cy="287655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1975545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外接輸入</a:t>
            </a:r>
            <a:r>
              <a:rPr lang="en-US" altLang="zh-TW" dirty="0" smtClean="0"/>
              <a:t>/</a:t>
            </a:r>
            <a:r>
              <a:rPr lang="zh-TW" altLang="en-US" dirty="0" smtClean="0"/>
              <a:t>輸出腳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參考</a:t>
            </a:r>
            <a:r>
              <a:rPr lang="en-US" altLang="zh-TW" dirty="0" smtClean="0"/>
              <a:t>Dev-cv user manual</a:t>
            </a:r>
          </a:p>
          <a:p>
            <a:r>
              <a:rPr lang="zh-TW" altLang="en-US" dirty="0" smtClean="0"/>
              <a:t>輸出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84029"/>
            <a:ext cx="4234622" cy="259636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1" y="3439940"/>
            <a:ext cx="5152159" cy="258906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8914308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Pin planner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828800" y="1447800"/>
            <a:ext cx="3276600" cy="4611688"/>
          </a:xfrm>
        </p:spPr>
        <p:txBody>
          <a:bodyPr/>
          <a:lstStyle/>
          <a:p>
            <a:r>
              <a:rPr lang="zh-TW" altLang="en-US" dirty="0" smtClean="0"/>
              <a:t>打開</a:t>
            </a:r>
            <a:r>
              <a:rPr lang="en-US" altLang="zh-TW" dirty="0" smtClean="0"/>
              <a:t>pin planner</a:t>
            </a:r>
          </a:p>
          <a:p>
            <a:r>
              <a:rPr lang="zh-TW" altLang="en-US" dirty="0" smtClean="0"/>
              <a:t>在</a:t>
            </a:r>
            <a:r>
              <a:rPr lang="en-US" altLang="zh-TW" dirty="0" smtClean="0"/>
              <a:t>in1</a:t>
            </a:r>
            <a:r>
              <a:rPr lang="zh-TW" altLang="en-US" dirty="0" smtClean="0"/>
              <a:t>，</a:t>
            </a:r>
            <a:r>
              <a:rPr lang="en-US" altLang="zh-TW" dirty="0" smtClean="0"/>
              <a:t>in2</a:t>
            </a:r>
            <a:r>
              <a:rPr lang="zh-TW" altLang="en-US" dirty="0" smtClean="0"/>
              <a:t>，和</a:t>
            </a:r>
            <a:r>
              <a:rPr lang="en-US" altLang="zh-TW" dirty="0" smtClean="0"/>
              <a:t>out</a:t>
            </a:r>
            <a:r>
              <a:rPr lang="zh-TW" altLang="en-US" dirty="0" smtClean="0"/>
              <a:t>的</a:t>
            </a:r>
            <a:r>
              <a:rPr lang="en-US" altLang="zh-TW" dirty="0" smtClean="0"/>
              <a:t>location</a:t>
            </a:r>
            <a:r>
              <a:rPr lang="zh-TW" altLang="en-US" dirty="0" smtClean="0"/>
              <a:t>填入要外接的腳位名稱</a:t>
            </a:r>
            <a:endParaRPr lang="en-US" altLang="zh-TW" dirty="0" smtClean="0"/>
          </a:p>
          <a:p>
            <a:r>
              <a:rPr lang="en-US" altLang="zh-TW" dirty="0"/>
              <a:t>In1-&gt;</a:t>
            </a:r>
            <a:r>
              <a:rPr lang="en-US" altLang="zh-TW" dirty="0" smtClean="0"/>
              <a:t>PIN_U13</a:t>
            </a:r>
          </a:p>
          <a:p>
            <a:r>
              <a:rPr lang="en-US" altLang="zh-TW" dirty="0"/>
              <a:t>In2-&gt;</a:t>
            </a:r>
            <a:r>
              <a:rPr lang="en-US" altLang="zh-TW" dirty="0" smtClean="0"/>
              <a:t>PIN_V13</a:t>
            </a:r>
          </a:p>
          <a:p>
            <a:r>
              <a:rPr lang="en-US" altLang="zh-TW" dirty="0"/>
              <a:t>Out-&gt;PIN_AA2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19238"/>
            <a:ext cx="5638800" cy="1076325"/>
          </a:xfrm>
          <a:prstGeom prst="rect">
            <a:avLst/>
          </a:prstGeom>
        </p:spPr>
      </p:pic>
      <p:sp>
        <p:nvSpPr>
          <p:cNvPr id="5" name="向下箭號 4"/>
          <p:cNvSpPr/>
          <p:nvPr/>
        </p:nvSpPr>
        <p:spPr bwMode="auto">
          <a:xfrm>
            <a:off x="6019800" y="1363424"/>
            <a:ext cx="304800" cy="609600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en-US">
              <a:latin typeface="Arial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009" y="3005276"/>
            <a:ext cx="5322848" cy="3053917"/>
          </a:xfrm>
          <a:prstGeom prst="rect">
            <a:avLst/>
          </a:prstGeom>
        </p:spPr>
      </p:pic>
      <p:sp>
        <p:nvSpPr>
          <p:cNvPr id="7" name="向下箭號 6"/>
          <p:cNvSpPr/>
          <p:nvPr/>
        </p:nvSpPr>
        <p:spPr bwMode="auto">
          <a:xfrm>
            <a:off x="6705600" y="4876800"/>
            <a:ext cx="304800" cy="609600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2991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專案電路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將要燒錄的最上層電路另存新檔，檔名為專案名稱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984658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Compile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點選</a:t>
            </a:r>
            <a:r>
              <a:rPr lang="en-US" altLang="zh-TW" dirty="0" smtClean="0"/>
              <a:t>compile</a:t>
            </a:r>
            <a:r>
              <a:rPr lang="zh-TW" altLang="en-US" dirty="0" smtClean="0"/>
              <a:t>進行編譯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438401"/>
            <a:ext cx="5524500" cy="847725"/>
          </a:xfrm>
          <a:prstGeom prst="rect">
            <a:avLst/>
          </a:prstGeom>
        </p:spPr>
      </p:pic>
      <p:sp>
        <p:nvSpPr>
          <p:cNvPr id="5" name="向下箭號 4"/>
          <p:cNvSpPr/>
          <p:nvPr/>
        </p:nvSpPr>
        <p:spPr bwMode="auto">
          <a:xfrm>
            <a:off x="4953000" y="1981200"/>
            <a:ext cx="533400" cy="609600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21223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676401"/>
            <a:ext cx="8201025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3556" name="矩形圖說文字 4"/>
          <p:cNvSpPr>
            <a:spLocks noChangeArrowheads="1"/>
          </p:cNvSpPr>
          <p:nvPr/>
        </p:nvSpPr>
        <p:spPr bwMode="auto">
          <a:xfrm flipH="1">
            <a:off x="5638801" y="1890714"/>
            <a:ext cx="187325" cy="155575"/>
          </a:xfrm>
          <a:prstGeom prst="wedgeRectCallout">
            <a:avLst>
              <a:gd name="adj1" fmla="val -601880"/>
              <a:gd name="adj2" fmla="val 258630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557" name="文字方塊 5"/>
          <p:cNvSpPr txBox="1">
            <a:spLocks noChangeArrowheads="1"/>
          </p:cNvSpPr>
          <p:nvPr/>
        </p:nvSpPr>
        <p:spPr bwMode="auto">
          <a:xfrm>
            <a:off x="6705600" y="2082800"/>
            <a:ext cx="83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endParaRPr lang="zh-TW" altLang="en-US" b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752601"/>
            <a:ext cx="5715000" cy="446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(cont.)</a:t>
            </a:r>
          </a:p>
        </p:txBody>
      </p:sp>
      <p:sp>
        <p:nvSpPr>
          <p:cNvPr id="24580" name="矩形圖說文字 7"/>
          <p:cNvSpPr>
            <a:spLocks noChangeArrowheads="1"/>
          </p:cNvSpPr>
          <p:nvPr/>
        </p:nvSpPr>
        <p:spPr bwMode="auto">
          <a:xfrm>
            <a:off x="3759200" y="2184400"/>
            <a:ext cx="927100" cy="254000"/>
          </a:xfrm>
          <a:prstGeom prst="wedgeRectCallout">
            <a:avLst>
              <a:gd name="adj1" fmla="val -56449"/>
              <a:gd name="adj2" fmla="val -277500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(cont.)</a:t>
            </a:r>
          </a:p>
        </p:txBody>
      </p:sp>
      <p:pic>
        <p:nvPicPr>
          <p:cNvPr id="2560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1" y="1905000"/>
            <a:ext cx="4886325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矩形圖說文字 7"/>
          <p:cNvSpPr>
            <a:spLocks noChangeArrowheads="1"/>
          </p:cNvSpPr>
          <p:nvPr/>
        </p:nvSpPr>
        <p:spPr bwMode="auto">
          <a:xfrm>
            <a:off x="4457700" y="2794000"/>
            <a:ext cx="3124200" cy="609600"/>
          </a:xfrm>
          <a:prstGeom prst="wedgeRectCallout">
            <a:avLst>
              <a:gd name="adj1" fmla="val 62500"/>
              <a:gd name="adj2" fmla="val -95833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605" name="文字方塊 10"/>
          <p:cNvSpPr txBox="1">
            <a:spLocks noChangeArrowheads="1"/>
          </p:cNvSpPr>
          <p:nvPr/>
        </p:nvSpPr>
        <p:spPr bwMode="auto">
          <a:xfrm>
            <a:off x="8001000" y="22098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endParaRPr lang="zh-TW" altLang="en-US" b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606" name="矩形圖說文字 11"/>
          <p:cNvSpPr>
            <a:spLocks noChangeArrowheads="1"/>
          </p:cNvSpPr>
          <p:nvPr/>
        </p:nvSpPr>
        <p:spPr bwMode="auto">
          <a:xfrm>
            <a:off x="6781800" y="4648200"/>
            <a:ext cx="914400" cy="533400"/>
          </a:xfrm>
          <a:prstGeom prst="wedgeRectCallout">
            <a:avLst>
              <a:gd name="adj1" fmla="val 108333"/>
              <a:gd name="adj2" fmla="val -37500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607" name="文字方塊 12"/>
          <p:cNvSpPr txBox="1">
            <a:spLocks noChangeArrowheads="1"/>
          </p:cNvSpPr>
          <p:nvPr/>
        </p:nvSpPr>
        <p:spPr bwMode="auto">
          <a:xfrm>
            <a:off x="8229600" y="44196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endParaRPr lang="zh-TW" altLang="en-US" b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752601"/>
            <a:ext cx="5715000" cy="446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(cont.)</a:t>
            </a:r>
          </a:p>
        </p:txBody>
      </p:sp>
      <p:sp>
        <p:nvSpPr>
          <p:cNvPr id="26628" name="矩形圖說文字 7"/>
          <p:cNvSpPr>
            <a:spLocks noChangeArrowheads="1"/>
          </p:cNvSpPr>
          <p:nvPr/>
        </p:nvSpPr>
        <p:spPr bwMode="auto">
          <a:xfrm>
            <a:off x="3759200" y="3556000"/>
            <a:ext cx="927100" cy="254000"/>
          </a:xfrm>
          <a:prstGeom prst="wedgeRectCallout">
            <a:avLst>
              <a:gd name="adj1" fmla="val -142750"/>
              <a:gd name="adj2" fmla="val -142500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629" name="文字方塊 2"/>
          <p:cNvSpPr txBox="1">
            <a:spLocks noChangeArrowheads="1"/>
          </p:cNvSpPr>
          <p:nvPr/>
        </p:nvSpPr>
        <p:spPr bwMode="auto">
          <a:xfrm>
            <a:off x="2438400" y="31242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1</a:t>
            </a:r>
            <a:endParaRPr lang="zh-TW" altLang="en-US" sz="1800" b="0">
              <a:solidFill>
                <a:srgbClr val="FF0000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6630" name="矩形圖說文字 7"/>
          <p:cNvSpPr>
            <a:spLocks noChangeArrowheads="1"/>
          </p:cNvSpPr>
          <p:nvPr/>
        </p:nvSpPr>
        <p:spPr bwMode="auto">
          <a:xfrm>
            <a:off x="3644900" y="2717800"/>
            <a:ext cx="927100" cy="254000"/>
          </a:xfrm>
          <a:prstGeom prst="wedgeRectCallout">
            <a:avLst>
              <a:gd name="adj1" fmla="val -142750"/>
              <a:gd name="adj2" fmla="val -142500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631" name="文字方塊 6"/>
          <p:cNvSpPr txBox="1">
            <a:spLocks noChangeArrowheads="1"/>
          </p:cNvSpPr>
          <p:nvPr/>
        </p:nvSpPr>
        <p:spPr bwMode="auto">
          <a:xfrm>
            <a:off x="2514600" y="2297114"/>
            <a:ext cx="457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2</a:t>
            </a:r>
            <a:endParaRPr lang="zh-TW" altLang="en-US" sz="1800" b="0">
              <a:solidFill>
                <a:srgbClr val="FF0000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820863"/>
            <a:ext cx="5943600" cy="464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(cont.)</a:t>
            </a:r>
          </a:p>
        </p:txBody>
      </p:sp>
      <p:sp>
        <p:nvSpPr>
          <p:cNvPr id="27652" name="矩形圖說文字 11"/>
          <p:cNvSpPr>
            <a:spLocks noChangeArrowheads="1"/>
          </p:cNvSpPr>
          <p:nvPr/>
        </p:nvSpPr>
        <p:spPr bwMode="auto">
          <a:xfrm>
            <a:off x="8229600" y="2133600"/>
            <a:ext cx="1828800" cy="457200"/>
          </a:xfrm>
          <a:prstGeom prst="wedgeRectCallout">
            <a:avLst>
              <a:gd name="adj1" fmla="val -56250"/>
              <a:gd name="adj2" fmla="val -181944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653" name="文字方塊 12"/>
          <p:cNvSpPr txBox="1">
            <a:spLocks noChangeArrowheads="1"/>
          </p:cNvSpPr>
          <p:nvPr/>
        </p:nvSpPr>
        <p:spPr bwMode="auto">
          <a:xfrm>
            <a:off x="6705600" y="762001"/>
            <a:ext cx="3581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0">
                <a:latin typeface="標楷體" panose="03000509000000000000" pitchFamily="65" charset="-120"/>
                <a:ea typeface="標楷體" panose="03000509000000000000" pitchFamily="65" charset="-120"/>
              </a:rPr>
              <a:t>100%</a:t>
            </a:r>
            <a:r>
              <a:rPr lang="zh-TW" altLang="en-US" sz="2800" b="0">
                <a:latin typeface="標楷體" panose="03000509000000000000" pitchFamily="65" charset="-120"/>
                <a:ea typeface="標楷體" panose="03000509000000000000" pitchFamily="65" charset="-120"/>
              </a:rPr>
              <a:t>時為燒錄完成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(cont.)</a:t>
            </a:r>
          </a:p>
        </p:txBody>
      </p:sp>
      <p:sp>
        <p:nvSpPr>
          <p:cNvPr id="378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當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SW0</a:t>
            </a: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和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SW1</a:t>
            </a: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往上切換為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1 ,</a:t>
            </a: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則相對應的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LED </a:t>
            </a: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就為 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[</a:t>
            </a: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亮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].</a:t>
            </a:r>
          </a:p>
          <a:p>
            <a:pPr eaLnBrk="1" hangingPunct="1">
              <a:defRPr/>
            </a:pP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此時假如沒把程式燒錄進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epcs4,</a:t>
            </a: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關掉電源後再開機</a:t>
            </a:r>
            <a:r>
              <a:rPr lang="en-US" altLang="zh-TW" b="0" dirty="0" smtClean="0">
                <a:effectLst/>
                <a:latin typeface="標楷體" pitchFamily="65" charset="-120"/>
                <a:ea typeface="標楷體" pitchFamily="65" charset="-120"/>
              </a:rPr>
              <a:t>,</a:t>
            </a:r>
            <a:r>
              <a:rPr lang="zh-TW" altLang="en-US" b="0" dirty="0" smtClean="0">
                <a:effectLst/>
                <a:latin typeface="標楷體" pitchFamily="65" charset="-120"/>
                <a:ea typeface="標楷體" pitchFamily="65" charset="-120"/>
              </a:rPr>
              <a:t>程式需要再重新燒錄。</a:t>
            </a:r>
            <a:endParaRPr lang="en-US" altLang="zh-TW" b="0" dirty="0" smtClean="0">
              <a:effectLst/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8676" name="圖片 6" descr="P109090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657600"/>
            <a:ext cx="47244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zh-TW" dirty="0" smtClean="0"/>
              <a:t>Flash</a:t>
            </a:r>
            <a:r>
              <a:rPr lang="zh-TW" altLang="en-US" dirty="0" smtClean="0"/>
              <a:t>燒錄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8328423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圖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936876"/>
            <a:ext cx="38100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0" y="2971801"/>
            <a:ext cx="3752850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(epcs64)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先關掉電源</a:t>
            </a: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依照下面圖示把指撥開關推至</a:t>
            </a: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PROG</a:t>
            </a:r>
            <a:endParaRPr lang="zh-TW" altLang="en-US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  <p:sp>
        <p:nvSpPr>
          <p:cNvPr id="29701" name="向右箭號 13"/>
          <p:cNvSpPr>
            <a:spLocks noChangeArrowheads="1"/>
          </p:cNvSpPr>
          <p:nvPr/>
        </p:nvSpPr>
        <p:spPr bwMode="auto">
          <a:xfrm>
            <a:off x="5981700" y="3505200"/>
            <a:ext cx="685800" cy="1219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702" name="文字方塊 14"/>
          <p:cNvSpPr txBox="1">
            <a:spLocks noChangeArrowheads="1"/>
          </p:cNvSpPr>
          <p:nvPr/>
        </p:nvSpPr>
        <p:spPr bwMode="auto">
          <a:xfrm>
            <a:off x="2362200" y="1752601"/>
            <a:ext cx="746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lang="zh-TW" altLang="en-US" sz="24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703" name="矩形 6"/>
          <p:cNvSpPr>
            <a:spLocks noChangeArrowheads="1"/>
          </p:cNvSpPr>
          <p:nvPr/>
        </p:nvSpPr>
        <p:spPr bwMode="auto">
          <a:xfrm>
            <a:off x="2667000" y="3657600"/>
            <a:ext cx="762000" cy="11430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704" name="矩形 7"/>
          <p:cNvSpPr>
            <a:spLocks noChangeArrowheads="1"/>
          </p:cNvSpPr>
          <p:nvPr/>
        </p:nvSpPr>
        <p:spPr bwMode="auto">
          <a:xfrm>
            <a:off x="7315200" y="3657600"/>
            <a:ext cx="762000" cy="11430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(epcs64 cont.)</a:t>
            </a:r>
          </a:p>
        </p:txBody>
      </p:sp>
      <p:sp>
        <p:nvSpPr>
          <p:cNvPr id="30723" name="文字方塊 17"/>
          <p:cNvSpPr txBox="1">
            <a:spLocks noChangeArrowheads="1"/>
          </p:cNvSpPr>
          <p:nvPr/>
        </p:nvSpPr>
        <p:spPr bwMode="auto">
          <a:xfrm>
            <a:off x="2192338" y="1176338"/>
            <a:ext cx="7924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 </a:t>
            </a:r>
            <a:r>
              <a:rPr lang="en-US" altLang="zh-TW" sz="2400" b="0">
                <a:latin typeface="Arial" panose="020B0604020202020204" pitchFamily="34" charset="0"/>
                <a:ea typeface="標楷體" panose="03000509000000000000" pitchFamily="65" charset="-120"/>
              </a:rPr>
              <a:t>[Assignments] -&gt; [Device] -&gt; [Device and Pin Options]</a:t>
            </a:r>
            <a:endParaRPr lang="zh-TW" altLang="en-US" sz="24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072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288" y="1700214"/>
            <a:ext cx="5930900" cy="508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矩形圖說文字 12"/>
          <p:cNvSpPr>
            <a:spLocks noChangeArrowheads="1"/>
          </p:cNvSpPr>
          <p:nvPr/>
        </p:nvSpPr>
        <p:spPr bwMode="auto">
          <a:xfrm>
            <a:off x="3429000" y="2286001"/>
            <a:ext cx="1676400" cy="265113"/>
          </a:xfrm>
          <a:prstGeom prst="wedgeRectCallout">
            <a:avLst>
              <a:gd name="adj1" fmla="val -92819"/>
              <a:gd name="adj2" fmla="val -72088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726" name="矩形圖說文字 13"/>
          <p:cNvSpPr>
            <a:spLocks noChangeArrowheads="1"/>
          </p:cNvSpPr>
          <p:nvPr/>
        </p:nvSpPr>
        <p:spPr bwMode="auto">
          <a:xfrm>
            <a:off x="6026150" y="2590800"/>
            <a:ext cx="2889250" cy="304800"/>
          </a:xfrm>
          <a:prstGeom prst="wedgeRectCallout">
            <a:avLst>
              <a:gd name="adj1" fmla="val -9847"/>
              <a:gd name="adj2" fmla="val -226264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727" name="矩形圖說文字 14"/>
          <p:cNvSpPr>
            <a:spLocks noChangeArrowheads="1"/>
          </p:cNvSpPr>
          <p:nvPr/>
        </p:nvSpPr>
        <p:spPr bwMode="auto">
          <a:xfrm>
            <a:off x="6477000" y="3206751"/>
            <a:ext cx="2362200" cy="265113"/>
          </a:xfrm>
          <a:prstGeom prst="wedgeRectCallout">
            <a:avLst>
              <a:gd name="adj1" fmla="val 71315"/>
              <a:gd name="adj2" fmla="val -146634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728" name="文字方塊 10"/>
          <p:cNvSpPr txBox="1">
            <a:spLocks noChangeArrowheads="1"/>
          </p:cNvSpPr>
          <p:nvPr/>
        </p:nvSpPr>
        <p:spPr bwMode="auto">
          <a:xfrm>
            <a:off x="2209800" y="1833563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endParaRPr lang="zh-TW" altLang="en-US" b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729" name="文字方塊 10"/>
          <p:cNvSpPr txBox="1">
            <a:spLocks noChangeArrowheads="1"/>
          </p:cNvSpPr>
          <p:nvPr/>
        </p:nvSpPr>
        <p:spPr bwMode="auto">
          <a:xfrm>
            <a:off x="6629400" y="1565275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endParaRPr lang="zh-TW" altLang="en-US" b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730" name="文字方塊 10"/>
          <p:cNvSpPr txBox="1">
            <a:spLocks noChangeArrowheads="1"/>
          </p:cNvSpPr>
          <p:nvPr/>
        </p:nvSpPr>
        <p:spPr bwMode="auto">
          <a:xfrm>
            <a:off x="9053513" y="24511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endParaRPr lang="zh-TW" altLang="en-US" b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5067" name="文字方塊 10"/>
          <p:cNvSpPr txBox="1">
            <a:spLocks noChangeArrowheads="1"/>
          </p:cNvSpPr>
          <p:nvPr/>
        </p:nvSpPr>
        <p:spPr bwMode="auto">
          <a:xfrm>
            <a:off x="6154738" y="5638801"/>
            <a:ext cx="4114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tx1"/>
                </a:solidFill>
                <a:latin typeface="Tempus Sans ITC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TW" sz="24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4.</a:t>
            </a:r>
            <a:r>
              <a:rPr lang="zh-TW" altLang="en-US" sz="24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按</a:t>
            </a:r>
            <a:r>
              <a:rPr lang="en-US" altLang="zh-TW" sz="24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OK</a:t>
            </a:r>
            <a:r>
              <a:rPr lang="zh-TW" altLang="en-US" sz="24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後，記得要重新編譯</a:t>
            </a:r>
          </a:p>
        </p:txBody>
      </p:sp>
      <p:sp>
        <p:nvSpPr>
          <p:cNvPr id="30732" name="矩形圖說文字 19"/>
          <p:cNvSpPr>
            <a:spLocks noChangeArrowheads="1"/>
          </p:cNvSpPr>
          <p:nvPr/>
        </p:nvSpPr>
        <p:spPr bwMode="auto">
          <a:xfrm>
            <a:off x="7086600" y="6400800"/>
            <a:ext cx="685800" cy="304800"/>
          </a:xfrm>
          <a:prstGeom prst="wedgeRectCallout">
            <a:avLst>
              <a:gd name="adj1" fmla="val 71315"/>
              <a:gd name="adj2" fmla="val -146634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046289"/>
            <a:ext cx="6019800" cy="470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(epcs64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cont.)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再</a:t>
            </a: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重新編譯一次</a:t>
            </a: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就會產生</a:t>
            </a: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en-US" altLang="zh-TW" b="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pof</a:t>
            </a: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檔</a:t>
            </a:r>
          </a:p>
          <a:p>
            <a:endParaRPr lang="zh-TW" altLang="en-US" dirty="0"/>
          </a:p>
        </p:txBody>
      </p:sp>
      <p:sp>
        <p:nvSpPr>
          <p:cNvPr id="31749" name="矩形圖說文字 10"/>
          <p:cNvSpPr>
            <a:spLocks noChangeArrowheads="1"/>
          </p:cNvSpPr>
          <p:nvPr/>
        </p:nvSpPr>
        <p:spPr bwMode="auto">
          <a:xfrm>
            <a:off x="3409950" y="2554289"/>
            <a:ext cx="5219700" cy="657225"/>
          </a:xfrm>
          <a:prstGeom prst="wedgeRectCallout">
            <a:avLst>
              <a:gd name="adj1" fmla="val 57454"/>
              <a:gd name="adj2" fmla="val -21560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750" name="文字方塊 11"/>
          <p:cNvSpPr txBox="1">
            <a:spLocks noChangeArrowheads="1"/>
          </p:cNvSpPr>
          <p:nvPr/>
        </p:nvSpPr>
        <p:spPr bwMode="auto">
          <a:xfrm>
            <a:off x="9067800" y="2438400"/>
            <a:ext cx="533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endParaRPr lang="zh-TW" altLang="en-US" b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48546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51" t="27037" r="12500" b="13704"/>
          <a:stretch>
            <a:fillRect/>
          </a:stretch>
        </p:blipFill>
        <p:spPr bwMode="auto">
          <a:xfrm>
            <a:off x="3352800" y="1447800"/>
            <a:ext cx="7086600" cy="510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(epcs4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cont.)</a:t>
            </a:r>
          </a:p>
        </p:txBody>
      </p:sp>
      <p:sp>
        <p:nvSpPr>
          <p:cNvPr id="32772" name="文字方塊 10"/>
          <p:cNvSpPr txBox="1">
            <a:spLocks noChangeArrowheads="1"/>
          </p:cNvSpPr>
          <p:nvPr/>
        </p:nvSpPr>
        <p:spPr bwMode="auto">
          <a:xfrm>
            <a:off x="2667000" y="32766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endParaRPr lang="zh-TW" altLang="en-US" b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773" name="矩形圖說文字 7"/>
          <p:cNvSpPr>
            <a:spLocks noChangeArrowheads="1"/>
          </p:cNvSpPr>
          <p:nvPr/>
        </p:nvSpPr>
        <p:spPr bwMode="auto">
          <a:xfrm>
            <a:off x="3352800" y="4191000"/>
            <a:ext cx="1028700" cy="266700"/>
          </a:xfrm>
          <a:prstGeom prst="wedgeRectCallout">
            <a:avLst>
              <a:gd name="adj1" fmla="val -70218"/>
              <a:gd name="adj2" fmla="val -199403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774" name="矩形圖說文字 11"/>
          <p:cNvSpPr>
            <a:spLocks noChangeArrowheads="1"/>
          </p:cNvSpPr>
          <p:nvPr/>
        </p:nvSpPr>
        <p:spPr bwMode="auto">
          <a:xfrm>
            <a:off x="6172200" y="3378200"/>
            <a:ext cx="609600" cy="355600"/>
          </a:xfrm>
          <a:prstGeom prst="wedgeRectCallout">
            <a:avLst>
              <a:gd name="adj1" fmla="val 206250"/>
              <a:gd name="adj2" fmla="val 142500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775" name="文字方塊 12"/>
          <p:cNvSpPr txBox="1">
            <a:spLocks noChangeArrowheads="1"/>
          </p:cNvSpPr>
          <p:nvPr/>
        </p:nvSpPr>
        <p:spPr bwMode="auto">
          <a:xfrm>
            <a:off x="7696200" y="3835400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endParaRPr lang="zh-TW" altLang="en-US" b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776" name="矩形圖說文字 15"/>
          <p:cNvSpPr>
            <a:spLocks noChangeArrowheads="1"/>
          </p:cNvSpPr>
          <p:nvPr/>
        </p:nvSpPr>
        <p:spPr bwMode="auto">
          <a:xfrm>
            <a:off x="9486900" y="5791200"/>
            <a:ext cx="800100" cy="355600"/>
          </a:xfrm>
          <a:prstGeom prst="wedgeRectCallout">
            <a:avLst>
              <a:gd name="adj1" fmla="val -20417"/>
              <a:gd name="adj2" fmla="val -203931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777" name="文字方塊 16"/>
          <p:cNvSpPr txBox="1">
            <a:spLocks noChangeArrowheads="1"/>
          </p:cNvSpPr>
          <p:nvPr/>
        </p:nvSpPr>
        <p:spPr bwMode="auto">
          <a:xfrm>
            <a:off x="9448800" y="4749800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endParaRPr lang="zh-TW" altLang="en-US" b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(epcs4 cont.)</a:t>
            </a:r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1676401"/>
            <a:ext cx="7191375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矩形圖說文字 7"/>
          <p:cNvSpPr>
            <a:spLocks noChangeArrowheads="1"/>
          </p:cNvSpPr>
          <p:nvPr/>
        </p:nvSpPr>
        <p:spPr bwMode="auto">
          <a:xfrm>
            <a:off x="7467600" y="3200400"/>
            <a:ext cx="685800" cy="533400"/>
          </a:xfrm>
          <a:prstGeom prst="wedgeRectCallout">
            <a:avLst>
              <a:gd name="adj1" fmla="val -463"/>
              <a:gd name="adj2" fmla="val 155356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797" name="文字方塊 10"/>
          <p:cNvSpPr txBox="1">
            <a:spLocks noChangeArrowheads="1"/>
          </p:cNvSpPr>
          <p:nvPr/>
        </p:nvSpPr>
        <p:spPr bwMode="auto">
          <a:xfrm>
            <a:off x="7620000" y="4343400"/>
            <a:ext cx="2743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en-US" altLang="zh-TW" b="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b="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要</a:t>
            </a:r>
            <a:r>
              <a:rPr lang="zh-TW" altLang="en-US" b="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打勾</a:t>
            </a:r>
          </a:p>
        </p:txBody>
      </p:sp>
      <p:sp>
        <p:nvSpPr>
          <p:cNvPr id="33798" name="矩形圖說文字 11"/>
          <p:cNvSpPr>
            <a:spLocks noChangeArrowheads="1"/>
          </p:cNvSpPr>
          <p:nvPr/>
        </p:nvSpPr>
        <p:spPr bwMode="auto">
          <a:xfrm>
            <a:off x="2514600" y="3200400"/>
            <a:ext cx="1143000" cy="228600"/>
          </a:xfrm>
          <a:prstGeom prst="wedgeRectCallout">
            <a:avLst>
              <a:gd name="adj1" fmla="val 74722"/>
              <a:gd name="adj2" fmla="val 440278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799" name="文字方塊 12"/>
          <p:cNvSpPr txBox="1">
            <a:spLocks noChangeArrowheads="1"/>
          </p:cNvSpPr>
          <p:nvPr/>
        </p:nvSpPr>
        <p:spPr bwMode="auto">
          <a:xfrm>
            <a:off x="3657600" y="4267200"/>
            <a:ext cx="3505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b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點選後開始燒錄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(epcs4)</a:t>
            </a:r>
          </a:p>
        </p:txBody>
      </p:sp>
      <p:pic>
        <p:nvPicPr>
          <p:cNvPr id="348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133601"/>
            <a:ext cx="71818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文字方塊 7"/>
          <p:cNvSpPr txBox="1">
            <a:spLocks noChangeArrowheads="1"/>
          </p:cNvSpPr>
          <p:nvPr/>
        </p:nvSpPr>
        <p:spPr bwMode="auto">
          <a:xfrm>
            <a:off x="2514600" y="1524000"/>
            <a:ext cx="5410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latin typeface="標楷體" panose="03000509000000000000" pitchFamily="65" charset="-120"/>
                <a:ea typeface="標楷體" panose="03000509000000000000" pitchFamily="65" charset="-120"/>
              </a:rPr>
              <a:t>progress:100% </a:t>
            </a:r>
            <a:r>
              <a:rPr lang="zh-TW" altLang="en-US" b="0">
                <a:latin typeface="標楷體" panose="03000509000000000000" pitchFamily="65" charset="-120"/>
                <a:ea typeface="標楷體" panose="03000509000000000000" pitchFamily="65" charset="-120"/>
              </a:rPr>
              <a:t> 為燒錄完成 </a:t>
            </a:r>
            <a:endParaRPr lang="en-US" altLang="zh-TW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(epcs4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cont.)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先關掉電源</a:t>
            </a: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依照下面圖示把指撥開關推至</a:t>
            </a: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RUN</a:t>
            </a:r>
            <a:endParaRPr lang="zh-TW" altLang="en-US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  <p:pic>
        <p:nvPicPr>
          <p:cNvPr id="35843" name="圖片 8" descr="P10909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590800"/>
            <a:ext cx="38100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圖片 9" descr="P109090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590800"/>
            <a:ext cx="39624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向右箭號 13"/>
          <p:cNvSpPr>
            <a:spLocks noChangeArrowheads="1"/>
          </p:cNvSpPr>
          <p:nvPr/>
        </p:nvSpPr>
        <p:spPr bwMode="auto">
          <a:xfrm>
            <a:off x="5981700" y="3505200"/>
            <a:ext cx="685800" cy="1219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846" name="文字方塊 14"/>
          <p:cNvSpPr txBox="1">
            <a:spLocks noChangeArrowheads="1"/>
          </p:cNvSpPr>
          <p:nvPr/>
        </p:nvSpPr>
        <p:spPr bwMode="auto">
          <a:xfrm>
            <a:off x="2362200" y="1752601"/>
            <a:ext cx="746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lang="zh-TW" altLang="en-US" sz="24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847" name="矩形 6"/>
          <p:cNvSpPr>
            <a:spLocks noChangeArrowheads="1"/>
          </p:cNvSpPr>
          <p:nvPr/>
        </p:nvSpPr>
        <p:spPr bwMode="auto">
          <a:xfrm>
            <a:off x="3124200" y="3810000"/>
            <a:ext cx="685800" cy="10668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35848" name="矩形 7"/>
          <p:cNvSpPr>
            <a:spLocks noChangeArrowheads="1"/>
          </p:cNvSpPr>
          <p:nvPr/>
        </p:nvSpPr>
        <p:spPr bwMode="auto">
          <a:xfrm>
            <a:off x="7993063" y="3730625"/>
            <a:ext cx="685800" cy="10668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Tempus Sans ITC" panose="04020404030D07020202" pitchFamily="82" charset="0"/>
                <a:ea typeface="金梅浪漫原體字" pitchFamily="49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0"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燒錄測試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(epcs4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cont.)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此時再打開電源</a:t>
            </a: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原本燒錄進去的程式</a:t>
            </a:r>
            <a:r>
              <a:rPr lang="en-US" altLang="zh-TW" b="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b="0" dirty="0">
                <a:latin typeface="標楷體" panose="03000509000000000000" pitchFamily="65" charset="-120"/>
                <a:ea typeface="標楷體" panose="03000509000000000000" pitchFamily="65" charset="-120"/>
              </a:rPr>
              <a:t>不會因為電源的關閉而需要重新燒錄。</a:t>
            </a:r>
          </a:p>
          <a:p>
            <a:endParaRPr lang="zh-TW" altLang="en-US" dirty="0"/>
          </a:p>
        </p:txBody>
      </p:sp>
      <p:pic>
        <p:nvPicPr>
          <p:cNvPr id="36868" name="圖片 6" descr="P109090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048000"/>
            <a:ext cx="47244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>
                <a:effectLst/>
              </a:rPr>
              <a:t>Lab1 exercise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>
                <a:effectLst/>
              </a:rPr>
              <a:t>Implementation</a:t>
            </a:r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1" y="2765426"/>
            <a:ext cx="4333875" cy="359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習題</a:t>
            </a:r>
            <a:r>
              <a:rPr lang="en-US" altLang="zh-TW" smtClean="0">
                <a:latin typeface="標楷體" pitchFamily="65" charset="-120"/>
                <a:ea typeface="標楷體" pitchFamily="65" charset="-120"/>
              </a:rPr>
              <a:t>1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利用</a:t>
            </a:r>
            <a:r>
              <a:rPr lang="zh-TW" altLang="en-US" sz="2800" u="sng" dirty="0">
                <a:latin typeface="標楷體" pitchFamily="65" charset="-120"/>
                <a:ea typeface="標楷體" pitchFamily="65" charset="-120"/>
              </a:rPr>
              <a:t>反及閘</a:t>
            </a: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繪製成</a:t>
            </a:r>
            <a:r>
              <a:rPr lang="zh-TW" altLang="en-US" sz="2800" u="sng" dirty="0">
                <a:latin typeface="標楷體" pitchFamily="65" charset="-120"/>
                <a:ea typeface="標楷體" pitchFamily="65" charset="-120"/>
              </a:rPr>
              <a:t>或閘</a:t>
            </a: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電路。</a:t>
            </a:r>
          </a:p>
          <a:p>
            <a:pPr eaLnBrk="1" hangingPunct="1">
              <a:defRPr/>
            </a:pPr>
            <a:r>
              <a:rPr lang="zh-TW" altLang="en-US" sz="2800" u="sng" dirty="0">
                <a:latin typeface="標楷體" pitchFamily="65" charset="-120"/>
                <a:ea typeface="標楷體" pitchFamily="65" charset="-120"/>
              </a:rPr>
              <a:t>反及閘</a:t>
            </a: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的符號和真值表如下所示。</a:t>
            </a:r>
          </a:p>
        </p:txBody>
      </p:sp>
      <p:pic>
        <p:nvPicPr>
          <p:cNvPr id="38916" name="Picture 5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886200"/>
            <a:ext cx="24574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553200" y="2779713"/>
          <a:ext cx="3276600" cy="3559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輸入</a:t>
                      </a:r>
                      <a:endParaRPr kumimoji="1" lang="en-US" altLang="zh-TW" sz="1800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A</a:t>
                      </a:r>
                      <a:endParaRPr kumimoji="1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輸入</a:t>
                      </a:r>
                      <a:endParaRPr kumimoji="1" lang="en-US" altLang="zh-TW" sz="1800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zh-TW" altLang="en-US" sz="1800" dirty="0" smtClean="0"/>
                        <a:t>輸出</a:t>
                      </a:r>
                      <a:endParaRPr lang="en-US" altLang="zh-TW" sz="1800" dirty="0" smtClean="0"/>
                    </a:p>
                    <a:p>
                      <a:r>
                        <a:rPr lang="en-US" altLang="zh-TW" sz="1800" dirty="0" smtClean="0"/>
                        <a:t>Y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習題</a:t>
            </a:r>
            <a:r>
              <a:rPr lang="en-US" altLang="zh-TW" smtClean="0">
                <a:latin typeface="標楷體" pitchFamily="65" charset="-120"/>
                <a:ea typeface="標楷體" pitchFamily="65" charset="-120"/>
              </a:rPr>
              <a:t>2</a:t>
            </a:r>
          </a:p>
        </p:txBody>
      </p:sp>
      <p:sp>
        <p:nvSpPr>
          <p:cNvPr id="380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利用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反及閘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繪製成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反或閘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電路。</a:t>
            </a:r>
          </a:p>
          <a:p>
            <a:pPr eaLnBrk="1" hangingPunct="1">
              <a:defRPr/>
            </a:pP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反及閘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的符號和真值表如下所示。</a:t>
            </a:r>
          </a:p>
        </p:txBody>
      </p:sp>
      <p:pic>
        <p:nvPicPr>
          <p:cNvPr id="39940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886200"/>
            <a:ext cx="24574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553200" y="2779713"/>
          <a:ext cx="3276600" cy="3559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輸入</a:t>
                      </a:r>
                      <a:endParaRPr kumimoji="1" lang="en-US" altLang="zh-TW" sz="1800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A</a:t>
                      </a:r>
                      <a:endParaRPr kumimoji="1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輸入</a:t>
                      </a:r>
                      <a:endParaRPr kumimoji="1" lang="en-US" altLang="zh-TW" sz="1800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zh-TW" altLang="en-US" sz="1800" dirty="0" smtClean="0"/>
                        <a:t>輸出</a:t>
                      </a:r>
                      <a:endParaRPr lang="en-US" altLang="zh-TW" sz="1800" dirty="0" smtClean="0"/>
                    </a:p>
                    <a:p>
                      <a:r>
                        <a:rPr lang="en-US" altLang="zh-TW" sz="1800" dirty="0" smtClean="0"/>
                        <a:t>Y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習題</a:t>
            </a:r>
            <a:r>
              <a:rPr lang="en-US" altLang="zh-TW" smtClean="0">
                <a:latin typeface="標楷體" pitchFamily="65" charset="-120"/>
                <a:ea typeface="標楷體" pitchFamily="65" charset="-120"/>
              </a:rPr>
              <a:t>3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利用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反或閘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繪製成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及閘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電路。</a:t>
            </a:r>
          </a:p>
          <a:p>
            <a:pPr eaLnBrk="1" hangingPunct="1">
              <a:defRPr/>
            </a:pP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反或閘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的符號和真值表如下所示。</a:t>
            </a:r>
          </a:p>
        </p:txBody>
      </p:sp>
      <p:pic>
        <p:nvPicPr>
          <p:cNvPr id="40964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038600"/>
            <a:ext cx="24574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553200" y="2779713"/>
          <a:ext cx="3276600" cy="3559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輸入</a:t>
                      </a:r>
                      <a:endParaRPr kumimoji="1" lang="en-US" altLang="zh-TW" sz="1800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A</a:t>
                      </a:r>
                      <a:endParaRPr kumimoji="1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輸入</a:t>
                      </a:r>
                      <a:endParaRPr kumimoji="1" lang="en-US" altLang="zh-TW" sz="1800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zh-TW" altLang="en-US" sz="1800" dirty="0" smtClean="0"/>
                        <a:t>輸出</a:t>
                      </a:r>
                      <a:endParaRPr lang="en-US" altLang="zh-TW" sz="1800" dirty="0" smtClean="0"/>
                    </a:p>
                    <a:p>
                      <a:r>
                        <a:rPr lang="en-US" altLang="zh-TW" sz="1800" dirty="0" smtClean="0"/>
                        <a:t>Y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習題</a:t>
            </a:r>
            <a:r>
              <a:rPr lang="en-US" altLang="zh-TW" smtClean="0">
                <a:latin typeface="標楷體" pitchFamily="65" charset="-120"/>
                <a:ea typeface="標楷體" pitchFamily="65" charset="-120"/>
              </a:rPr>
              <a:t>4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利用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反或閘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繪製成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反及閘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電路。</a:t>
            </a:r>
          </a:p>
          <a:p>
            <a:pPr eaLnBrk="1" hangingPunct="1">
              <a:defRPr/>
            </a:pP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反或閘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的符號和真值表如下所示。</a:t>
            </a:r>
          </a:p>
        </p:txBody>
      </p:sp>
      <p:pic>
        <p:nvPicPr>
          <p:cNvPr id="41988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038600"/>
            <a:ext cx="24574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553200" y="2779713"/>
          <a:ext cx="3276600" cy="3559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輸入</a:t>
                      </a:r>
                      <a:endParaRPr kumimoji="1" lang="en-US" altLang="zh-TW" sz="1800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A</a:t>
                      </a:r>
                      <a:endParaRPr kumimoji="1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輸入</a:t>
                      </a:r>
                      <a:endParaRPr kumimoji="1" lang="en-US" altLang="zh-TW" sz="1800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zh-TW" altLang="en-US" sz="1800" dirty="0" smtClean="0"/>
                        <a:t>輸出</a:t>
                      </a:r>
                      <a:endParaRPr lang="en-US" altLang="zh-TW" sz="1800" dirty="0" smtClean="0"/>
                    </a:p>
                    <a:p>
                      <a:r>
                        <a:rPr lang="en-US" altLang="zh-TW" sz="1800" dirty="0" smtClean="0"/>
                        <a:t>Y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習題</a:t>
            </a:r>
            <a:r>
              <a:rPr lang="en-US" altLang="zh-TW" smtClean="0">
                <a:latin typeface="標楷體" pitchFamily="65" charset="-120"/>
                <a:ea typeface="標楷體" pitchFamily="65" charset="-120"/>
              </a:rPr>
              <a:t>5</a:t>
            </a:r>
          </a:p>
        </p:txBody>
      </p:sp>
      <p:sp>
        <p:nvSpPr>
          <p:cNvPr id="3829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利用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反閘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、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或閘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和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及閘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繪製成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互斥或閘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電路。</a:t>
            </a:r>
          </a:p>
          <a:p>
            <a:pPr eaLnBrk="1" hangingPunct="1">
              <a:defRPr/>
            </a:pP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互斥或閘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的符號和真值表如下所示。</a:t>
            </a:r>
          </a:p>
        </p:txBody>
      </p:sp>
      <p:pic>
        <p:nvPicPr>
          <p:cNvPr id="43012" name="Picture 5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962400"/>
            <a:ext cx="24574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553200" y="2779713"/>
          <a:ext cx="3276600" cy="3559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輸入</a:t>
                      </a:r>
                      <a:endParaRPr kumimoji="1" lang="en-US" altLang="zh-TW" sz="1800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A</a:t>
                      </a:r>
                      <a:endParaRPr kumimoji="1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輸入</a:t>
                      </a:r>
                      <a:endParaRPr kumimoji="1" lang="en-US" altLang="zh-TW" sz="1800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zh-TW" altLang="en-US" sz="1800" dirty="0" smtClean="0"/>
                        <a:t>輸出</a:t>
                      </a:r>
                      <a:endParaRPr lang="en-US" altLang="zh-TW" sz="1800" dirty="0" smtClean="0"/>
                    </a:p>
                    <a:p>
                      <a:r>
                        <a:rPr lang="en-US" altLang="zh-TW" sz="1800" dirty="0" smtClean="0"/>
                        <a:t>Y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776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習題</a:t>
            </a:r>
            <a:r>
              <a:rPr lang="en-US" altLang="zh-TW" smtClean="0">
                <a:latin typeface="標楷體" pitchFamily="65" charset="-120"/>
                <a:ea typeface="標楷體" pitchFamily="65" charset="-120"/>
              </a:rPr>
              <a:t>6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利用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反閘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、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或閘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和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及閘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繪製成</a:t>
            </a: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反互斥或閘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電路。</a:t>
            </a:r>
          </a:p>
          <a:p>
            <a:pPr eaLnBrk="1" hangingPunct="1">
              <a:defRPr/>
            </a:pPr>
            <a:r>
              <a:rPr lang="zh-TW" altLang="en-US" sz="2800" u="sng">
                <a:latin typeface="標楷體" pitchFamily="65" charset="-120"/>
                <a:ea typeface="標楷體" pitchFamily="65" charset="-120"/>
              </a:rPr>
              <a:t>反互斥或閘</a:t>
            </a:r>
            <a:r>
              <a:rPr lang="zh-TW" altLang="en-US" sz="2800">
                <a:latin typeface="標楷體" pitchFamily="65" charset="-120"/>
                <a:ea typeface="標楷體" pitchFamily="65" charset="-120"/>
              </a:rPr>
              <a:t>的符號和真值表如下所示。</a:t>
            </a:r>
          </a:p>
        </p:txBody>
      </p:sp>
      <p:pic>
        <p:nvPicPr>
          <p:cNvPr id="44036" name="Picture 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962400"/>
            <a:ext cx="24574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553200" y="2936876"/>
          <a:ext cx="3276600" cy="3540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59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輸入</a:t>
                      </a:r>
                      <a:endParaRPr kumimoji="1" lang="en-US" altLang="zh-TW" sz="1800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A</a:t>
                      </a:r>
                      <a:endParaRPr kumimoji="1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empus Sans ITC" pitchFamily="82" charset="0"/>
                        <a:ea typeface="金梅浪漫原體字" pitchFamily="49" charset="-120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u="none" strike="noStrike" cap="none" normalizeH="0" baseline="0" dirty="0" smtClean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輸入</a:t>
                      </a:r>
                      <a:endParaRPr kumimoji="1" lang="en-US" altLang="zh-TW" sz="1800" u="none" strike="noStrike" cap="none" normalizeH="0" baseline="0" dirty="0" smtClean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zh-TW" altLang="en-US" sz="1800" dirty="0" smtClean="0"/>
                        <a:t>輸出</a:t>
                      </a:r>
                      <a:endParaRPr lang="en-US" altLang="zh-TW" sz="1800" dirty="0" smtClean="0"/>
                    </a:p>
                    <a:p>
                      <a:r>
                        <a:rPr lang="en-US" altLang="zh-TW" sz="1800" dirty="0" smtClean="0"/>
                        <a:t>Y</a:t>
                      </a:r>
                      <a:endParaRPr lang="zh-TW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537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537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537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537"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26" marB="457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專案概觀">
  <a:themeElements>
    <a:clrScheme name="專案概觀 1">
      <a:dk1>
        <a:srgbClr val="000000"/>
      </a:dk1>
      <a:lt1>
        <a:srgbClr val="FFFFFF"/>
      </a:lt1>
      <a:dk2>
        <a:srgbClr val="0066CC"/>
      </a:dk2>
      <a:lt2>
        <a:srgbClr val="CBCBCB"/>
      </a:lt2>
      <a:accent1>
        <a:srgbClr val="00CCFF"/>
      </a:accent1>
      <a:accent2>
        <a:srgbClr val="00FFCC"/>
      </a:accent2>
      <a:accent3>
        <a:srgbClr val="AAB8E2"/>
      </a:accent3>
      <a:accent4>
        <a:srgbClr val="DADADA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專案概觀">
      <a:majorFont>
        <a:latin typeface="Tempus Sans ITC"/>
        <a:ea typeface="金梅浪漫原體字"/>
        <a:cs typeface=""/>
      </a:majorFont>
      <a:minorFont>
        <a:latin typeface="Tempus Sans ITC"/>
        <a:ea typeface="金梅浪漫原體字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專案概觀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專案概觀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專案概觀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Evolutionary Development of Hierarchical Learning Structures</Template>
  <TotalTime>8040</TotalTime>
  <Words>1007</Words>
  <Application>Microsoft Office PowerPoint</Application>
  <PresentationFormat>寬螢幕</PresentationFormat>
  <Paragraphs>254</Paragraphs>
  <Slides>54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54</vt:i4>
      </vt:variant>
    </vt:vector>
  </HeadingPairs>
  <TitlesOfParts>
    <vt:vector size="64" baseType="lpstr">
      <vt:lpstr>Arial Unicode MS</vt:lpstr>
      <vt:lpstr>金梅浪漫原體字</vt:lpstr>
      <vt:lpstr>華康唐風隸</vt:lpstr>
      <vt:lpstr>新細明體</vt:lpstr>
      <vt:lpstr>標楷體</vt:lpstr>
      <vt:lpstr>Arial</vt:lpstr>
      <vt:lpstr>Tempus Sans ITC</vt:lpstr>
      <vt:lpstr>Times New Roman</vt:lpstr>
      <vt:lpstr>Wingdings</vt:lpstr>
      <vt:lpstr>專案概觀</vt:lpstr>
      <vt:lpstr>Lab 1</vt:lpstr>
      <vt:lpstr>開啟 Quartus II 15.0軟體</vt:lpstr>
      <vt:lpstr>開新專案</vt:lpstr>
      <vt:lpstr>開啟新專案(1/2)</vt:lpstr>
      <vt:lpstr>開啟新專案(2/2)</vt:lpstr>
      <vt:lpstr>設定裝置</vt:lpstr>
      <vt:lpstr>繪製電路</vt:lpstr>
      <vt:lpstr>加入新設計檔</vt:lpstr>
      <vt:lpstr>PowerPoint 簡報</vt:lpstr>
      <vt:lpstr>繪製電路(1/6)</vt:lpstr>
      <vt:lpstr>繪製電路(2/6)</vt:lpstr>
      <vt:lpstr>繪製電路(3/6)</vt:lpstr>
      <vt:lpstr>繪製電路(4/6)</vt:lpstr>
      <vt:lpstr>繪製電路(5/6)</vt:lpstr>
      <vt:lpstr>繪製電路(6/6)</vt:lpstr>
      <vt:lpstr>分析與合成</vt:lpstr>
      <vt:lpstr>編譯(1/2)</vt:lpstr>
      <vt:lpstr>功能模擬</vt:lpstr>
      <vt:lpstr>開檔</vt:lpstr>
      <vt:lpstr>波形編輯器</vt:lpstr>
      <vt:lpstr>匯入埠腳</vt:lpstr>
      <vt:lpstr>格子大小</vt:lpstr>
      <vt:lpstr>編輯輸入波形</vt:lpstr>
      <vt:lpstr>存波形檔</vt:lpstr>
      <vt:lpstr>Run Functional Simulation</vt:lpstr>
      <vt:lpstr>實驗</vt:lpstr>
      <vt:lpstr>外接輸入/輸出腳(1/2)</vt:lpstr>
      <vt:lpstr>外接輸入/輸出腳(1/2)</vt:lpstr>
      <vt:lpstr>Pin planner</vt:lpstr>
      <vt:lpstr>專案電路</vt:lpstr>
      <vt:lpstr>Compile</vt:lpstr>
      <vt:lpstr>燒錄測試</vt:lpstr>
      <vt:lpstr>燒錄測試(cont.)</vt:lpstr>
      <vt:lpstr>燒錄測試(cont.)</vt:lpstr>
      <vt:lpstr>燒錄測試(cont.)</vt:lpstr>
      <vt:lpstr>燒錄測試(cont.)</vt:lpstr>
      <vt:lpstr>燒錄測試(cont.)</vt:lpstr>
      <vt:lpstr>Flash燒錄</vt:lpstr>
      <vt:lpstr>燒錄測試(epcs64)</vt:lpstr>
      <vt:lpstr>燒錄測試(epcs64 cont.)</vt:lpstr>
      <vt:lpstr>燒錄測試(epcs64 cont.)</vt:lpstr>
      <vt:lpstr>PowerPoint 簡報</vt:lpstr>
      <vt:lpstr>燒錄測試(epcs4 cont.)</vt:lpstr>
      <vt:lpstr>燒錄測試(epcs4 cont.)</vt:lpstr>
      <vt:lpstr>燒錄測試(epcs4)</vt:lpstr>
      <vt:lpstr>燒錄測試(epcs4 cont.)</vt:lpstr>
      <vt:lpstr>燒錄測試(epcs4 cont.)</vt:lpstr>
      <vt:lpstr>Lab1 exercise</vt:lpstr>
      <vt:lpstr>習題1</vt:lpstr>
      <vt:lpstr>習題2</vt:lpstr>
      <vt:lpstr>習題3</vt:lpstr>
      <vt:lpstr>習題4</vt:lpstr>
      <vt:lpstr>習題5</vt:lpstr>
      <vt:lpstr>習題6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303</cp:revision>
  <cp:lastPrinted>1601-01-01T00:00:00Z</cp:lastPrinted>
  <dcterms:created xsi:type="dcterms:W3CDTF">1601-01-01T00:00:00Z</dcterms:created>
  <dcterms:modified xsi:type="dcterms:W3CDTF">2023-02-14T04:20:54Z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