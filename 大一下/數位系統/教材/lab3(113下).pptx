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3"/>
  </p:notesMasterIdLst>
  <p:handoutMasterIdLst>
    <p:handoutMasterId r:id="rId14"/>
  </p:handoutMasterIdLst>
  <p:sldIdLst>
    <p:sldId id="258" r:id="rId2"/>
    <p:sldId id="259" r:id="rId3"/>
    <p:sldId id="275" r:id="rId4"/>
    <p:sldId id="311" r:id="rId5"/>
    <p:sldId id="312" r:id="rId6"/>
    <p:sldId id="310" r:id="rId7"/>
    <p:sldId id="308" r:id="rId8"/>
    <p:sldId id="260" r:id="rId9"/>
    <p:sldId id="266" r:id="rId10"/>
    <p:sldId id="313" r:id="rId11"/>
    <p:sldId id="269" r:id="rId12"/>
  </p:sldIdLst>
  <p:sldSz cx="12192000" cy="6858000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793C21"/>
    <a:srgbClr val="65321B"/>
    <a:srgbClr val="FF9966"/>
    <a:srgbClr val="0066FF"/>
    <a:srgbClr val="33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4211" autoAdjust="0"/>
  </p:normalViewPr>
  <p:slideViewPr>
    <p:cSldViewPr>
      <p:cViewPr varScale="1">
        <p:scale>
          <a:sx n="74" d="100"/>
          <a:sy n="74" d="100"/>
        </p:scale>
        <p:origin x="432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795A75C2-1BDF-420D-A824-19404385BFB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77598668-234F-4F51-A2B2-769928714C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01E8A77-DFE1-45DF-9D49-66A9146C7173}" type="slidenum">
              <a:rPr lang="en-US" altLang="zh-TW" sz="1300" smtClean="0"/>
              <a:pPr>
                <a:spcBef>
                  <a:spcPct val="0"/>
                </a:spcBef>
              </a:pPr>
              <a:t>1</a:t>
            </a:fld>
            <a:endParaRPr lang="en-US" altLang="zh-TW" sz="1300" smtClean="0"/>
          </a:p>
        </p:txBody>
      </p:sp>
      <p:sp>
        <p:nvSpPr>
          <p:cNvPr id="6147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614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 smtClean="0">
              <a:latin typeface="Arial" panose="020B0604020202020204" pitchFamily="34" charset="0"/>
            </a:endParaRPr>
          </a:p>
        </p:txBody>
      </p:sp>
      <p:sp>
        <p:nvSpPr>
          <p:cNvPr id="6149" name="投影片編號版面配置區 3"/>
          <p:cNvSpPr txBox="1">
            <a:spLocks noGrp="1"/>
          </p:cNvSpPr>
          <p:nvPr/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0" tIns="49514" rIns="99030" bIns="49514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4C1F7A-B09E-41D7-910A-610641A75CE3}" type="slidenum">
              <a:rPr lang="en-US" altLang="zh-TW" sz="130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 rotWithShape="0">
          <a:gsLst>
            <a:gs pos="0">
              <a:srgbClr val="002F5E"/>
            </a:gs>
            <a:gs pos="5000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14401" y="2438400"/>
            <a:ext cx="11275484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3505200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WordArt 10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743200" y="41148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asfasdfadfadfasdfasfasdf</a:t>
            </a: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0189F-FECB-41A3-B6EA-8932D2E964D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90951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8FBA0-ED32-4299-AE50-5B411895377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372888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8B064-A226-464E-B00B-12D8D79A26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846292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2A376-0CBD-4E89-A4DF-347E1A1AB2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786328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C2F14-159A-452F-8129-61F191843C3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983154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A125E6-34F0-4CD7-80DF-AB108A05AA9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216356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0B6C2-1E40-4094-B81A-2CF14DFDA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70879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3AE8D-5E5F-4E88-86DD-96924C4D49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50388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C8376-33B3-40F3-A1F3-ADBA7527D70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122909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D9345-B943-4E01-B539-36DF38CFEB8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295625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13800" y="152400"/>
            <a:ext cx="2667000" cy="5907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97800" cy="5907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306FE-AA6D-4725-9BC1-07A4A858071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920501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117600" y="1447800"/>
            <a:ext cx="10363200" cy="4611688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1EB9E-E2E5-49F0-96B1-7FE11FC6DB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153052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7B25D-BA2C-4693-A2C8-50E6AEC44B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434016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39184" y="1341438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914400" y="6629401"/>
            <a:ext cx="4673600" cy="22701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018117" y="404813"/>
            <a:ext cx="1117388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447800"/>
            <a:ext cx="10363200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957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3F098550-E8DE-4291-99DD-F05D6AEFD5B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50619" y="0"/>
            <a:ext cx="46166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36" name="WordArt 12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5588000" y="6491288"/>
            <a:ext cx="243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mtClean="0">
                <a:ea typeface="華康唐風隸" pitchFamily="49" charset="-120"/>
              </a:rPr>
              <a:t>數位系統實習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0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2438400"/>
            <a:ext cx="8229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zh-TW" sz="8800">
                <a:ea typeface="Arial Unicode MS" pitchFamily="34" charset="-120"/>
                <a:cs typeface="Arial Unicode MS" pitchFamily="34" charset="-120"/>
              </a:rPr>
              <a:t>Lab 3</a:t>
            </a:r>
            <a:endParaRPr lang="en-US" altLang="zh-TW" sz="8800"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343400" y="4495800"/>
            <a:ext cx="3886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r>
              <a:rPr lang="zh-TW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empus Sans ITC" pitchFamily="82" charset="0"/>
                <a:ea typeface="金梅浪漫原體字" pitchFamily="49" charset="-120"/>
              </a:rPr>
              <a:t>編碼器、解碼器</a:t>
            </a:r>
            <a:br>
              <a:rPr lang="zh-TW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empus Sans ITC" pitchFamily="82" charset="0"/>
                <a:ea typeface="金梅浪漫原體字" pitchFamily="49" charset="-120"/>
              </a:rPr>
            </a:br>
            <a:r>
              <a:rPr lang="zh-TW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empus Sans ITC" pitchFamily="82" charset="0"/>
                <a:ea typeface="金梅浪漫原體字" pitchFamily="49" charset="-120"/>
              </a:rPr>
              <a:t>邏輯實習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1</a:t>
            </a:r>
            <a:r>
              <a:rPr lang="en-US" altLang="zh-TW" dirty="0" smtClean="0"/>
              <a:t> </a:t>
            </a:r>
            <a:r>
              <a:rPr lang="zh-TW" altLang="en-US" dirty="0" smtClean="0"/>
              <a:t>對 </a:t>
            </a:r>
            <a:r>
              <a:rPr lang="en-US" altLang="zh-TW" dirty="0" smtClean="0"/>
              <a:t>2 </a:t>
            </a:r>
            <a:r>
              <a:rPr lang="zh-TW" altLang="en-US" dirty="0" smtClean="0"/>
              <a:t>解碼器 </a:t>
            </a:r>
            <a:r>
              <a:rPr lang="en-US" altLang="zh-TW" dirty="0" smtClean="0"/>
              <a:t>(Decoder)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828800" y="1676400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400" dirty="0"/>
              <a:t>另存新檔到專案的資料夾中</a:t>
            </a:r>
            <a:endParaRPr lang="en-US" altLang="zh-TW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2400" dirty="0"/>
              <a:t>File-&gt;save as-&gt;</a:t>
            </a:r>
            <a:r>
              <a:rPr lang="en-US" altLang="zh-TW" sz="2400" dirty="0" smtClean="0"/>
              <a:t>decoder1_2</a:t>
            </a:r>
            <a:endParaRPr lang="en-US" altLang="zh-TW" sz="2400" dirty="0"/>
          </a:p>
          <a:p>
            <a:endParaRPr lang="zh-TW" altLang="en-US" sz="2400" dirty="0"/>
          </a:p>
        </p:txBody>
      </p:sp>
      <p:graphicFrame>
        <p:nvGraphicFramePr>
          <p:cNvPr id="5" name="表格版面配置區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633972865"/>
              </p:ext>
            </p:extLst>
          </p:nvPr>
        </p:nvGraphicFramePr>
        <p:xfrm>
          <a:off x="3352800" y="2514600"/>
          <a:ext cx="43941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733">
                  <a:extLst>
                    <a:ext uri="{9D8B030D-6E8A-4147-A177-3AD203B41FA5}">
                      <a16:colId xmlns:a16="http://schemas.microsoft.com/office/drawing/2014/main" val="3970329692"/>
                    </a:ext>
                  </a:extLst>
                </a:gridCol>
                <a:gridCol w="1464733">
                  <a:extLst>
                    <a:ext uri="{9D8B030D-6E8A-4147-A177-3AD203B41FA5}">
                      <a16:colId xmlns:a16="http://schemas.microsoft.com/office/drawing/2014/main" val="1380351203"/>
                    </a:ext>
                  </a:extLst>
                </a:gridCol>
                <a:gridCol w="1464733">
                  <a:extLst>
                    <a:ext uri="{9D8B030D-6E8A-4147-A177-3AD203B41FA5}">
                      <a16:colId xmlns:a16="http://schemas.microsoft.com/office/drawing/2014/main" val="414366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D[1]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D[0]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91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69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003071"/>
                  </a:ext>
                </a:extLst>
              </a:tr>
            </a:tbl>
          </a:graphicData>
        </a:graphic>
      </p:graphicFrame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466" y="3810000"/>
            <a:ext cx="2505425" cy="239110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階層式電路設計  </a:t>
            </a:r>
            <a:r>
              <a:rPr lang="en-US" altLang="zh-TW" dirty="0" smtClean="0"/>
              <a:t>(cont.)</a:t>
            </a:r>
          </a:p>
        </p:txBody>
      </p:sp>
      <p:sp>
        <p:nvSpPr>
          <p:cNvPr id="9219" name="文字方塊 14"/>
          <p:cNvSpPr txBox="1">
            <a:spLocks noChangeArrowheads="1"/>
          </p:cNvSpPr>
          <p:nvPr/>
        </p:nvSpPr>
        <p:spPr bwMode="auto">
          <a:xfrm>
            <a:off x="823848" y="1541621"/>
            <a:ext cx="9706104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1085850" indent="-34290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TW" altLang="en-US" sz="2800" dirty="0"/>
              <a:t>把已繪製好的解碼器製作成一個</a:t>
            </a:r>
            <a:r>
              <a:rPr lang="en-US" altLang="zh-TW" sz="2800" dirty="0"/>
              <a:t>Symbol</a:t>
            </a:r>
            <a:r>
              <a:rPr lang="zh-TW" altLang="en-US" sz="2800" dirty="0"/>
              <a:t>元件，方便作電路的延伸設計。</a:t>
            </a:r>
            <a:endParaRPr lang="en-US" altLang="zh-TW" sz="2800" dirty="0"/>
          </a:p>
          <a:p>
            <a:pPr lvl="1" eaLnBrk="1" hangingPunct="1">
              <a:spcBef>
                <a:spcPct val="0"/>
              </a:spcBef>
            </a:pPr>
            <a:r>
              <a:rPr lang="zh-TW" altLang="en-US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繪圖完成後儲存</a:t>
            </a:r>
            <a:r>
              <a:rPr lang="en-US" altLang="zh-TW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檔名為</a:t>
            </a:r>
            <a:r>
              <a:rPr lang="en-US" altLang="zh-TW" sz="2400" b="0" dirty="0" smtClean="0">
                <a:latin typeface="Arial" panose="020B0604020202020204" pitchFamily="34" charset="0"/>
                <a:ea typeface="標楷體" panose="03000509000000000000" pitchFamily="65" charset="-120"/>
              </a:rPr>
              <a:t>decoder1_2)</a:t>
            </a:r>
            <a:r>
              <a:rPr lang="zh-TW" altLang="en-US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→編譯→</a:t>
            </a:r>
            <a:r>
              <a:rPr lang="en-US" altLang="zh-TW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File</a:t>
            </a:r>
            <a:r>
              <a:rPr lang="zh-TW" altLang="en-US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 →</a:t>
            </a:r>
            <a:r>
              <a:rPr lang="en-US" altLang="zh-TW" sz="2400" b="0" dirty="0" err="1">
                <a:latin typeface="Arial" panose="020B0604020202020204" pitchFamily="34" charset="0"/>
                <a:ea typeface="標楷體" panose="03000509000000000000" pitchFamily="65" charset="-120"/>
              </a:rPr>
              <a:t>Creat</a:t>
            </a:r>
            <a:r>
              <a:rPr lang="en-US" altLang="zh-TW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/Update</a:t>
            </a:r>
            <a:r>
              <a:rPr lang="zh-TW" altLang="en-US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 →</a:t>
            </a:r>
            <a:r>
              <a:rPr lang="en-US" altLang="zh-TW" sz="2400" b="0" dirty="0">
                <a:latin typeface="Arial" panose="020B0604020202020204" pitchFamily="34" charset="0"/>
                <a:ea typeface="標楷體" panose="03000509000000000000" pitchFamily="65" charset="-120"/>
              </a:rPr>
              <a:t>Create Symbol </a:t>
            </a:r>
            <a:r>
              <a:rPr lang="en-US" altLang="zh-TW" sz="2400" b="0" dirty="0" smtClean="0">
                <a:latin typeface="Arial" panose="020B0604020202020204" pitchFamily="34" charset="0"/>
                <a:ea typeface="標楷體" panose="03000509000000000000" pitchFamily="65" charset="-120"/>
              </a:rPr>
              <a:t>….</a:t>
            </a:r>
          </a:p>
          <a:p>
            <a:pPr lvl="1" eaLnBrk="1" hangingPunct="1">
              <a:spcBef>
                <a:spcPct val="0"/>
              </a:spcBef>
            </a:pPr>
            <a:r>
              <a:rPr lang="zh-TW" altLang="en-US" sz="2400" b="0" dirty="0" smtClean="0">
                <a:latin typeface="Arial" panose="020B0604020202020204" pitchFamily="34" charset="0"/>
                <a:ea typeface="標楷體" panose="03000509000000000000" pitchFamily="65" charset="-120"/>
              </a:rPr>
              <a:t>模擬看看</a:t>
            </a:r>
            <a:endParaRPr lang="zh-TW" altLang="en-US" sz="2400" b="0" dirty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631433"/>
            <a:ext cx="9082578" cy="243347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致能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加上致能功能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962278"/>
              </p:ext>
            </p:extLst>
          </p:nvPr>
        </p:nvGraphicFramePr>
        <p:xfrm>
          <a:off x="2057400" y="227028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414172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801065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281652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7298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D[1]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D[0]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171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7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614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9114"/>
                  </a:ext>
                </a:extLst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240" y="3886200"/>
            <a:ext cx="2648320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520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76400"/>
            <a:ext cx="1174596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1416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2 </a:t>
            </a:r>
            <a:r>
              <a:rPr lang="zh-TW" altLang="en-US" smtClean="0"/>
              <a:t>對 </a:t>
            </a:r>
            <a:r>
              <a:rPr lang="en-US" altLang="zh-TW" smtClean="0"/>
              <a:t>4 </a:t>
            </a:r>
            <a:r>
              <a:rPr lang="zh-TW" altLang="en-US" smtClean="0"/>
              <a:t>解碼器 </a:t>
            </a:r>
            <a:r>
              <a:rPr lang="en-US" altLang="zh-TW" smtClean="0"/>
              <a:t>(Decoder)</a:t>
            </a:r>
          </a:p>
        </p:txBody>
      </p:sp>
      <p:graphicFrame>
        <p:nvGraphicFramePr>
          <p:cNvPr id="404542" name="Group 6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534604"/>
              </p:ext>
            </p:extLst>
          </p:nvPr>
        </p:nvGraphicFramePr>
        <p:xfrm>
          <a:off x="6857998" y="1981199"/>
          <a:ext cx="5029199" cy="3505201"/>
        </p:xfrm>
        <a:graphic>
          <a:graphicData uri="http://schemas.openxmlformats.org/drawingml/2006/table">
            <a:tbl>
              <a:tblPr/>
              <a:tblGrid>
                <a:gridCol w="718457">
                  <a:extLst>
                    <a:ext uri="{9D8B030D-6E8A-4147-A177-3AD203B41FA5}">
                      <a16:colId xmlns:a16="http://schemas.microsoft.com/office/drawing/2014/main" val="2411043129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7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TW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E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062711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812800" y="1676401"/>
            <a:ext cx="673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400" dirty="0"/>
              <a:t>另存新檔到專案的資料夾中</a:t>
            </a:r>
            <a:endParaRPr lang="en-US" altLang="zh-TW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2400" dirty="0"/>
              <a:t>File-&gt;save as-&gt;</a:t>
            </a:r>
            <a:r>
              <a:rPr lang="en-US" altLang="zh-TW" sz="2400" dirty="0" smtClean="0"/>
              <a:t>decoder2_4e</a:t>
            </a:r>
            <a:endParaRPr lang="en-US" altLang="zh-TW" sz="2400" dirty="0"/>
          </a:p>
          <a:p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61870"/>
            <a:ext cx="3524742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570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r="18985"/>
          <a:stretch/>
        </p:blipFill>
        <p:spPr>
          <a:xfrm>
            <a:off x="76200" y="1905000"/>
            <a:ext cx="12039600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1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習題 </a:t>
            </a:r>
            <a:r>
              <a:rPr lang="en-US" altLang="zh-TW" dirty="0" smtClean="0"/>
              <a:t>Lab3-1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以階層式設計方式，設計一 </a:t>
            </a:r>
            <a:r>
              <a:rPr lang="en-US" altLang="zh-TW" dirty="0" smtClean="0"/>
              <a:t>3 </a:t>
            </a:r>
            <a:r>
              <a:rPr lang="zh-TW" altLang="en-US" dirty="0" smtClean="0"/>
              <a:t>對 </a:t>
            </a:r>
            <a:r>
              <a:rPr lang="en-US" altLang="zh-TW" dirty="0" smtClean="0"/>
              <a:t>8 </a:t>
            </a:r>
            <a:r>
              <a:rPr lang="zh-TW" altLang="en-US" dirty="0" smtClean="0"/>
              <a:t>解碼器</a:t>
            </a:r>
            <a:r>
              <a:rPr lang="en-US" altLang="zh-TW" dirty="0" smtClean="0"/>
              <a:t>(</a:t>
            </a:r>
            <a:r>
              <a:rPr lang="zh-TW" altLang="en-US" dirty="0" smtClean="0"/>
              <a:t>有致能腳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</a:p>
          <a:p>
            <a:pPr lvl="1" eaLnBrk="1" hangingPunct="1">
              <a:defRPr/>
            </a:pPr>
            <a:r>
              <a:rPr lang="zh-TW" altLang="en-US" dirty="0" smtClean="0"/>
              <a:t>請以兩個 </a:t>
            </a:r>
            <a:r>
              <a:rPr lang="en-US" altLang="zh-TW" dirty="0" smtClean="0"/>
              <a:t>2 </a:t>
            </a:r>
            <a:r>
              <a:rPr lang="zh-TW" altLang="en-US" dirty="0" smtClean="0"/>
              <a:t>對 </a:t>
            </a:r>
            <a:r>
              <a:rPr lang="en-US" altLang="zh-TW" dirty="0" smtClean="0"/>
              <a:t>4 </a:t>
            </a:r>
            <a:r>
              <a:rPr lang="zh-TW" altLang="en-US" dirty="0" smtClean="0"/>
              <a:t>解碼器</a:t>
            </a:r>
            <a:r>
              <a:rPr lang="en-US" altLang="zh-TW" dirty="0"/>
              <a:t>(</a:t>
            </a:r>
            <a:r>
              <a:rPr lang="zh-TW" altLang="en-US" dirty="0"/>
              <a:t>有致能腳</a:t>
            </a:r>
            <a:r>
              <a:rPr lang="en-US" altLang="zh-TW" dirty="0"/>
              <a:t>)</a:t>
            </a:r>
            <a:r>
              <a:rPr lang="zh-TW" altLang="en-US" dirty="0" smtClean="0"/>
              <a:t>建構一個 </a:t>
            </a:r>
            <a:r>
              <a:rPr lang="en-US" altLang="zh-TW" dirty="0" smtClean="0"/>
              <a:t>3 </a:t>
            </a:r>
            <a:r>
              <a:rPr lang="zh-TW" altLang="en-US" dirty="0" smtClean="0"/>
              <a:t>對 </a:t>
            </a:r>
            <a:r>
              <a:rPr lang="en-US" altLang="zh-TW" dirty="0" smtClean="0"/>
              <a:t>8 </a:t>
            </a:r>
            <a:r>
              <a:rPr lang="zh-TW" altLang="en-US" dirty="0" smtClean="0"/>
              <a:t>解碼器</a:t>
            </a:r>
            <a:r>
              <a:rPr lang="en-US" altLang="zh-TW" dirty="0"/>
              <a:t>(</a:t>
            </a:r>
            <a:r>
              <a:rPr lang="zh-TW" altLang="en-US" dirty="0"/>
              <a:t>有致能腳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rgbClr val="FF0000"/>
                </a:solidFill>
              </a:rPr>
              <a:t>可能會用到額外的電路元件才能成功</a:t>
            </a:r>
            <a:r>
              <a:rPr lang="zh-TW" altLang="en-US" dirty="0" smtClean="0"/>
              <a:t>。 </a:t>
            </a:r>
            <a:endParaRPr lang="zh-TW" altLang="en-US" dirty="0" smtClean="0"/>
          </a:p>
        </p:txBody>
      </p:sp>
      <p:sp>
        <p:nvSpPr>
          <p:cNvPr id="2" name="矩形 1"/>
          <p:cNvSpPr/>
          <p:nvPr/>
        </p:nvSpPr>
        <p:spPr bwMode="auto">
          <a:xfrm>
            <a:off x="4648200" y="3733800"/>
            <a:ext cx="1752600" cy="20574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cxnSp>
        <p:nvCxnSpPr>
          <p:cNvPr id="5" name="直線接點 4"/>
          <p:cNvCxnSpPr/>
          <p:nvPr/>
        </p:nvCxnSpPr>
        <p:spPr bwMode="auto">
          <a:xfrm>
            <a:off x="3124200" y="4191000"/>
            <a:ext cx="1524000" cy="0"/>
          </a:xfrm>
          <a:prstGeom prst="line">
            <a:avLst/>
          </a:prstGeom>
          <a:noFill/>
          <a:ln w="762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線接點 5"/>
          <p:cNvCxnSpPr/>
          <p:nvPr/>
        </p:nvCxnSpPr>
        <p:spPr bwMode="auto">
          <a:xfrm>
            <a:off x="6400800" y="4191000"/>
            <a:ext cx="1524000" cy="0"/>
          </a:xfrm>
          <a:prstGeom prst="line">
            <a:avLst/>
          </a:prstGeom>
          <a:noFill/>
          <a:ln w="762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線接點 6"/>
          <p:cNvCxnSpPr/>
          <p:nvPr/>
        </p:nvCxnSpPr>
        <p:spPr bwMode="auto">
          <a:xfrm>
            <a:off x="3124200" y="5181600"/>
            <a:ext cx="1524000" cy="0"/>
          </a:xfrm>
          <a:prstGeom prst="line">
            <a:avLst/>
          </a:prstGeom>
          <a:noFill/>
          <a:ln w="762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文字方塊 7"/>
          <p:cNvSpPr txBox="1"/>
          <p:nvPr/>
        </p:nvSpPr>
        <p:spPr>
          <a:xfrm>
            <a:off x="3138055" y="377788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A[2..0]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781800" y="382166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D[7..0]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141519" y="479495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740783" y="4583668"/>
            <a:ext cx="156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Decoder3_8e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/>
              <a:t>優先編碼器</a:t>
            </a: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2800" dirty="0"/>
              <a:t>習題 </a:t>
            </a:r>
            <a:r>
              <a:rPr lang="en-US" altLang="zh-TW" sz="2800" dirty="0"/>
              <a:t>Lab3-2</a:t>
            </a:r>
          </a:p>
          <a:p>
            <a:pPr lvl="1" eaLnBrk="1" hangingPunct="1">
              <a:defRPr/>
            </a:pPr>
            <a:r>
              <a:rPr lang="zh-TW" altLang="en-US" sz="2400" dirty="0"/>
              <a:t>根據右列真值表設計一個 </a:t>
            </a:r>
            <a:r>
              <a:rPr lang="en-US" altLang="zh-TW" sz="2400" dirty="0"/>
              <a:t>4 </a:t>
            </a:r>
            <a:r>
              <a:rPr lang="zh-TW" altLang="en-US" sz="2400" dirty="0"/>
              <a:t>輸入優先編碼器，具有一額外輸出腳 </a:t>
            </a:r>
            <a:r>
              <a:rPr lang="en-US" altLang="zh-TW" sz="2400" dirty="0"/>
              <a:t>V</a:t>
            </a:r>
            <a:r>
              <a:rPr lang="zh-TW" altLang="en-US" sz="2400" dirty="0"/>
              <a:t>，可表示輸出值是否可用。</a:t>
            </a:r>
          </a:p>
        </p:txBody>
      </p:sp>
      <p:graphicFrame>
        <p:nvGraphicFramePr>
          <p:cNvPr id="412754" name="Group 82"/>
          <p:cNvGraphicFramePr>
            <a:graphicFrameLocks noGrp="1"/>
          </p:cNvGraphicFramePr>
          <p:nvPr>
            <p:ph sz="half" idx="2"/>
          </p:nvPr>
        </p:nvGraphicFramePr>
        <p:xfrm>
          <a:off x="6553200" y="1600201"/>
          <a:ext cx="3276600" cy="3544891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6413"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 b="1">
                          <a:solidFill>
                            <a:schemeClr val="tx1"/>
                          </a:solidFill>
                          <a:latin typeface="Tempus Sans ITC" pitchFamily="82" charset="0"/>
                          <a:ea typeface="金梅浪漫原體字" pitchFamily="49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429000"/>
            <a:ext cx="3181794" cy="245779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模擬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05000"/>
            <a:ext cx="11454728" cy="193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96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/>
              <a:t>優先編碼器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4708" y="1657422"/>
            <a:ext cx="10710184" cy="4192444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800" dirty="0"/>
              <a:t>習題 </a:t>
            </a:r>
            <a:r>
              <a:rPr lang="en-US" altLang="zh-TW" sz="2800" dirty="0"/>
              <a:t>Lab3-3</a:t>
            </a:r>
          </a:p>
          <a:p>
            <a:pPr lvl="1" eaLnBrk="1" hangingPunct="1">
              <a:defRPr/>
            </a:pPr>
            <a:r>
              <a:rPr lang="zh-TW" altLang="en-US" sz="2400" dirty="0" smtClean="0"/>
              <a:t>用兩個</a:t>
            </a:r>
            <a:r>
              <a:rPr lang="en-US" altLang="zh-TW" sz="2400" dirty="0" smtClean="0"/>
              <a:t>4-2</a:t>
            </a:r>
            <a:r>
              <a:rPr lang="zh-TW" altLang="en-US" sz="2400" dirty="0" smtClean="0"/>
              <a:t>的優先編碼器和其他必要的元件，組成一個</a:t>
            </a:r>
            <a:r>
              <a:rPr lang="en-US" altLang="zh-TW" sz="2400" dirty="0" smtClean="0"/>
              <a:t>3-8</a:t>
            </a:r>
            <a:r>
              <a:rPr lang="zh-TW" altLang="en-US" sz="2400" dirty="0" smtClean="0"/>
              <a:t>優先編碼器</a:t>
            </a:r>
            <a:r>
              <a:rPr lang="en-US" altLang="zh-TW" sz="2400" dirty="0" smtClean="0"/>
              <a:t>!</a:t>
            </a:r>
            <a:endParaRPr lang="zh-TW" altLang="en-US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599" y="381000"/>
            <a:ext cx="2059983" cy="16764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r="30133"/>
          <a:stretch/>
        </p:blipFill>
        <p:spPr>
          <a:xfrm>
            <a:off x="152400" y="2667000"/>
            <a:ext cx="11887200" cy="138131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105391"/>
            <a:ext cx="12012701" cy="110505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58" y="5325833"/>
            <a:ext cx="11917438" cy="116221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專案概觀">
  <a:themeElements>
    <a:clrScheme name="專案概觀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專案概觀">
      <a:majorFont>
        <a:latin typeface="Tempus Sans ITC"/>
        <a:ea typeface="金梅浪漫原體字"/>
        <a:cs typeface=""/>
      </a:majorFont>
      <a:minorFont>
        <a:latin typeface="Tempus Sans ITC"/>
        <a:ea typeface="金梅浪漫原體字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專案概觀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專案概觀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專案概觀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Evolutionary Development of Hierarchical Learning Structures</Template>
  <TotalTime>14771</TotalTime>
  <Words>355</Words>
  <Application>Microsoft Office PowerPoint</Application>
  <PresentationFormat>寬螢幕</PresentationFormat>
  <Paragraphs>145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Arial Unicode MS</vt:lpstr>
      <vt:lpstr>金梅浪漫原體字</vt:lpstr>
      <vt:lpstr>華康唐風隸</vt:lpstr>
      <vt:lpstr>新細明體</vt:lpstr>
      <vt:lpstr>標楷體</vt:lpstr>
      <vt:lpstr>Arial</vt:lpstr>
      <vt:lpstr>Tempus Sans ITC</vt:lpstr>
      <vt:lpstr>Times New Roman</vt:lpstr>
      <vt:lpstr>Wingdings</vt:lpstr>
      <vt:lpstr>專案概觀</vt:lpstr>
      <vt:lpstr>Lab 3</vt:lpstr>
      <vt:lpstr>1 對 2 解碼器 (Decoder)</vt:lpstr>
      <vt:lpstr>階層式電路設計  (cont.)</vt:lpstr>
      <vt:lpstr>致能</vt:lpstr>
      <vt:lpstr>模擬</vt:lpstr>
      <vt:lpstr>2 對 4 解碼器 (Decoder)</vt:lpstr>
      <vt:lpstr>模擬</vt:lpstr>
      <vt:lpstr>習題 Lab3-1</vt:lpstr>
      <vt:lpstr>優先編碼器</vt:lpstr>
      <vt:lpstr>模擬</vt:lpstr>
      <vt:lpstr>優先編碼器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Yuan-Pao Hsu</cp:lastModifiedBy>
  <cp:revision>287</cp:revision>
  <cp:lastPrinted>1601-01-01T00:00:00Z</cp:lastPrinted>
  <dcterms:created xsi:type="dcterms:W3CDTF">1601-01-01T00:00:00Z</dcterms:created>
  <dcterms:modified xsi:type="dcterms:W3CDTF">2024-03-31T14:30:10Z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