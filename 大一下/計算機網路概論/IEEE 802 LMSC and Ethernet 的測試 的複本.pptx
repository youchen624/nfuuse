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20B0606030504020204"/>
      <p:regular r:id="rId17"/>
    </p:embeddedFont>
    <p:embeddedFont>
      <p:font typeface="Open Sans Bold" charset="1" panose="020B0806030504020204"/>
      <p:regular r:id="rId21"/>
    </p:embeddedFont>
    <p:embeddedFont>
      <p:font typeface="Arimo" charset="1" panose="020B0604020202020204"/>
      <p:regular r:id="rId22"/>
    </p:embeddedFont>
    <p:embeddedFont>
      <p:font typeface="Century Gothic Paneuropean Bold" charset="1" panose="020B07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https://en.wikipedia.org/wiki/IEEE_802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50607" y="1230306"/>
            <a:ext cx="7386786" cy="45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4"/>
              </a:lnSpc>
              <a:spcBef>
                <a:spcPct val="0"/>
              </a:spcBef>
            </a:pPr>
            <a:r>
              <a:rPr lang="en-US" sz="85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LMSC</a:t>
            </a:r>
          </a:p>
          <a:p>
            <a:pPr algn="ctr">
              <a:lnSpc>
                <a:spcPts val="12004"/>
              </a:lnSpc>
              <a:spcBef>
                <a:spcPct val="0"/>
              </a:spcBef>
            </a:pPr>
            <a:r>
              <a:rPr lang="en-US" sz="85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</a:p>
          <a:p>
            <a:pPr algn="ctr">
              <a:lnSpc>
                <a:spcPts val="12004"/>
              </a:lnSpc>
              <a:spcBef>
                <a:spcPct val="0"/>
              </a:spcBef>
            </a:pPr>
            <a:r>
              <a:rPr lang="en-US" sz="85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Ethernet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774" y="6096309"/>
            <a:ext cx="14528453" cy="91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6"/>
              </a:lnSpc>
              <a:spcBef>
                <a:spcPct val="0"/>
              </a:spcBef>
            </a:pPr>
            <a:r>
              <a:rPr lang="en-US" sz="54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IEEE 802 LAN/MAN Standards Committee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6826" y="7673525"/>
            <a:ext cx="3274347" cy="140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 21</a:t>
            </a:r>
          </a:p>
          <a:p>
            <a:pPr algn="ctr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陳宥儒 陳柏勳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5233839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LMSC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503" y="1814809"/>
            <a:ext cx="15050263" cy="668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Established in Feb 1980.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Committee name based on IEEE series committee numbers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 related to establishment date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Aiding memory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Sets standards for Local Area Networks (LAN), Metropolitan Area Networks (MAN) and High Speed Networks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http://standards.ieee.org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http://www.ieee802.org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Organized into numerous Working Groups responsible for task advancement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520553" y="1719262"/>
          <a:ext cx="13246894" cy="7724775"/>
        </p:xfrm>
        <a:graphic>
          <a:graphicData uri="http://schemas.openxmlformats.org/drawingml/2006/table">
            <a:tbl>
              <a:tblPr/>
              <a:tblGrid>
                <a:gridCol w="2497227"/>
                <a:gridCol w="7498590"/>
                <a:gridCol w="3251077"/>
              </a:tblGrid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Working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Standardizing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LANs and High-Level Interfaces (HLI) above OSI Layer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LLC (Logical link control)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Ethernet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 bus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 Ring MAC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MANs (DQDB)(Distributed-queue dual-bus)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Broadband LAN using Coaxial Cable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Fiber Optic Technical Advisory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818894" y="411532"/>
            <a:ext cx="10898267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Working Groups (1/3)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10898267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Working Groups (2/3)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520553" y="1719262"/>
          <a:ext cx="13246894" cy="7724775"/>
        </p:xfrm>
        <a:graphic>
          <a:graphicData uri="http://schemas.openxmlformats.org/drawingml/2006/table">
            <a:tbl>
              <a:tblPr/>
              <a:tblGrid>
                <a:gridCol w="2497227"/>
                <a:gridCol w="7498590"/>
                <a:gridCol w="3251077"/>
              </a:tblGrid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Working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Standardizing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Integrated Services LAN (ISLAN or isoEthernet)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Interoperable LAN 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WLAN (Wireless Local Area Networks)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100BaseVG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Reserved for Fast Ethernet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Cable modems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WPAN (Wireless Personal Area Network)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Broadband Wireless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10898267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Working Groups (2/3)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520553" y="1719262"/>
          <a:ext cx="13246894" cy="7724775"/>
        </p:xfrm>
        <a:graphic>
          <a:graphicData uri="http://schemas.openxmlformats.org/drawingml/2006/table">
            <a:tbl>
              <a:tblPr/>
              <a:tblGrid>
                <a:gridCol w="2497227"/>
                <a:gridCol w="7498590"/>
                <a:gridCol w="3251077"/>
              </a:tblGrid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Working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Standardizing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Resilient packet 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Radio Regulatory advisory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Wireless Coexistence advisory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Broadband Wireless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Media Independent Handoff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Wireless Regional Area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Emergency Services Working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Disbanded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5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IEEE 802.24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Smart Grid and vertical applications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8505676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 and OSI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503" y="1814809"/>
            <a:ext cx="13583930" cy="442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802.1: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High-Level Interface (HILI)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802.2: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Corresponds to the LLC sublayer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802.3 ~ 802.24:</a:t>
            </a:r>
          </a:p>
          <a:p>
            <a:pPr algn="l" marL="647694" indent="-323847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Correspond to MAC + Physical Layers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333115" y="1634707"/>
          <a:ext cx="10830853" cy="8987565"/>
        </p:xfrm>
        <a:graphic>
          <a:graphicData uri="http://schemas.openxmlformats.org/drawingml/2006/table">
            <a:tbl>
              <a:tblPr/>
              <a:tblGrid>
                <a:gridCol w="1514645"/>
                <a:gridCol w="1720794"/>
                <a:gridCol w="1859352"/>
                <a:gridCol w="1760163"/>
                <a:gridCol w="1961025"/>
                <a:gridCol w="2014873"/>
              </a:tblGrid>
              <a:tr h="124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application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124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presentation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917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session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124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Transport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1249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(HLI)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8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Network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917492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Ethernet2.0</a:t>
                      </a: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E8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802.2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802.2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802.2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LLC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89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A8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Link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906437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Ethernet2.0</a:t>
                      </a: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E8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(CSMA/CD)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8A1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802.11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 strike="noStrike" u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(Wireless  LAN)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C2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802.15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(Bluetooth)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(Zigbee)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MAC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2B5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Link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  <a:tr h="1249115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Ethernet2.0</a:t>
                      </a: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E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(CSMA/CD)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8A1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802.11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 strike="noStrike" u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(Wireless  LAN)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C2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802.15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(Bluetooth)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(Zigbee)</a:t>
                      </a:r>
                    </a:p>
                    <a:p>
                      <a:pPr algn="ctr">
                        <a:lnSpc>
                          <a:spcPts val="2346"/>
                        </a:lnSpc>
                      </a:pP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7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transmission</a:t>
                      </a:r>
                      <a:endParaRPr lang="en-US" sz="1100"/>
                    </a:p>
                    <a:p>
                      <a:pPr algn="ctr">
                        <a:lnSpc>
                          <a:spcPts val="2346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Physical Layer</a:t>
                      </a:r>
                      <a:endParaRPr lang="en-US" sz="1100"/>
                    </a:p>
                  </a:txBody>
                  <a:tcPr marL="212889" marR="212889" marT="212889" marB="212889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8751689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Typical LAN Architec</a:t>
            </a: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503" y="1671934"/>
            <a:ext cx="13583930" cy="55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 IEEE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802.3, 802.4, 802.5 are the three main wired LANs</a:t>
            </a:r>
          </a:p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 802.3 is most widely us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</a:t>
            </a:r>
          </a:p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 802.3 uses CSMA/CD</a:t>
            </a:r>
          </a:p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 802.11: CSMA/CA</a:t>
            </a:r>
          </a:p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802.15: Blu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etooth</a:t>
            </a:r>
          </a:p>
          <a:p>
            <a:pPr algn="l">
              <a:lnSpc>
                <a:spcPts val="74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◆ Zigbee is based on 802.15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11453812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Ethernet Standard 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503" y="1814809"/>
            <a:ext cx="13583930" cy="36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Currently the most commonly used LAN tec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hnology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Open standard: compatible with any manufacturer’s equipment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- 1980: DIX 1.0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- 1982: DIX 2.0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IEEE 802.3 released in 1985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3672780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802.3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18894" y="2110211"/>
          <a:ext cx="5763528" cy="6441158"/>
        </p:xfrm>
        <a:graphic>
          <a:graphicData uri="http://schemas.openxmlformats.org/drawingml/2006/table">
            <a:tbl>
              <a:tblPr/>
              <a:tblGrid>
                <a:gridCol w="2420564"/>
                <a:gridCol w="3342964"/>
              </a:tblGrid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b="true" sz="1694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File name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1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b="true" sz="1694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Specifications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1FF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802.3a-1985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10Base2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802.31-1990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10BaseT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802.3j-1993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10BaseF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802.3u-1995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100BaseT 100BaseF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802.3y-1997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100BaseT2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802.3x-1997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100Mbps  full-duplex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5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802.3ab-2001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7"/>
                        </a:lnSpc>
                        <a:defRPr/>
                      </a:pPr>
                      <a:r>
                        <a:rPr lang="en-US" sz="1694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1000BaseT</a:t>
                      </a:r>
                      <a:endParaRPr lang="en-US" sz="1100"/>
                    </a:p>
                  </a:txBody>
                  <a:tcPr marL="201792" marR="201792" marT="201792" marB="201792" anchor="ctr">
                    <a:lnL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358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777804" y="2110211"/>
          <a:ext cx="5744576" cy="6419847"/>
        </p:xfrm>
        <a:graphic>
          <a:graphicData uri="http://schemas.openxmlformats.org/drawingml/2006/table">
            <a:tbl>
              <a:tblPr/>
              <a:tblGrid>
                <a:gridCol w="1807366"/>
                <a:gridCol w="3937210"/>
              </a:tblGrid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b="true" sz="1689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File name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1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b="true" sz="1689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Specifications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1FF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802.3z-1998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1000BaseX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802.3ae-2002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10Gbase(Full duplex, collision-free)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802.3af-2003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Power over Ethernet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6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802.3an-2006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10Gbase T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802.3ba-2010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40G/100G Ethernet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802.3bs-2017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r>
                        <a:rPr lang="en-US" sz="168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400G Ethernet</a:t>
                      </a: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F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4"/>
                        </a:lnSpc>
                        <a:defRPr/>
                      </a:pPr>
                      <a:endParaRPr lang="en-US" sz="1100"/>
                    </a:p>
                  </a:txBody>
                  <a:tcPr marL="201129" marR="201129" marT="201129" marB="201129" anchor="ctr">
                    <a:lnL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09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8894" y="411532"/>
            <a:ext cx="9217670" cy="104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5"/>
              </a:lnSpc>
              <a:spcBef>
                <a:spcPct val="0"/>
              </a:spcBef>
            </a:pPr>
            <a:r>
              <a:rPr lang="en-US" sz="60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Ethernet 2.0 vs IEEE 802.3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503" y="1814809"/>
            <a:ext cx="13583930" cy="36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define Ethernet frames for data transmission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Ethernet 2.0 uses EtherType field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IEEE 802.3 uses Length field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Today’s systems support both formats for compatibility</a:t>
            </a:r>
          </a:p>
          <a:p>
            <a:pPr algn="l">
              <a:lnSpc>
                <a:spcPts val="59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use CSMA/CD protocol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474024">
            <a:off x="13367309" y="1401384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52326">
            <a:off x="-1422988" y="-1028700"/>
            <a:ext cx="3897443" cy="4114800"/>
          </a:xfrm>
          <a:custGeom>
            <a:avLst/>
            <a:gdLst/>
            <a:ahLst/>
            <a:cxnLst/>
            <a:rect r="r" b="b" t="t" l="l"/>
            <a:pathLst>
              <a:path h="4114800" w="3897443">
                <a:moveTo>
                  <a:pt x="0" y="0"/>
                </a:moveTo>
                <a:lnTo>
                  <a:pt x="3897442" y="0"/>
                </a:lnTo>
                <a:lnTo>
                  <a:pt x="38974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DAGopTooB0I</dc:identifier>
  <dcterms:modified xsi:type="dcterms:W3CDTF">2011-08-01T06:04:30Z</dcterms:modified>
  <cp:revision>1</cp:revision>
  <dc:title>IEEE 802 LMSC and Ethernet 的測試 的複本</dc:title>
</cp:coreProperties>
</file>