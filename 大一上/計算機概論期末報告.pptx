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1" r:id="rId5"/>
    <p:sldId id="283" r:id="rId6"/>
    <p:sldId id="260" r:id="rId7"/>
    <p:sldId id="261" r:id="rId8"/>
    <p:sldId id="284" r:id="rId9"/>
    <p:sldId id="285" r:id="rId10"/>
    <p:sldId id="262" r:id="rId11"/>
    <p:sldId id="290" r:id="rId12"/>
    <p:sldId id="291" r:id="rId13"/>
    <p:sldId id="288" r:id="rId14"/>
    <p:sldId id="264" r:id="rId15"/>
    <p:sldId id="265" r:id="rId16"/>
    <p:sldId id="266" r:id="rId17"/>
    <p:sldId id="267" r:id="rId18"/>
    <p:sldId id="277" r:id="rId1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F4DD"/>
    <a:srgbClr val="FDF0CE"/>
    <a:srgbClr val="CDEDF8"/>
    <a:srgbClr val="149CCA"/>
    <a:srgbClr val="FDD5C9"/>
    <a:srgbClr val="E03E0D"/>
    <a:srgbClr val="32CB58"/>
    <a:srgbClr val="32CA58"/>
    <a:srgbClr val="ECE0F7"/>
    <a:srgbClr val="A466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6" autoAdjust="0"/>
    <p:restoredTop sz="96247" autoAdjust="0"/>
  </p:normalViewPr>
  <p:slideViewPr>
    <p:cSldViewPr snapToGrid="0">
      <p:cViewPr>
        <p:scale>
          <a:sx n="75" d="100"/>
          <a:sy n="75" d="100"/>
        </p:scale>
        <p:origin x="-883" y="-1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橢圓 6"/>
          <p:cNvSpPr/>
          <p:nvPr userDrawn="1"/>
        </p:nvSpPr>
        <p:spPr>
          <a:xfrm>
            <a:off x="3988526" y="1321526"/>
            <a:ext cx="4214949" cy="421494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 userDrawn="1"/>
        </p:nvSpPr>
        <p:spPr>
          <a:xfrm>
            <a:off x="4180114" y="1513114"/>
            <a:ext cx="3831772" cy="38317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5875427" y="3429000"/>
            <a:ext cx="441146" cy="94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 smtClean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 smtClean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 smtClean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 smtClean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 smtClean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 smtClean="0">
              <a:solidFill>
                <a:srgbClr val="F8B70C"/>
              </a:solidFill>
              <a:effectLst/>
            </a:endParaRPr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5875427" y="3429000"/>
            <a:ext cx="441146" cy="94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 smtClean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 smtClean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 smtClean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 smtClean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 smtClean="0">
              <a:solidFill>
                <a:srgbClr val="F8B70C"/>
              </a:solidFill>
              <a:effectLst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en-US" altLang="zh-TW" sz="2000" dirty="0" smtClean="0">
              <a:solidFill>
                <a:srgbClr val="F8B70C"/>
              </a:solidFill>
              <a:effectLst/>
              <a:sym typeface="Webdings" panose="05030102010509060703" pitchFamily="18" charset="2"/>
            </a:endParaRPr>
          </a:p>
          <a:p>
            <a:pPr>
              <a:lnSpc>
                <a:spcPts val="0"/>
              </a:lnSpc>
            </a:pPr>
            <a:r>
              <a:rPr lang="zh-TW" altLang="en-US" sz="2000" dirty="0" smtClean="0">
                <a:solidFill>
                  <a:srgbClr val="F8B70C"/>
                </a:solidFill>
                <a:effectLst/>
                <a:sym typeface="Webdings" panose="05030102010509060703" pitchFamily="18" charset="2"/>
              </a:rPr>
              <a:t></a:t>
            </a:r>
            <a:endParaRPr lang="zh-TW" altLang="en-US" sz="2000" dirty="0" smtClean="0">
              <a:solidFill>
                <a:srgbClr val="F8B70C"/>
              </a:solidFill>
              <a:effectLst/>
            </a:endParaRPr>
          </a:p>
        </p:txBody>
      </p:sp>
      <p:sp>
        <p:nvSpPr>
          <p:cNvPr id="11" name="橢圓 10"/>
          <p:cNvSpPr/>
          <p:nvPr userDrawn="1"/>
        </p:nvSpPr>
        <p:spPr>
          <a:xfrm>
            <a:off x="-1619998" y="-4286998"/>
            <a:ext cx="15431996" cy="15431996"/>
          </a:xfrm>
          <a:prstGeom prst="ellipse">
            <a:avLst/>
          </a:prstGeom>
          <a:solidFill>
            <a:srgbClr val="F8B70C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2" name="群組 11"/>
          <p:cNvGrpSpPr/>
          <p:nvPr userDrawn="1"/>
        </p:nvGrpSpPr>
        <p:grpSpPr>
          <a:xfrm>
            <a:off x="3939150" y="-2164277"/>
            <a:ext cx="11186550" cy="11186550"/>
            <a:chOff x="3988526" y="1321526"/>
            <a:chExt cx="4214949" cy="4214949"/>
          </a:xfrm>
        </p:grpSpPr>
        <p:sp>
          <p:nvSpPr>
            <p:cNvPr id="13" name="橢圓 12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solidFill>
              <a:srgbClr val="FAD3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F5BA1C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甜甜圈 14"/>
          <p:cNvSpPr/>
          <p:nvPr userDrawn="1"/>
        </p:nvSpPr>
        <p:spPr>
          <a:xfrm>
            <a:off x="-2047875" y="-1676311"/>
            <a:ext cx="3409950" cy="3409950"/>
          </a:xfrm>
          <a:prstGeom prst="donut">
            <a:avLst>
              <a:gd name="adj" fmla="val 15772"/>
            </a:avLst>
          </a:prstGeom>
          <a:solidFill>
            <a:srgbClr val="F8B70C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altLang="en-US"/>
          </a:p>
        </p:txBody>
      </p:sp>
      <p:sp>
        <p:nvSpPr>
          <p:cNvPr id="17" name="文字方塊 16"/>
          <p:cNvSpPr txBox="1"/>
          <p:nvPr userDrawn="1"/>
        </p:nvSpPr>
        <p:spPr>
          <a:xfrm>
            <a:off x="393188" y="4796472"/>
            <a:ext cx="15049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TW" altLang="en-US" dirty="0" smtClean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en-US" altLang="zh-TW" dirty="0" smtClean="0">
              <a:solidFill>
                <a:schemeClr val="bg1">
                  <a:alpha val="20000"/>
                </a:schemeClr>
              </a:solidFill>
              <a:sym typeface="Webdings" panose="05030102010509060703" pitchFamily="18" charset="2"/>
            </a:endParaRPr>
          </a:p>
          <a:p>
            <a: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zh-TW" altLang="en-US" dirty="0" smtClean="0">
              <a:solidFill>
                <a:schemeClr val="bg1">
                  <a:alpha val="20000"/>
                </a:schemeClr>
              </a:solidFill>
            </a:endParaRPr>
          </a:p>
          <a:p>
            <a: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zh-TW" altLang="en-US" dirty="0" smtClean="0">
              <a:solidFill>
                <a:schemeClr val="bg1">
                  <a:alpha val="20000"/>
                </a:schemeClr>
              </a:solidFill>
            </a:endParaRPr>
          </a:p>
          <a:p>
            <a: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zh-TW" altLang="en-US" dirty="0" smtClean="0">
              <a:solidFill>
                <a:schemeClr val="bg1">
                  <a:alpha val="20000"/>
                </a:schemeClr>
              </a:solidFill>
            </a:endParaRPr>
          </a:p>
          <a:p>
            <a: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zh-TW" altLang="en-US" dirty="0" smtClean="0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18" name="文字方塊 17"/>
          <p:cNvSpPr txBox="1"/>
          <p:nvPr userDrawn="1"/>
        </p:nvSpPr>
        <p:spPr>
          <a:xfrm>
            <a:off x="2311086" y="6261047"/>
            <a:ext cx="15049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TW" altLang="en-US" dirty="0" smtClean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en-US" altLang="zh-TW" dirty="0" smtClean="0">
              <a:solidFill>
                <a:schemeClr val="bg1">
                  <a:alpha val="20000"/>
                </a:schemeClr>
              </a:solidFill>
              <a:sym typeface="Webdings" panose="05030102010509060703" pitchFamily="18" charset="2"/>
            </a:endParaRPr>
          </a:p>
          <a:p>
            <a: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zh-TW" altLang="en-US" dirty="0" smtClean="0">
              <a:solidFill>
                <a:schemeClr val="bg1">
                  <a:alpha val="20000"/>
                </a:schemeClr>
              </a:solidFill>
            </a:endParaRPr>
          </a:p>
          <a:p>
            <a: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zh-TW" altLang="en-US" dirty="0" smtClean="0">
              <a:solidFill>
                <a:schemeClr val="bg1">
                  <a:alpha val="20000"/>
                </a:schemeClr>
              </a:solidFill>
            </a:endParaRPr>
          </a:p>
          <a:p>
            <a: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zh-TW" altLang="en-US" dirty="0" smtClean="0">
              <a:solidFill>
                <a:schemeClr val="bg1">
                  <a:alpha val="20000"/>
                </a:schemeClr>
              </a:solidFill>
            </a:endParaRPr>
          </a:p>
          <a:p>
            <a:pPr marL="0" marR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 smtClean="0">
                <a:solidFill>
                  <a:schemeClr val="bg1">
                    <a:alpha val="20000"/>
                  </a:schemeClr>
                </a:solidFill>
                <a:sym typeface="Webdings" panose="05030102010509060703" pitchFamily="18" charset="2"/>
              </a:rPr>
              <a:t></a:t>
            </a:r>
            <a:endParaRPr lang="zh-TW" altLang="en-US" dirty="0" smtClean="0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19" name="文字方塊 18"/>
          <p:cNvSpPr txBox="1"/>
          <p:nvPr userDrawn="1"/>
        </p:nvSpPr>
        <p:spPr>
          <a:xfrm>
            <a:off x="586094" y="2674948"/>
            <a:ext cx="1101981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4400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計概期末報告</a:t>
            </a:r>
            <a:endParaRPr lang="en-US" altLang="zh-TW" sz="4400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/>
            <a:r>
              <a:rPr lang="en-US" altLang="zh-TW" sz="4000" b="1" kern="1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A More Efficient Warehouse Management Solution</a:t>
            </a:r>
            <a:endParaRPr lang="zh-TW" altLang="en-US" sz="40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320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xit" presetSubtype="32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4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4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3" presetClass="exit" presetSubtype="32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11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1" nodeType="withEffect">
                                  <p:stCondLst>
                                    <p:cond delay="11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path" presetSubtype="0" fill="hold" grpId="0" nodeType="withEffect">
                                  <p:stCondLst>
                                    <p:cond delay="1150"/>
                                  </p:stCondLst>
                                  <p:iterate type="lt">
                                    <p:tmPct val="200"/>
                                  </p:iterate>
                                  <p:childTnLst>
                                    <p:animMotion origin="layout" path="M -0.00039 0.0007 C -0.00039 -0.20601 0.0737 -0.37407 0.1651 -0.37407 C 0.25625 -0.37407 0.33047 -0.20601 0.33047 0.0007 C 0.33047 0.20764 0.25625 0.37547 0.1651 0.37547 C 0.0737 0.37547 -0.00039 0.20764 -0.00039 0.0007 Z " pathEditMode="relative" rAng="16200000" ptsTypes="AAAAA">
                                      <p:cBhvr>
                                        <p:cTn id="28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36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1" presetClass="path" presetSubtype="0" fill="hold" grpId="0" nodeType="withEffect">
                                  <p:stCondLst>
                                    <p:cond delay="1150"/>
                                  </p:stCondLst>
                                  <p:iterate type="lt">
                                    <p:tmPct val="200"/>
                                  </p:iterate>
                                  <p:childTnLst>
                                    <p:animMotion origin="layout" path="M -0.00052 0.00093 C -0.00052 -0.20578 -0.07018 -0.37384 -0.15612 -0.37384 C -0.24193 -0.37384 -0.31159 -0.20578 -0.31159 0.00093 C -0.31159 0.20787 -0.24193 0.3757 -0.15612 0.3757 C -0.07018 0.3757 -0.00052 0.20787 -0.00052 0.00093 Z " pathEditMode="relative" rAng="16200000" ptsTypes="AAAAA">
                                      <p:cBhvr>
                                        <p:cTn id="30" dur="125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560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2" nodeType="withEffect">
                                  <p:stCondLst>
                                    <p:cond delay="245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2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grpId="2" nodeType="withEffect">
                                  <p:stCondLst>
                                    <p:cond delay="245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5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grpId="0" nodeType="withEffect">
                                  <p:stCondLst>
                                    <p:cond delay="24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850"/>
                            </p:stCondLst>
                            <p:childTnLst>
                              <p:par>
                                <p:cTn id="4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250"/>
                            </p:stCondLst>
                            <p:childTnLst>
                              <p:par>
                                <p:cTn id="4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65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50"/>
                            </p:stCondLst>
                            <p:childTnLst>
                              <p:par>
                                <p:cTn id="59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/>
      <p:bldP spid="9" grpId="1"/>
      <p:bldP spid="9" grpId="2"/>
      <p:bldP spid="10" grpId="0"/>
      <p:bldP spid="10" grpId="1"/>
      <p:bldP spid="10" grpId="2"/>
      <p:bldP spid="11" grpId="0" animBg="1"/>
      <p:bldP spid="15" grpId="0" animBg="1"/>
      <p:bldP spid="17" grpId="0"/>
      <p:bldP spid="18" grpId="0"/>
      <p:bldP spid="19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群組 8"/>
          <p:cNvGrpSpPr/>
          <p:nvPr userDrawn="1"/>
        </p:nvGrpSpPr>
        <p:grpSpPr>
          <a:xfrm>
            <a:off x="-6444344" y="-3991430"/>
            <a:ext cx="25080688" cy="7982860"/>
            <a:chOff x="3988526" y="1321526"/>
            <a:chExt cx="4214949" cy="4214949"/>
          </a:xfrm>
        </p:grpSpPr>
        <p:sp>
          <p:nvSpPr>
            <p:cNvPr id="7" name="橢圓 6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" name="橢圓 7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" name="矩形 9"/>
          <p:cNvSpPr/>
          <p:nvPr userDrawn="1"/>
        </p:nvSpPr>
        <p:spPr>
          <a:xfrm>
            <a:off x="-3410307" y="5119062"/>
            <a:ext cx="2441694" cy="3477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計畫緣起</a:t>
            </a:r>
            <a:endParaRPr lang="en-US" altLang="zh-TW" sz="44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TW" altLang="en-US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產業概況</a:t>
            </a:r>
            <a:endParaRPr lang="en-US" altLang="zh-TW" sz="44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TW" altLang="en-US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問卷分析</a:t>
            </a:r>
            <a:endParaRPr lang="en-US" altLang="zh-TW" sz="44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TW" altLang="en-US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行銷計畫</a:t>
            </a:r>
            <a:endParaRPr lang="en-US" altLang="zh-TW" sz="44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zh-TW" altLang="en-US" sz="4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計畫總結</a:t>
            </a:r>
            <a:endParaRPr lang="en-US" altLang="zh-TW" sz="4400" b="1"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文字方塊 11"/>
          <p:cNvSpPr txBox="1"/>
          <p:nvPr userDrawn="1"/>
        </p:nvSpPr>
        <p:spPr>
          <a:xfrm>
            <a:off x="407988" y="6416675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2024/11/27</a:t>
            </a:r>
            <a:r>
              <a:rPr lang="zh-TW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計算機概論期末英文報告</a:t>
            </a:r>
          </a:p>
        </p:txBody>
      </p:sp>
      <p:sp>
        <p:nvSpPr>
          <p:cNvPr id="13" name="文字方塊 12"/>
          <p:cNvSpPr txBox="1"/>
          <p:nvPr userDrawn="1"/>
        </p:nvSpPr>
        <p:spPr>
          <a:xfrm>
            <a:off x="11416605" y="6416674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061B2C-6C14-4386-B8A0-FC3D00B49B88}" type="slidenum">
              <a:rPr lang="zh-TW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‹#›</a:t>
            </a:fld>
            <a:endParaRPr lang="zh-TW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25" name="群組 24"/>
          <p:cNvGrpSpPr/>
          <p:nvPr userDrawn="1"/>
        </p:nvGrpSpPr>
        <p:grpSpPr>
          <a:xfrm>
            <a:off x="350055" y="2025800"/>
            <a:ext cx="2131866" cy="4248000"/>
            <a:chOff x="350055" y="2025800"/>
            <a:chExt cx="2131866" cy="4248000"/>
          </a:xfrm>
        </p:grpSpPr>
        <p:grpSp>
          <p:nvGrpSpPr>
            <p:cNvPr id="23" name="群組 22"/>
            <p:cNvGrpSpPr/>
            <p:nvPr userDrawn="1"/>
          </p:nvGrpSpPr>
          <p:grpSpPr>
            <a:xfrm>
              <a:off x="350055" y="2025800"/>
              <a:ext cx="2131866" cy="4248000"/>
              <a:chOff x="350055" y="2025800"/>
              <a:chExt cx="2131866" cy="4248000"/>
            </a:xfrm>
          </p:grpSpPr>
          <p:sp>
            <p:nvSpPr>
              <p:cNvPr id="11" name="圓角矩形 10"/>
              <p:cNvSpPr/>
              <p:nvPr userDrawn="1"/>
            </p:nvSpPr>
            <p:spPr>
              <a:xfrm>
                <a:off x="407988" y="2025800"/>
                <a:ext cx="2016000" cy="4248000"/>
              </a:xfrm>
              <a:prstGeom prst="roundRect">
                <a:avLst>
                  <a:gd name="adj" fmla="val 5328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304800" dist="101600" dir="8100000" algn="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16" name="群組 15"/>
              <p:cNvGrpSpPr/>
              <p:nvPr userDrawn="1"/>
            </p:nvGrpSpPr>
            <p:grpSpPr>
              <a:xfrm>
                <a:off x="737388" y="2342810"/>
                <a:ext cx="1357200" cy="1357200"/>
                <a:chOff x="3037945" y="3994075"/>
                <a:chExt cx="1357200" cy="1357200"/>
              </a:xfrm>
            </p:grpSpPr>
            <p:sp>
              <p:nvSpPr>
                <p:cNvPr id="14" name="橢圓 13"/>
                <p:cNvSpPr/>
                <p:nvPr userDrawn="1"/>
              </p:nvSpPr>
              <p:spPr>
                <a:xfrm>
                  <a:off x="3037945" y="3994075"/>
                  <a:ext cx="1357200" cy="135720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" name="橢圓 14"/>
                <p:cNvSpPr/>
                <p:nvPr userDrawn="1"/>
              </p:nvSpPr>
              <p:spPr>
                <a:xfrm>
                  <a:off x="3142345" y="4098475"/>
                  <a:ext cx="1148400" cy="1148400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cxnSp>
            <p:nvCxnSpPr>
              <p:cNvPr id="18" name="直線接點 17"/>
              <p:cNvCxnSpPr/>
              <p:nvPr userDrawn="1"/>
            </p:nvCxnSpPr>
            <p:spPr>
              <a:xfrm>
                <a:off x="841788" y="3848100"/>
                <a:ext cx="1148400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文字方塊 19"/>
              <p:cNvSpPr txBox="1"/>
              <p:nvPr userDrawn="1"/>
            </p:nvSpPr>
            <p:spPr>
              <a:xfrm>
                <a:off x="972598" y="3854182"/>
                <a:ext cx="88678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5400" dirty="0" smtClean="0">
                    <a:solidFill>
                      <a:srgbClr val="E03E0D"/>
                    </a:solidFill>
                  </a:rPr>
                  <a:t>01</a:t>
                </a:r>
                <a:endParaRPr lang="zh-TW" altLang="en-US" sz="5400" dirty="0">
                  <a:solidFill>
                    <a:srgbClr val="E03E0D"/>
                  </a:solidFill>
                </a:endParaRPr>
              </a:p>
            </p:txBody>
          </p:sp>
          <p:sp>
            <p:nvSpPr>
              <p:cNvPr id="22" name="文字方塊 21"/>
              <p:cNvSpPr txBox="1"/>
              <p:nvPr userDrawn="1"/>
            </p:nvSpPr>
            <p:spPr>
              <a:xfrm>
                <a:off x="350055" y="4734341"/>
                <a:ext cx="2131866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TW" sz="44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Rational</a:t>
                </a:r>
              </a:p>
            </p:txBody>
          </p:sp>
        </p:grpSp>
        <p:sp>
          <p:nvSpPr>
            <p:cNvPr id="24" name="文字方塊 23"/>
            <p:cNvSpPr txBox="1"/>
            <p:nvPr userDrawn="1"/>
          </p:nvSpPr>
          <p:spPr>
            <a:xfrm>
              <a:off x="938935" y="2523158"/>
              <a:ext cx="95410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6000" dirty="0" smtClean="0">
                  <a:solidFill>
                    <a:srgbClr val="FFFFFF"/>
                  </a:solidFill>
                  <a:sym typeface="Webdings" panose="05030102010509060703" pitchFamily="18" charset="2"/>
                </a:rPr>
                <a:t></a:t>
              </a:r>
              <a:endParaRPr lang="zh-TW" altLang="en-US" sz="60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6" name="群組 25"/>
          <p:cNvGrpSpPr/>
          <p:nvPr userDrawn="1"/>
        </p:nvGrpSpPr>
        <p:grpSpPr>
          <a:xfrm>
            <a:off x="2710810" y="2025800"/>
            <a:ext cx="2128468" cy="4248000"/>
            <a:chOff x="370804" y="2025800"/>
            <a:chExt cx="2128468" cy="4248000"/>
          </a:xfrm>
        </p:grpSpPr>
        <p:grpSp>
          <p:nvGrpSpPr>
            <p:cNvPr id="27" name="群組 26"/>
            <p:cNvGrpSpPr/>
            <p:nvPr userDrawn="1"/>
          </p:nvGrpSpPr>
          <p:grpSpPr>
            <a:xfrm>
              <a:off x="370804" y="2025800"/>
              <a:ext cx="2128468" cy="4248000"/>
              <a:chOff x="370804" y="2025800"/>
              <a:chExt cx="2128468" cy="4248000"/>
            </a:xfrm>
          </p:grpSpPr>
          <p:sp>
            <p:nvSpPr>
              <p:cNvPr id="29" name="圓角矩形 28"/>
              <p:cNvSpPr/>
              <p:nvPr userDrawn="1"/>
            </p:nvSpPr>
            <p:spPr>
              <a:xfrm>
                <a:off x="407988" y="2025800"/>
                <a:ext cx="2016000" cy="4248000"/>
              </a:xfrm>
              <a:prstGeom prst="roundRect">
                <a:avLst>
                  <a:gd name="adj" fmla="val 5328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304800" dist="101600" dir="8100000" algn="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30" name="群組 29"/>
              <p:cNvGrpSpPr/>
              <p:nvPr userDrawn="1"/>
            </p:nvGrpSpPr>
            <p:grpSpPr>
              <a:xfrm>
                <a:off x="737388" y="2342810"/>
                <a:ext cx="1357200" cy="1357200"/>
                <a:chOff x="3037945" y="3994075"/>
                <a:chExt cx="1357200" cy="1357200"/>
              </a:xfrm>
            </p:grpSpPr>
            <p:sp>
              <p:nvSpPr>
                <p:cNvPr id="34" name="橢圓 33"/>
                <p:cNvSpPr/>
                <p:nvPr userDrawn="1"/>
              </p:nvSpPr>
              <p:spPr>
                <a:xfrm>
                  <a:off x="3037945" y="3994075"/>
                  <a:ext cx="1357200" cy="1357200"/>
                </a:xfrm>
                <a:prstGeom prst="ellipse">
                  <a:avLst/>
                </a:prstGeom>
                <a:noFill/>
                <a:ln>
                  <a:solidFill>
                    <a:srgbClr val="F8B70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5" name="橢圓 34"/>
                <p:cNvSpPr/>
                <p:nvPr userDrawn="1"/>
              </p:nvSpPr>
              <p:spPr>
                <a:xfrm>
                  <a:off x="3142345" y="4098475"/>
                  <a:ext cx="1148400" cy="11484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cxnSp>
            <p:nvCxnSpPr>
              <p:cNvPr id="31" name="直線接點 30"/>
              <p:cNvCxnSpPr/>
              <p:nvPr userDrawn="1"/>
            </p:nvCxnSpPr>
            <p:spPr>
              <a:xfrm>
                <a:off x="841788" y="3848100"/>
                <a:ext cx="1148400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文字方塊 31"/>
              <p:cNvSpPr txBox="1"/>
              <p:nvPr userDrawn="1"/>
            </p:nvSpPr>
            <p:spPr>
              <a:xfrm>
                <a:off x="972598" y="3854182"/>
                <a:ext cx="88678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5400" dirty="0" smtClean="0">
                    <a:solidFill>
                      <a:srgbClr val="F8B70C"/>
                    </a:solidFill>
                  </a:rPr>
                  <a:t>02</a:t>
                </a:r>
                <a:endParaRPr lang="zh-TW" altLang="en-US" sz="5400" dirty="0">
                  <a:solidFill>
                    <a:srgbClr val="F8B70C"/>
                  </a:solidFill>
                </a:endParaRPr>
              </a:p>
            </p:txBody>
          </p:sp>
          <p:sp>
            <p:nvSpPr>
              <p:cNvPr id="33" name="文字方塊 32"/>
              <p:cNvSpPr txBox="1"/>
              <p:nvPr userDrawn="1"/>
            </p:nvSpPr>
            <p:spPr>
              <a:xfrm>
                <a:off x="370804" y="4716805"/>
                <a:ext cx="2128468" cy="1446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4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Industry</a:t>
                </a:r>
              </a:p>
              <a:p>
                <a:r>
                  <a:rPr lang="en-US" altLang="zh-TW" sz="44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 Status</a:t>
                </a:r>
              </a:p>
            </p:txBody>
          </p:sp>
        </p:grpSp>
        <p:sp>
          <p:nvSpPr>
            <p:cNvPr id="28" name="文字方塊 27"/>
            <p:cNvSpPr txBox="1"/>
            <p:nvPr userDrawn="1"/>
          </p:nvSpPr>
          <p:spPr>
            <a:xfrm>
              <a:off x="957985" y="2504108"/>
              <a:ext cx="95410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6000" dirty="0" smtClean="0">
                  <a:solidFill>
                    <a:srgbClr val="FFFFFF"/>
                  </a:solidFill>
                  <a:sym typeface="Webdings" panose="05030102010509060703" pitchFamily="18" charset="2"/>
                </a:rPr>
                <a:t></a:t>
              </a:r>
            </a:p>
          </p:txBody>
        </p:sp>
      </p:grpSp>
      <p:grpSp>
        <p:nvGrpSpPr>
          <p:cNvPr id="36" name="群組 35"/>
          <p:cNvGrpSpPr/>
          <p:nvPr userDrawn="1"/>
        </p:nvGrpSpPr>
        <p:grpSpPr>
          <a:xfrm>
            <a:off x="5036479" y="2025800"/>
            <a:ext cx="2119042" cy="4248000"/>
            <a:chOff x="356467" y="2025800"/>
            <a:chExt cx="2119042" cy="4248000"/>
          </a:xfrm>
        </p:grpSpPr>
        <p:grpSp>
          <p:nvGrpSpPr>
            <p:cNvPr id="37" name="群組 36"/>
            <p:cNvGrpSpPr/>
            <p:nvPr userDrawn="1"/>
          </p:nvGrpSpPr>
          <p:grpSpPr>
            <a:xfrm>
              <a:off x="356467" y="2025800"/>
              <a:ext cx="2119042" cy="4248000"/>
              <a:chOff x="356467" y="2025800"/>
              <a:chExt cx="2119042" cy="4248000"/>
            </a:xfrm>
          </p:grpSpPr>
          <p:sp>
            <p:nvSpPr>
              <p:cNvPr id="39" name="圓角矩形 38"/>
              <p:cNvSpPr/>
              <p:nvPr userDrawn="1"/>
            </p:nvSpPr>
            <p:spPr>
              <a:xfrm>
                <a:off x="407988" y="2025800"/>
                <a:ext cx="2016000" cy="4248000"/>
              </a:xfrm>
              <a:prstGeom prst="roundRect">
                <a:avLst>
                  <a:gd name="adj" fmla="val 5328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304800" dist="101600" dir="8100000" algn="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40" name="群組 39"/>
              <p:cNvGrpSpPr/>
              <p:nvPr userDrawn="1"/>
            </p:nvGrpSpPr>
            <p:grpSpPr>
              <a:xfrm>
                <a:off x="737388" y="2342810"/>
                <a:ext cx="1357200" cy="1357200"/>
                <a:chOff x="3037945" y="3994075"/>
                <a:chExt cx="1357200" cy="1357200"/>
              </a:xfrm>
            </p:grpSpPr>
            <p:sp>
              <p:nvSpPr>
                <p:cNvPr id="44" name="橢圓 43"/>
                <p:cNvSpPr/>
                <p:nvPr userDrawn="1"/>
              </p:nvSpPr>
              <p:spPr>
                <a:xfrm>
                  <a:off x="3037945" y="3994075"/>
                  <a:ext cx="1357200" cy="1357200"/>
                </a:xfrm>
                <a:prstGeom prst="ellipse">
                  <a:avLst/>
                </a:prstGeom>
                <a:noFill/>
                <a:ln>
                  <a:solidFill>
                    <a:srgbClr val="1C9FCB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45" name="橢圓 44"/>
                <p:cNvSpPr/>
                <p:nvPr userDrawn="1"/>
              </p:nvSpPr>
              <p:spPr>
                <a:xfrm>
                  <a:off x="3142345" y="4098475"/>
                  <a:ext cx="1148400" cy="114840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cxnSp>
            <p:nvCxnSpPr>
              <p:cNvPr id="41" name="直線接點 40"/>
              <p:cNvCxnSpPr/>
              <p:nvPr userDrawn="1"/>
            </p:nvCxnSpPr>
            <p:spPr>
              <a:xfrm>
                <a:off x="841788" y="3848100"/>
                <a:ext cx="1148400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文字方塊 41"/>
              <p:cNvSpPr txBox="1"/>
              <p:nvPr userDrawn="1"/>
            </p:nvSpPr>
            <p:spPr>
              <a:xfrm>
                <a:off x="972598" y="3854182"/>
                <a:ext cx="88678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5400" dirty="0" smtClean="0">
                    <a:solidFill>
                      <a:srgbClr val="1C9FCB"/>
                    </a:solidFill>
                  </a:rPr>
                  <a:t>03</a:t>
                </a:r>
                <a:endParaRPr lang="zh-TW" altLang="en-US" sz="5400" dirty="0">
                  <a:solidFill>
                    <a:srgbClr val="1C9FCB"/>
                  </a:solidFill>
                </a:endParaRPr>
              </a:p>
            </p:txBody>
          </p:sp>
          <p:sp>
            <p:nvSpPr>
              <p:cNvPr id="43" name="文字方塊 42"/>
              <p:cNvSpPr txBox="1"/>
              <p:nvPr userDrawn="1"/>
            </p:nvSpPr>
            <p:spPr>
              <a:xfrm>
                <a:off x="356467" y="4716805"/>
                <a:ext cx="2119042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4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Formula</a:t>
                </a:r>
              </a:p>
            </p:txBody>
          </p:sp>
        </p:grpSp>
        <p:sp>
          <p:nvSpPr>
            <p:cNvPr id="38" name="文字方塊 37"/>
            <p:cNvSpPr txBox="1"/>
            <p:nvPr userDrawn="1"/>
          </p:nvSpPr>
          <p:spPr>
            <a:xfrm>
              <a:off x="977035" y="2504108"/>
              <a:ext cx="95410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6000" dirty="0" smtClean="0">
                  <a:solidFill>
                    <a:srgbClr val="FFFFFF"/>
                  </a:solidFill>
                  <a:sym typeface="Webdings" panose="05030102010509060703" pitchFamily="18" charset="2"/>
                </a:rPr>
                <a:t></a:t>
              </a:r>
            </a:p>
          </p:txBody>
        </p:sp>
      </p:grpSp>
      <p:grpSp>
        <p:nvGrpSpPr>
          <p:cNvPr id="46" name="群組 45"/>
          <p:cNvGrpSpPr/>
          <p:nvPr userDrawn="1"/>
        </p:nvGrpSpPr>
        <p:grpSpPr>
          <a:xfrm>
            <a:off x="7428006" y="2025800"/>
            <a:ext cx="2226882" cy="4248000"/>
            <a:chOff x="407988" y="2025800"/>
            <a:chExt cx="2226882" cy="4248000"/>
          </a:xfrm>
        </p:grpSpPr>
        <p:grpSp>
          <p:nvGrpSpPr>
            <p:cNvPr id="47" name="群組 46"/>
            <p:cNvGrpSpPr/>
            <p:nvPr userDrawn="1"/>
          </p:nvGrpSpPr>
          <p:grpSpPr>
            <a:xfrm>
              <a:off x="407988" y="2025800"/>
              <a:ext cx="2226882" cy="4248000"/>
              <a:chOff x="407988" y="2025800"/>
              <a:chExt cx="2226882" cy="4248000"/>
            </a:xfrm>
          </p:grpSpPr>
          <p:sp>
            <p:nvSpPr>
              <p:cNvPr id="49" name="圓角矩形 48"/>
              <p:cNvSpPr/>
              <p:nvPr userDrawn="1"/>
            </p:nvSpPr>
            <p:spPr>
              <a:xfrm>
                <a:off x="407988" y="2025800"/>
                <a:ext cx="2016000" cy="4248000"/>
              </a:xfrm>
              <a:prstGeom prst="roundRect">
                <a:avLst>
                  <a:gd name="adj" fmla="val 5328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304800" dist="101600" dir="8100000" algn="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50" name="群組 49"/>
              <p:cNvGrpSpPr/>
              <p:nvPr userDrawn="1"/>
            </p:nvGrpSpPr>
            <p:grpSpPr>
              <a:xfrm>
                <a:off x="737388" y="2342810"/>
                <a:ext cx="1357200" cy="1357200"/>
                <a:chOff x="3037945" y="3994075"/>
                <a:chExt cx="1357200" cy="1357200"/>
              </a:xfrm>
            </p:grpSpPr>
            <p:sp>
              <p:nvSpPr>
                <p:cNvPr id="54" name="橢圓 53"/>
                <p:cNvSpPr/>
                <p:nvPr userDrawn="1"/>
              </p:nvSpPr>
              <p:spPr>
                <a:xfrm>
                  <a:off x="3037945" y="3994075"/>
                  <a:ext cx="1357200" cy="1357200"/>
                </a:xfrm>
                <a:prstGeom prst="ellipse">
                  <a:avLst/>
                </a:prstGeom>
                <a:noFill/>
                <a:ln>
                  <a:solidFill>
                    <a:srgbClr val="32CB5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5" name="橢圓 54"/>
                <p:cNvSpPr/>
                <p:nvPr userDrawn="1"/>
              </p:nvSpPr>
              <p:spPr>
                <a:xfrm>
                  <a:off x="3142345" y="4098475"/>
                  <a:ext cx="1148400" cy="11484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cxnSp>
            <p:nvCxnSpPr>
              <p:cNvPr id="51" name="直線接點 50"/>
              <p:cNvCxnSpPr/>
              <p:nvPr userDrawn="1"/>
            </p:nvCxnSpPr>
            <p:spPr>
              <a:xfrm>
                <a:off x="841788" y="3848100"/>
                <a:ext cx="1148400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文字方塊 51"/>
              <p:cNvSpPr txBox="1"/>
              <p:nvPr userDrawn="1"/>
            </p:nvSpPr>
            <p:spPr>
              <a:xfrm>
                <a:off x="972598" y="3854182"/>
                <a:ext cx="88678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5400" dirty="0" smtClean="0">
                    <a:solidFill>
                      <a:srgbClr val="32CB58"/>
                    </a:solidFill>
                  </a:rPr>
                  <a:t>04</a:t>
                </a:r>
                <a:endParaRPr lang="zh-TW" altLang="en-US" sz="5400" dirty="0">
                  <a:solidFill>
                    <a:srgbClr val="32CB58"/>
                  </a:solidFill>
                </a:endParaRPr>
              </a:p>
            </p:txBody>
          </p:sp>
          <p:sp>
            <p:nvSpPr>
              <p:cNvPr id="53" name="文字方塊 52"/>
              <p:cNvSpPr txBox="1"/>
              <p:nvPr userDrawn="1"/>
            </p:nvSpPr>
            <p:spPr>
              <a:xfrm>
                <a:off x="417044" y="4716805"/>
                <a:ext cx="221782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36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Future</a:t>
                </a:r>
              </a:p>
              <a:p>
                <a:r>
                  <a:rPr lang="en-US" altLang="zh-TW" sz="36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Directions</a:t>
                </a:r>
              </a:p>
            </p:txBody>
          </p:sp>
        </p:grpSp>
        <p:sp>
          <p:nvSpPr>
            <p:cNvPr id="48" name="文字方塊 47"/>
            <p:cNvSpPr txBox="1"/>
            <p:nvPr userDrawn="1"/>
          </p:nvSpPr>
          <p:spPr>
            <a:xfrm>
              <a:off x="957985" y="2504108"/>
              <a:ext cx="95410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6000" dirty="0" smtClean="0">
                  <a:solidFill>
                    <a:srgbClr val="FFFFFF"/>
                  </a:solidFill>
                  <a:sym typeface="Webdings" panose="05030102010509060703" pitchFamily="18" charset="2"/>
                </a:rPr>
                <a:t></a:t>
              </a:r>
              <a:endParaRPr lang="zh-TW" altLang="en-US" sz="6000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56" name="群組 55"/>
          <p:cNvGrpSpPr/>
          <p:nvPr userDrawn="1"/>
        </p:nvGrpSpPr>
        <p:grpSpPr>
          <a:xfrm>
            <a:off x="9654888" y="2025800"/>
            <a:ext cx="2420150" cy="4248000"/>
            <a:chOff x="294863" y="2025800"/>
            <a:chExt cx="2420150" cy="4248000"/>
          </a:xfrm>
        </p:grpSpPr>
        <p:grpSp>
          <p:nvGrpSpPr>
            <p:cNvPr id="57" name="群組 56"/>
            <p:cNvGrpSpPr/>
            <p:nvPr userDrawn="1"/>
          </p:nvGrpSpPr>
          <p:grpSpPr>
            <a:xfrm>
              <a:off x="294863" y="2025800"/>
              <a:ext cx="2420150" cy="4248000"/>
              <a:chOff x="294863" y="2025800"/>
              <a:chExt cx="2420150" cy="4248000"/>
            </a:xfrm>
          </p:grpSpPr>
          <p:sp>
            <p:nvSpPr>
              <p:cNvPr id="59" name="圓角矩形 58"/>
              <p:cNvSpPr/>
              <p:nvPr userDrawn="1"/>
            </p:nvSpPr>
            <p:spPr>
              <a:xfrm>
                <a:off x="407988" y="2025800"/>
                <a:ext cx="2016000" cy="4248000"/>
              </a:xfrm>
              <a:prstGeom prst="roundRect">
                <a:avLst>
                  <a:gd name="adj" fmla="val 5328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304800" dist="101600" dir="8100000" algn="tr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grpSp>
            <p:nvGrpSpPr>
              <p:cNvPr id="60" name="群組 59"/>
              <p:cNvGrpSpPr/>
              <p:nvPr userDrawn="1"/>
            </p:nvGrpSpPr>
            <p:grpSpPr>
              <a:xfrm>
                <a:off x="737388" y="2342810"/>
                <a:ext cx="1357200" cy="1357200"/>
                <a:chOff x="3037945" y="3994075"/>
                <a:chExt cx="1357200" cy="1357200"/>
              </a:xfrm>
            </p:grpSpPr>
            <p:sp>
              <p:nvSpPr>
                <p:cNvPr id="64" name="橢圓 63"/>
                <p:cNvSpPr/>
                <p:nvPr userDrawn="1"/>
              </p:nvSpPr>
              <p:spPr>
                <a:xfrm>
                  <a:off x="3037945" y="3994075"/>
                  <a:ext cx="1357200" cy="1357200"/>
                </a:xfrm>
                <a:prstGeom prst="ellipse">
                  <a:avLst/>
                </a:prstGeom>
                <a:noFill/>
                <a:ln>
                  <a:solidFill>
                    <a:srgbClr val="A466D8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65" name="橢圓 64"/>
                <p:cNvSpPr/>
                <p:nvPr userDrawn="1"/>
              </p:nvSpPr>
              <p:spPr>
                <a:xfrm>
                  <a:off x="3142345" y="4098475"/>
                  <a:ext cx="1148400" cy="1148400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  <p:cxnSp>
            <p:nvCxnSpPr>
              <p:cNvPr id="61" name="直線接點 60"/>
              <p:cNvCxnSpPr/>
              <p:nvPr userDrawn="1"/>
            </p:nvCxnSpPr>
            <p:spPr>
              <a:xfrm>
                <a:off x="841788" y="3848100"/>
                <a:ext cx="1148400" cy="0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文字方塊 61"/>
              <p:cNvSpPr txBox="1"/>
              <p:nvPr userDrawn="1"/>
            </p:nvSpPr>
            <p:spPr>
              <a:xfrm>
                <a:off x="972598" y="3854182"/>
                <a:ext cx="88678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5400" dirty="0" smtClean="0">
                    <a:solidFill>
                      <a:srgbClr val="A466D8"/>
                    </a:solidFill>
                  </a:rPr>
                  <a:t>05</a:t>
                </a:r>
                <a:endParaRPr lang="zh-TW" altLang="en-US" sz="5400" dirty="0">
                  <a:solidFill>
                    <a:srgbClr val="A466D8"/>
                  </a:solidFill>
                </a:endParaRPr>
              </a:p>
            </p:txBody>
          </p:sp>
          <p:sp>
            <p:nvSpPr>
              <p:cNvPr id="63" name="文字方塊 62"/>
              <p:cNvSpPr txBox="1"/>
              <p:nvPr userDrawn="1"/>
            </p:nvSpPr>
            <p:spPr>
              <a:xfrm>
                <a:off x="294863" y="4716805"/>
                <a:ext cx="2420150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4400" b="1" dirty="0" smtClean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Summary</a:t>
                </a:r>
              </a:p>
            </p:txBody>
          </p:sp>
        </p:grpSp>
        <p:sp>
          <p:nvSpPr>
            <p:cNvPr id="58" name="文字方塊 57"/>
            <p:cNvSpPr txBox="1"/>
            <p:nvPr userDrawn="1"/>
          </p:nvSpPr>
          <p:spPr>
            <a:xfrm>
              <a:off x="957985" y="2504108"/>
              <a:ext cx="95410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6000" dirty="0" smtClean="0">
                  <a:solidFill>
                    <a:srgbClr val="FFFFFF"/>
                  </a:solidFill>
                  <a:sym typeface="Webdings" panose="05030102010509060703" pitchFamily="18" charset="2"/>
                </a:rPr>
                <a:t></a:t>
              </a:r>
              <a:endParaRPr lang="zh-TW" altLang="en-US" sz="6000" dirty="0">
                <a:solidFill>
                  <a:srgbClr val="FFFFFF"/>
                </a:solidFill>
              </a:endParaRPr>
            </a:p>
          </p:txBody>
        </p:sp>
      </p:grpSp>
      <p:sp>
        <p:nvSpPr>
          <p:cNvPr id="66" name="文字方塊 65"/>
          <p:cNvSpPr txBox="1"/>
          <p:nvPr userDrawn="1"/>
        </p:nvSpPr>
        <p:spPr>
          <a:xfrm>
            <a:off x="1327031" y="-452158"/>
            <a:ext cx="9537932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600" dirty="0" smtClean="0">
                <a:solidFill>
                  <a:srgbClr val="FFFFFF"/>
                </a:solidFill>
              </a:rPr>
              <a:t>CONTENTS</a:t>
            </a:r>
            <a:endParaRPr lang="zh-TW" altLang="en-US" sz="166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316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甜甜圈 10"/>
          <p:cNvSpPr/>
          <p:nvPr userDrawn="1"/>
        </p:nvSpPr>
        <p:spPr>
          <a:xfrm>
            <a:off x="-2047875" y="-1676311"/>
            <a:ext cx="3409950" cy="3409950"/>
          </a:xfrm>
          <a:prstGeom prst="donut">
            <a:avLst>
              <a:gd name="adj" fmla="val 15772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7" name="群組 6"/>
          <p:cNvGrpSpPr/>
          <p:nvPr userDrawn="1"/>
        </p:nvGrpSpPr>
        <p:grpSpPr>
          <a:xfrm>
            <a:off x="7692000" y="-4500000"/>
            <a:ext cx="9000000" cy="9000000"/>
            <a:chOff x="3988526" y="1321526"/>
            <a:chExt cx="4214949" cy="4214949"/>
          </a:xfrm>
        </p:grpSpPr>
        <p:sp>
          <p:nvSpPr>
            <p:cNvPr id="8" name="橢圓 7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E03E0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E03E0D"/>
            </a:solidFill>
            <a:ln>
              <a:noFill/>
            </a:ln>
            <a:effectLst>
              <a:outerShdw blurRad="457200" sx="102000" sy="102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" name="文字方塊 9"/>
          <p:cNvSpPr txBox="1"/>
          <p:nvPr userDrawn="1"/>
        </p:nvSpPr>
        <p:spPr>
          <a:xfrm>
            <a:off x="407988" y="528548"/>
            <a:ext cx="3215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PART 01</a:t>
            </a:r>
            <a:endParaRPr lang="zh-TW" altLang="en-US" sz="7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" name="群組 11"/>
          <p:cNvGrpSpPr/>
          <p:nvPr userDrawn="1"/>
        </p:nvGrpSpPr>
        <p:grpSpPr>
          <a:xfrm>
            <a:off x="-2484136" y="4500000"/>
            <a:ext cx="9000000" cy="9000000"/>
            <a:chOff x="3988526" y="1321526"/>
            <a:chExt cx="4214949" cy="4214949"/>
          </a:xfrm>
        </p:grpSpPr>
        <p:sp>
          <p:nvSpPr>
            <p:cNvPr id="13" name="橢圓 12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E03E0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E03E0D"/>
            </a:solidFill>
            <a:ln>
              <a:noFill/>
            </a:ln>
            <a:effectLst>
              <a:outerShdw blurRad="457200" sx="102000" sy="102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矩形 14"/>
          <p:cNvSpPr/>
          <p:nvPr userDrawn="1"/>
        </p:nvSpPr>
        <p:spPr>
          <a:xfrm>
            <a:off x="-6044959" y="4721905"/>
            <a:ext cx="5827236" cy="8556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0" b="1" dirty="0" smtClean="0">
                <a:solidFill>
                  <a:srgbClr val="E03E0D"/>
                </a:solidFill>
              </a:rPr>
              <a:t>計畫緣起</a:t>
            </a:r>
            <a:endParaRPr lang="en-US" altLang="zh-TW" sz="11000" b="1" dirty="0" smtClean="0">
              <a:solidFill>
                <a:srgbClr val="E03E0D"/>
              </a:solidFill>
            </a:endParaRPr>
          </a:p>
          <a:p>
            <a:r>
              <a:rPr lang="zh-TW" altLang="en-US" sz="11000" b="1" dirty="0" smtClean="0">
                <a:solidFill>
                  <a:srgbClr val="F8B70C"/>
                </a:solidFill>
              </a:rPr>
              <a:t>產業概況</a:t>
            </a:r>
            <a:endParaRPr lang="en-US" altLang="zh-TW" sz="11000" b="1" dirty="0" smtClean="0">
              <a:solidFill>
                <a:srgbClr val="F8B70C"/>
              </a:solidFill>
            </a:endParaRPr>
          </a:p>
          <a:p>
            <a:r>
              <a:rPr lang="zh-TW" altLang="en-US" sz="11000" b="1" dirty="0" smtClean="0">
                <a:solidFill>
                  <a:srgbClr val="1C9FCB"/>
                </a:solidFill>
              </a:rPr>
              <a:t>問卷分析</a:t>
            </a:r>
            <a:endParaRPr lang="en-US" altLang="zh-TW" sz="11000" b="1" dirty="0" smtClean="0">
              <a:solidFill>
                <a:srgbClr val="1C9FCB"/>
              </a:solidFill>
            </a:endParaRPr>
          </a:p>
          <a:p>
            <a:r>
              <a:rPr lang="zh-TW" altLang="en-US" sz="11000" b="1" dirty="0" smtClean="0">
                <a:solidFill>
                  <a:srgbClr val="32CB58"/>
                </a:solidFill>
              </a:rPr>
              <a:t>行銷計畫</a:t>
            </a:r>
            <a:endParaRPr lang="en-US" altLang="zh-TW" sz="11000" b="1" dirty="0" smtClean="0">
              <a:solidFill>
                <a:srgbClr val="32CB58"/>
              </a:solidFill>
            </a:endParaRPr>
          </a:p>
          <a:p>
            <a:r>
              <a:rPr lang="zh-TW" altLang="en-US" sz="11000" b="1" dirty="0" smtClean="0">
                <a:solidFill>
                  <a:srgbClr val="A466D8"/>
                </a:solidFill>
              </a:rPr>
              <a:t>計畫總結</a:t>
            </a:r>
            <a:endParaRPr lang="en-US" altLang="zh-TW" sz="11000" b="1" dirty="0" smtClean="0">
              <a:solidFill>
                <a:srgbClr val="A466D8"/>
              </a:solidFill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21164" y="1671602"/>
            <a:ext cx="5052730" cy="17851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E03E0D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Rational</a:t>
            </a:r>
          </a:p>
        </p:txBody>
      </p:sp>
      <p:sp>
        <p:nvSpPr>
          <p:cNvPr id="18" name="文字方塊 17"/>
          <p:cNvSpPr txBox="1"/>
          <p:nvPr userDrawn="1"/>
        </p:nvSpPr>
        <p:spPr>
          <a:xfrm>
            <a:off x="10515717" y="6416675"/>
            <a:ext cx="931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solidFill>
                  <a:srgbClr val="E03E0D"/>
                </a:solidFill>
              </a:rPr>
              <a:t>2024/11/27</a:t>
            </a:r>
            <a:endParaRPr lang="zh-TW" altLang="en-US" sz="1200" dirty="0">
              <a:solidFill>
                <a:srgbClr val="E03E0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91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/>
      <p:bldP spid="17" grpId="0"/>
      <p:bldP spid="18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接點 16"/>
          <p:cNvCxnSpPr/>
          <p:nvPr userDrawn="1"/>
        </p:nvCxnSpPr>
        <p:spPr>
          <a:xfrm>
            <a:off x="407988" y="6416674"/>
            <a:ext cx="113760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群組 7"/>
          <p:cNvGrpSpPr/>
          <p:nvPr userDrawn="1"/>
        </p:nvGrpSpPr>
        <p:grpSpPr>
          <a:xfrm>
            <a:off x="3939150" y="-2164275"/>
            <a:ext cx="11186550" cy="11186550"/>
            <a:chOff x="3988526" y="1321526"/>
            <a:chExt cx="4214949" cy="4214949"/>
          </a:xfrm>
        </p:grpSpPr>
        <p:sp>
          <p:nvSpPr>
            <p:cNvPr id="9" name="橢圓 8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solidFill>
              <a:srgbClr val="FDD5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E03E0D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文字方塊 14"/>
          <p:cNvSpPr txBox="1"/>
          <p:nvPr userDrawn="1"/>
        </p:nvSpPr>
        <p:spPr>
          <a:xfrm>
            <a:off x="11416605" y="6416674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061B2C-6C14-4386-B8A0-FC3D00B49B88}" type="slidenum">
              <a:rPr lang="zh-TW" altLang="en-US" sz="1200" smtClean="0">
                <a:solidFill>
                  <a:srgbClr val="FFFFFF"/>
                </a:solidFill>
              </a:rPr>
              <a:t>‹#›</a:t>
            </a:fld>
            <a:endParaRPr lang="zh-TW" altLang="en-US" sz="1200" dirty="0">
              <a:solidFill>
                <a:srgbClr val="FFFFFF"/>
              </a:solidFill>
            </a:endParaRPr>
          </a:p>
        </p:txBody>
      </p:sp>
      <p:sp>
        <p:nvSpPr>
          <p:cNvPr id="18" name="圓角矩形 17"/>
          <p:cNvSpPr/>
          <p:nvPr userDrawn="1"/>
        </p:nvSpPr>
        <p:spPr>
          <a:xfrm>
            <a:off x="407987" y="1376363"/>
            <a:ext cx="11376025" cy="4897437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>
            <a:noFill/>
          </a:ln>
          <a:effectLst>
            <a:outerShdw blurRad="304800" sx="102000" sy="102000" algn="ctr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甜甜圈 18"/>
          <p:cNvSpPr/>
          <p:nvPr userDrawn="1"/>
        </p:nvSpPr>
        <p:spPr>
          <a:xfrm>
            <a:off x="-1623873" y="-1252309"/>
            <a:ext cx="2561946" cy="2561946"/>
          </a:xfrm>
          <a:prstGeom prst="donut">
            <a:avLst>
              <a:gd name="adj" fmla="val 15772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1702637" y="-3240847"/>
            <a:ext cx="2236510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000" b="1" dirty="0" smtClean="0">
                <a:solidFill>
                  <a:srgbClr val="E03E0D"/>
                </a:solidFill>
              </a:rPr>
              <a:t>計畫緣起</a:t>
            </a:r>
            <a:endParaRPr lang="en-US" altLang="zh-TW" sz="4000" b="1" dirty="0" smtClean="0">
              <a:solidFill>
                <a:srgbClr val="E03E0D"/>
              </a:solidFill>
            </a:endParaRPr>
          </a:p>
          <a:p>
            <a:r>
              <a:rPr lang="zh-TW" altLang="en-US" sz="4000" b="1" dirty="0" smtClean="0">
                <a:solidFill>
                  <a:srgbClr val="F8B70C"/>
                </a:solidFill>
              </a:rPr>
              <a:t>產業概況</a:t>
            </a:r>
            <a:endParaRPr lang="en-US" altLang="zh-TW" sz="4000" b="1" dirty="0" smtClean="0">
              <a:solidFill>
                <a:srgbClr val="F8B70C"/>
              </a:solidFill>
            </a:endParaRPr>
          </a:p>
          <a:p>
            <a:r>
              <a:rPr lang="zh-TW" altLang="en-US" sz="4000" b="1" dirty="0" smtClean="0">
                <a:solidFill>
                  <a:srgbClr val="1C9FCB"/>
                </a:solidFill>
              </a:rPr>
              <a:t>問卷分析</a:t>
            </a:r>
            <a:endParaRPr lang="en-US" altLang="zh-TW" sz="4000" b="1" dirty="0" smtClean="0">
              <a:solidFill>
                <a:srgbClr val="1C9FCB"/>
              </a:solidFill>
            </a:endParaRPr>
          </a:p>
          <a:p>
            <a:r>
              <a:rPr lang="zh-TW" altLang="en-US" sz="4000" b="1" dirty="0" smtClean="0">
                <a:solidFill>
                  <a:srgbClr val="32CB58"/>
                </a:solidFill>
              </a:rPr>
              <a:t>行銷計畫</a:t>
            </a:r>
            <a:endParaRPr lang="en-US" altLang="zh-TW" sz="4000" b="1" dirty="0" smtClean="0">
              <a:solidFill>
                <a:srgbClr val="32CB58"/>
              </a:solidFill>
            </a:endParaRPr>
          </a:p>
          <a:p>
            <a:r>
              <a:rPr lang="zh-TW" altLang="en-US" sz="4000" b="1" dirty="0" smtClean="0">
                <a:solidFill>
                  <a:srgbClr val="A466D8"/>
                </a:solidFill>
              </a:rPr>
              <a:t>計畫總結</a:t>
            </a:r>
            <a:endParaRPr lang="en-US" altLang="zh-TW" sz="4000" b="1" dirty="0" smtClean="0">
              <a:solidFill>
                <a:srgbClr val="A466D8"/>
              </a:solidFill>
            </a:endParaRPr>
          </a:p>
        </p:txBody>
      </p:sp>
      <p:grpSp>
        <p:nvGrpSpPr>
          <p:cNvPr id="23" name="群組 22"/>
          <p:cNvGrpSpPr/>
          <p:nvPr userDrawn="1"/>
        </p:nvGrpSpPr>
        <p:grpSpPr>
          <a:xfrm>
            <a:off x="408143" y="0"/>
            <a:ext cx="2939854" cy="1200329"/>
            <a:chOff x="408143" y="0"/>
            <a:chExt cx="2939854" cy="1200329"/>
          </a:xfrm>
        </p:grpSpPr>
        <p:sp>
          <p:nvSpPr>
            <p:cNvPr id="20" name="文字方塊 19"/>
            <p:cNvSpPr txBox="1"/>
            <p:nvPr userDrawn="1"/>
          </p:nvSpPr>
          <p:spPr>
            <a:xfrm>
              <a:off x="408143" y="0"/>
              <a:ext cx="112082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7200" b="1" dirty="0" smtClean="0">
                  <a:solidFill>
                    <a:srgbClr val="E03E0D"/>
                  </a:solidFill>
                </a:rPr>
                <a:t>01</a:t>
              </a:r>
              <a:endParaRPr lang="zh-TW" altLang="en-US" sz="7200" b="1" dirty="0">
                <a:solidFill>
                  <a:srgbClr val="E03E0D"/>
                </a:solidFill>
              </a:endParaRPr>
            </a:p>
          </p:txBody>
        </p:sp>
        <p:sp>
          <p:nvSpPr>
            <p:cNvPr id="22" name="文字方塊 21"/>
            <p:cNvSpPr txBox="1"/>
            <p:nvPr userDrawn="1"/>
          </p:nvSpPr>
          <p:spPr>
            <a:xfrm>
              <a:off x="1390345" y="347936"/>
              <a:ext cx="195765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40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E03E0D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Rational</a:t>
              </a:r>
            </a:p>
          </p:txBody>
        </p:sp>
      </p:grpSp>
      <p:sp>
        <p:nvSpPr>
          <p:cNvPr id="24" name="文字方塊 23"/>
          <p:cNvSpPr txBox="1"/>
          <p:nvPr userDrawn="1"/>
        </p:nvSpPr>
        <p:spPr>
          <a:xfrm>
            <a:off x="1434736" y="203429"/>
            <a:ext cx="8130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PART ONE</a:t>
            </a:r>
            <a:endParaRPr lang="zh-TW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文字方塊 24"/>
          <p:cNvSpPr txBox="1"/>
          <p:nvPr userDrawn="1"/>
        </p:nvSpPr>
        <p:spPr>
          <a:xfrm>
            <a:off x="407988" y="6416675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2024/11/27</a:t>
            </a:r>
            <a:r>
              <a:rPr lang="zh-TW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計算機概論期末英文報告</a:t>
            </a:r>
          </a:p>
        </p:txBody>
      </p:sp>
    </p:spTree>
    <p:extLst>
      <p:ext uri="{BB962C8B-B14F-4D97-AF65-F5344CB8AC3E}">
        <p14:creationId xmlns:p14="http://schemas.microsoft.com/office/powerpoint/2010/main" val="398313059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甜甜圈 10"/>
          <p:cNvSpPr/>
          <p:nvPr userDrawn="1"/>
        </p:nvSpPr>
        <p:spPr>
          <a:xfrm>
            <a:off x="-2047875" y="-1676311"/>
            <a:ext cx="3409950" cy="3409950"/>
          </a:xfrm>
          <a:prstGeom prst="donut">
            <a:avLst>
              <a:gd name="adj" fmla="val 15772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7" name="群組 6"/>
          <p:cNvGrpSpPr/>
          <p:nvPr userDrawn="1"/>
        </p:nvGrpSpPr>
        <p:grpSpPr>
          <a:xfrm>
            <a:off x="7692000" y="-4500000"/>
            <a:ext cx="9000000" cy="9000000"/>
            <a:chOff x="3988526" y="1321526"/>
            <a:chExt cx="4214949" cy="4214949"/>
          </a:xfrm>
        </p:grpSpPr>
        <p:sp>
          <p:nvSpPr>
            <p:cNvPr id="8" name="橢圓 7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F8B7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F8B70C"/>
            </a:solidFill>
            <a:ln>
              <a:noFill/>
            </a:ln>
            <a:effectLst>
              <a:outerShdw blurRad="457200" sx="102000" sy="102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" name="文字方塊 9"/>
          <p:cNvSpPr txBox="1"/>
          <p:nvPr userDrawn="1"/>
        </p:nvSpPr>
        <p:spPr>
          <a:xfrm>
            <a:off x="407988" y="528548"/>
            <a:ext cx="3215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PART 02</a:t>
            </a:r>
            <a:endParaRPr lang="zh-TW" altLang="en-US" sz="7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" name="群組 11"/>
          <p:cNvGrpSpPr/>
          <p:nvPr userDrawn="1"/>
        </p:nvGrpSpPr>
        <p:grpSpPr>
          <a:xfrm>
            <a:off x="-2484136" y="4500000"/>
            <a:ext cx="9000000" cy="9000000"/>
            <a:chOff x="3988526" y="1321526"/>
            <a:chExt cx="4214949" cy="4214949"/>
          </a:xfrm>
        </p:grpSpPr>
        <p:sp>
          <p:nvSpPr>
            <p:cNvPr id="13" name="橢圓 12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F8B70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F8B70C"/>
            </a:solidFill>
            <a:ln>
              <a:noFill/>
            </a:ln>
            <a:effectLst>
              <a:outerShdw blurRad="457200" sx="102000" sy="102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矩形 14"/>
          <p:cNvSpPr/>
          <p:nvPr userDrawn="1"/>
        </p:nvSpPr>
        <p:spPr>
          <a:xfrm>
            <a:off x="-6044959" y="4721905"/>
            <a:ext cx="5827236" cy="8556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0" b="1" dirty="0" smtClean="0">
                <a:solidFill>
                  <a:srgbClr val="E03E0D"/>
                </a:solidFill>
              </a:rPr>
              <a:t>計畫緣起</a:t>
            </a:r>
            <a:endParaRPr lang="en-US" altLang="zh-TW" sz="11000" b="1" dirty="0" smtClean="0">
              <a:solidFill>
                <a:srgbClr val="E03E0D"/>
              </a:solidFill>
            </a:endParaRPr>
          </a:p>
          <a:p>
            <a:r>
              <a:rPr lang="zh-TW" altLang="en-US" sz="11000" b="1" dirty="0" smtClean="0">
                <a:solidFill>
                  <a:srgbClr val="F8B70C"/>
                </a:solidFill>
              </a:rPr>
              <a:t>產業概況</a:t>
            </a:r>
            <a:endParaRPr lang="en-US" altLang="zh-TW" sz="11000" b="1" dirty="0" smtClean="0">
              <a:solidFill>
                <a:srgbClr val="F8B70C"/>
              </a:solidFill>
            </a:endParaRPr>
          </a:p>
          <a:p>
            <a:r>
              <a:rPr lang="zh-TW" altLang="en-US" sz="11000" b="1" dirty="0" smtClean="0">
                <a:solidFill>
                  <a:srgbClr val="1C9FCB"/>
                </a:solidFill>
              </a:rPr>
              <a:t>問卷分析</a:t>
            </a:r>
            <a:endParaRPr lang="en-US" altLang="zh-TW" sz="11000" b="1" dirty="0" smtClean="0">
              <a:solidFill>
                <a:srgbClr val="1C9FCB"/>
              </a:solidFill>
            </a:endParaRPr>
          </a:p>
          <a:p>
            <a:r>
              <a:rPr lang="zh-TW" altLang="en-US" sz="11000" b="1" dirty="0" smtClean="0">
                <a:solidFill>
                  <a:srgbClr val="32CB58"/>
                </a:solidFill>
              </a:rPr>
              <a:t>行銷計畫</a:t>
            </a:r>
            <a:endParaRPr lang="en-US" altLang="zh-TW" sz="11000" b="1" dirty="0" smtClean="0">
              <a:solidFill>
                <a:srgbClr val="32CB58"/>
              </a:solidFill>
            </a:endParaRPr>
          </a:p>
          <a:p>
            <a:r>
              <a:rPr lang="zh-TW" altLang="en-US" sz="11000" b="1" dirty="0" smtClean="0">
                <a:solidFill>
                  <a:srgbClr val="A466D8"/>
                </a:solidFill>
              </a:rPr>
              <a:t>計畫總結</a:t>
            </a:r>
            <a:endParaRPr lang="en-US" altLang="zh-TW" sz="11000" b="1" dirty="0" smtClean="0">
              <a:solidFill>
                <a:srgbClr val="A466D8"/>
              </a:solidFill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21164" y="1671602"/>
            <a:ext cx="8081508" cy="16312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0000" b="1" dirty="0" smtClean="0">
                <a:solidFill>
                  <a:srgbClr val="F8B70C"/>
                </a:solidFill>
              </a:rPr>
              <a:t>Industry</a:t>
            </a:r>
            <a:r>
              <a:rPr lang="zh-TW" altLang="en-US" sz="10000" b="1" baseline="0" dirty="0" smtClean="0">
                <a:solidFill>
                  <a:srgbClr val="F8B70C"/>
                </a:solidFill>
              </a:rPr>
              <a:t> </a:t>
            </a:r>
            <a:r>
              <a:rPr lang="en-US" altLang="zh-TW" sz="10000" b="1" dirty="0" smtClean="0">
                <a:solidFill>
                  <a:srgbClr val="F8B70C"/>
                </a:solidFill>
              </a:rPr>
              <a:t>status</a:t>
            </a:r>
          </a:p>
        </p:txBody>
      </p:sp>
      <p:sp>
        <p:nvSpPr>
          <p:cNvPr id="18" name="文字方塊 17"/>
          <p:cNvSpPr txBox="1"/>
          <p:nvPr userDrawn="1"/>
        </p:nvSpPr>
        <p:spPr>
          <a:xfrm>
            <a:off x="10515717" y="6416675"/>
            <a:ext cx="931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solidFill>
                  <a:srgbClr val="F8B70C"/>
                </a:solidFill>
              </a:rPr>
              <a:t>2024/11/27</a:t>
            </a:r>
            <a:endParaRPr lang="zh-TW" altLang="en-US" sz="1200" dirty="0">
              <a:solidFill>
                <a:srgbClr val="F8B70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74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/>
      <p:bldP spid="17" grpId="0"/>
      <p:bldP spid="18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接點 16"/>
          <p:cNvCxnSpPr/>
          <p:nvPr userDrawn="1"/>
        </p:nvCxnSpPr>
        <p:spPr>
          <a:xfrm>
            <a:off x="407988" y="6416674"/>
            <a:ext cx="11376025" cy="0"/>
          </a:xfrm>
          <a:prstGeom prst="line">
            <a:avLst/>
          </a:prstGeom>
          <a:ln>
            <a:solidFill>
              <a:srgbClr val="F8B7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群組 7"/>
          <p:cNvGrpSpPr/>
          <p:nvPr userDrawn="1"/>
        </p:nvGrpSpPr>
        <p:grpSpPr>
          <a:xfrm>
            <a:off x="3939150" y="-2164275"/>
            <a:ext cx="11186550" cy="11186550"/>
            <a:chOff x="3988526" y="1321526"/>
            <a:chExt cx="4214949" cy="4214949"/>
          </a:xfrm>
        </p:grpSpPr>
        <p:sp>
          <p:nvSpPr>
            <p:cNvPr id="9" name="橢圓 8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solidFill>
              <a:srgbClr val="FDF0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F8B70C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rgbClr val="F8B70C"/>
                </a:solidFill>
              </a:endParaRPr>
            </a:p>
          </p:txBody>
        </p:sp>
      </p:grpSp>
      <p:sp>
        <p:nvSpPr>
          <p:cNvPr id="15" name="文字方塊 14"/>
          <p:cNvSpPr txBox="1"/>
          <p:nvPr userDrawn="1"/>
        </p:nvSpPr>
        <p:spPr>
          <a:xfrm>
            <a:off x="11416605" y="6416674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061B2C-6C14-4386-B8A0-FC3D00B49B88}" type="slidenum">
              <a:rPr lang="zh-TW" altLang="en-US" sz="1200" smtClean="0">
                <a:solidFill>
                  <a:srgbClr val="FFFFFF"/>
                </a:solidFill>
              </a:rPr>
              <a:t>‹#›</a:t>
            </a:fld>
            <a:endParaRPr lang="zh-TW" altLang="en-US" sz="1200" dirty="0">
              <a:solidFill>
                <a:srgbClr val="FFFFFF"/>
              </a:solidFill>
            </a:endParaRPr>
          </a:p>
        </p:txBody>
      </p:sp>
      <p:sp>
        <p:nvSpPr>
          <p:cNvPr id="18" name="圓角矩形 17"/>
          <p:cNvSpPr/>
          <p:nvPr userDrawn="1"/>
        </p:nvSpPr>
        <p:spPr>
          <a:xfrm>
            <a:off x="407987" y="1376363"/>
            <a:ext cx="11376025" cy="4897437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>
            <a:noFill/>
          </a:ln>
          <a:effectLst>
            <a:outerShdw blurRad="304800" sx="102000" sy="102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甜甜圈 18"/>
          <p:cNvSpPr/>
          <p:nvPr userDrawn="1"/>
        </p:nvSpPr>
        <p:spPr>
          <a:xfrm>
            <a:off x="-1623873" y="-1252309"/>
            <a:ext cx="2561946" cy="2561946"/>
          </a:xfrm>
          <a:prstGeom prst="donut">
            <a:avLst>
              <a:gd name="adj" fmla="val 15772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1702637" y="-3240847"/>
            <a:ext cx="2236510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000" b="1" dirty="0" smtClean="0">
                <a:solidFill>
                  <a:srgbClr val="E03E0D"/>
                </a:solidFill>
              </a:rPr>
              <a:t>計畫緣起</a:t>
            </a:r>
            <a:endParaRPr lang="en-US" altLang="zh-TW" sz="4000" b="1" dirty="0" smtClean="0">
              <a:solidFill>
                <a:srgbClr val="E03E0D"/>
              </a:solidFill>
            </a:endParaRPr>
          </a:p>
          <a:p>
            <a:r>
              <a:rPr lang="zh-TW" altLang="en-US" sz="4000" b="1" dirty="0" smtClean="0">
                <a:solidFill>
                  <a:srgbClr val="F8B70C"/>
                </a:solidFill>
              </a:rPr>
              <a:t>產業概況</a:t>
            </a:r>
            <a:endParaRPr lang="en-US" altLang="zh-TW" sz="4000" b="1" dirty="0" smtClean="0">
              <a:solidFill>
                <a:srgbClr val="F8B70C"/>
              </a:solidFill>
            </a:endParaRPr>
          </a:p>
          <a:p>
            <a:r>
              <a:rPr lang="zh-TW" altLang="en-US" sz="4000" b="1" dirty="0" smtClean="0">
                <a:solidFill>
                  <a:srgbClr val="1C9FCB"/>
                </a:solidFill>
              </a:rPr>
              <a:t>問卷分析</a:t>
            </a:r>
            <a:endParaRPr lang="en-US" altLang="zh-TW" sz="4000" b="1" dirty="0" smtClean="0">
              <a:solidFill>
                <a:srgbClr val="1C9FCB"/>
              </a:solidFill>
            </a:endParaRPr>
          </a:p>
          <a:p>
            <a:r>
              <a:rPr lang="zh-TW" altLang="en-US" sz="4000" b="1" dirty="0" smtClean="0">
                <a:solidFill>
                  <a:srgbClr val="32CB58"/>
                </a:solidFill>
              </a:rPr>
              <a:t>行銷計畫</a:t>
            </a:r>
            <a:endParaRPr lang="en-US" altLang="zh-TW" sz="4000" b="1" dirty="0" smtClean="0">
              <a:solidFill>
                <a:srgbClr val="32CB58"/>
              </a:solidFill>
            </a:endParaRPr>
          </a:p>
          <a:p>
            <a:r>
              <a:rPr lang="zh-TW" altLang="en-US" sz="4000" b="1" dirty="0" smtClean="0">
                <a:solidFill>
                  <a:srgbClr val="A466D8"/>
                </a:solidFill>
              </a:rPr>
              <a:t>計畫總結</a:t>
            </a:r>
            <a:endParaRPr lang="en-US" altLang="zh-TW" sz="4000" b="1" dirty="0" smtClean="0">
              <a:solidFill>
                <a:srgbClr val="A466D8"/>
              </a:solidFill>
            </a:endParaRPr>
          </a:p>
        </p:txBody>
      </p:sp>
      <p:grpSp>
        <p:nvGrpSpPr>
          <p:cNvPr id="23" name="群組 22"/>
          <p:cNvGrpSpPr/>
          <p:nvPr userDrawn="1"/>
        </p:nvGrpSpPr>
        <p:grpSpPr>
          <a:xfrm>
            <a:off x="408143" y="0"/>
            <a:ext cx="4331389" cy="1200329"/>
            <a:chOff x="408143" y="0"/>
            <a:chExt cx="4331389" cy="1200329"/>
          </a:xfrm>
        </p:grpSpPr>
        <p:sp>
          <p:nvSpPr>
            <p:cNvPr id="20" name="文字方塊 19"/>
            <p:cNvSpPr txBox="1"/>
            <p:nvPr userDrawn="1"/>
          </p:nvSpPr>
          <p:spPr>
            <a:xfrm>
              <a:off x="408143" y="0"/>
              <a:ext cx="112082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7200" b="1" dirty="0" smtClean="0">
                  <a:solidFill>
                    <a:srgbClr val="F8B70C"/>
                  </a:solidFill>
                </a:rPr>
                <a:t>02</a:t>
              </a:r>
              <a:endParaRPr lang="zh-TW" altLang="en-US" sz="7200" b="1" dirty="0">
                <a:solidFill>
                  <a:srgbClr val="F8B70C"/>
                </a:solidFill>
              </a:endParaRPr>
            </a:p>
          </p:txBody>
        </p:sp>
        <p:sp>
          <p:nvSpPr>
            <p:cNvPr id="22" name="文字方塊 21"/>
            <p:cNvSpPr txBox="1"/>
            <p:nvPr userDrawn="1"/>
          </p:nvSpPr>
          <p:spPr>
            <a:xfrm>
              <a:off x="1390345" y="347936"/>
              <a:ext cx="334918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4000" b="1" dirty="0" smtClean="0">
                  <a:solidFill>
                    <a:srgbClr val="F8B70C"/>
                  </a:solidFill>
                </a:rPr>
                <a:t>Industry</a:t>
              </a:r>
              <a:r>
                <a:rPr lang="en-US" altLang="zh-TW" sz="4000" b="1" baseline="0" dirty="0" smtClean="0">
                  <a:solidFill>
                    <a:srgbClr val="F8B70C"/>
                  </a:solidFill>
                </a:rPr>
                <a:t> status</a:t>
              </a:r>
              <a:endParaRPr lang="en-US" altLang="zh-TW" sz="4000" b="1" dirty="0" smtClean="0">
                <a:solidFill>
                  <a:srgbClr val="F8B70C"/>
                </a:solidFill>
              </a:endParaRPr>
            </a:p>
          </p:txBody>
        </p:sp>
      </p:grpSp>
      <p:sp>
        <p:nvSpPr>
          <p:cNvPr id="24" name="文字方塊 23"/>
          <p:cNvSpPr txBox="1"/>
          <p:nvPr userDrawn="1"/>
        </p:nvSpPr>
        <p:spPr>
          <a:xfrm>
            <a:off x="1434736" y="203429"/>
            <a:ext cx="848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PART TWO</a:t>
            </a:r>
            <a:endParaRPr lang="zh-TW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文字方塊 15"/>
          <p:cNvSpPr txBox="1"/>
          <p:nvPr userDrawn="1"/>
        </p:nvSpPr>
        <p:spPr>
          <a:xfrm>
            <a:off x="407988" y="6416675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2024/11/27</a:t>
            </a:r>
            <a:r>
              <a:rPr lang="zh-TW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計算機概論期末英文報告</a:t>
            </a:r>
          </a:p>
        </p:txBody>
      </p:sp>
    </p:spTree>
    <p:extLst>
      <p:ext uri="{BB962C8B-B14F-4D97-AF65-F5344CB8AC3E}">
        <p14:creationId xmlns:p14="http://schemas.microsoft.com/office/powerpoint/2010/main" val="40654930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甜甜圈 10"/>
          <p:cNvSpPr/>
          <p:nvPr userDrawn="1"/>
        </p:nvSpPr>
        <p:spPr>
          <a:xfrm>
            <a:off x="-2047875" y="-1676311"/>
            <a:ext cx="3409950" cy="3409950"/>
          </a:xfrm>
          <a:prstGeom prst="donut">
            <a:avLst>
              <a:gd name="adj" fmla="val 15772"/>
            </a:avLst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7" name="群組 6"/>
          <p:cNvGrpSpPr/>
          <p:nvPr userDrawn="1"/>
        </p:nvGrpSpPr>
        <p:grpSpPr>
          <a:xfrm>
            <a:off x="7692000" y="-4500000"/>
            <a:ext cx="9000000" cy="9000000"/>
            <a:chOff x="3988526" y="1321526"/>
            <a:chExt cx="4214949" cy="4214949"/>
          </a:xfrm>
        </p:grpSpPr>
        <p:sp>
          <p:nvSpPr>
            <p:cNvPr id="8" name="橢圓 7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1C9FC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1C9FCB"/>
            </a:solidFill>
            <a:ln>
              <a:noFill/>
            </a:ln>
            <a:effectLst>
              <a:outerShdw blurRad="457200" sx="102000" sy="102000" algn="ctr" rotWithShape="0">
                <a:schemeClr val="accent4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" name="文字方塊 9"/>
          <p:cNvSpPr txBox="1"/>
          <p:nvPr userDrawn="1"/>
        </p:nvSpPr>
        <p:spPr>
          <a:xfrm>
            <a:off x="407988" y="528548"/>
            <a:ext cx="3215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PART 03</a:t>
            </a:r>
            <a:endParaRPr lang="zh-TW" altLang="en-US" sz="7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" name="群組 11"/>
          <p:cNvGrpSpPr/>
          <p:nvPr userDrawn="1"/>
        </p:nvGrpSpPr>
        <p:grpSpPr>
          <a:xfrm>
            <a:off x="-2484136" y="4500000"/>
            <a:ext cx="9000000" cy="9000000"/>
            <a:chOff x="3988526" y="1321526"/>
            <a:chExt cx="4214949" cy="4214949"/>
          </a:xfrm>
        </p:grpSpPr>
        <p:sp>
          <p:nvSpPr>
            <p:cNvPr id="13" name="橢圓 12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1C9FC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1C9FCB"/>
            </a:solidFill>
            <a:ln>
              <a:noFill/>
            </a:ln>
            <a:effectLst>
              <a:outerShdw blurRad="457200" sx="102000" sy="102000" algn="ctr" rotWithShape="0">
                <a:schemeClr val="accent4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矩形 14"/>
          <p:cNvSpPr/>
          <p:nvPr userDrawn="1"/>
        </p:nvSpPr>
        <p:spPr>
          <a:xfrm>
            <a:off x="-6044959" y="4721905"/>
            <a:ext cx="5827236" cy="8556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0" b="1" dirty="0" smtClean="0">
                <a:solidFill>
                  <a:srgbClr val="E03E0D"/>
                </a:solidFill>
              </a:rPr>
              <a:t>計畫緣起</a:t>
            </a:r>
            <a:endParaRPr lang="en-US" altLang="zh-TW" sz="11000" b="1" dirty="0" smtClean="0">
              <a:solidFill>
                <a:srgbClr val="E03E0D"/>
              </a:solidFill>
            </a:endParaRPr>
          </a:p>
          <a:p>
            <a:r>
              <a:rPr lang="zh-TW" altLang="en-US" sz="11000" b="1" dirty="0" smtClean="0">
                <a:solidFill>
                  <a:srgbClr val="F8B70C"/>
                </a:solidFill>
              </a:rPr>
              <a:t>產業概況</a:t>
            </a:r>
            <a:endParaRPr lang="en-US" altLang="zh-TW" sz="11000" b="1" dirty="0" smtClean="0">
              <a:solidFill>
                <a:srgbClr val="F8B70C"/>
              </a:solidFill>
            </a:endParaRPr>
          </a:p>
          <a:p>
            <a:r>
              <a:rPr lang="zh-TW" altLang="en-US" sz="11000" b="1" dirty="0" smtClean="0">
                <a:solidFill>
                  <a:srgbClr val="1C9FCB"/>
                </a:solidFill>
              </a:rPr>
              <a:t>問卷分析</a:t>
            </a:r>
            <a:endParaRPr lang="en-US" altLang="zh-TW" sz="11000" b="1" dirty="0" smtClean="0">
              <a:solidFill>
                <a:srgbClr val="1C9FCB"/>
              </a:solidFill>
            </a:endParaRPr>
          </a:p>
          <a:p>
            <a:r>
              <a:rPr lang="zh-TW" altLang="en-US" sz="11000" b="1" dirty="0" smtClean="0">
                <a:solidFill>
                  <a:srgbClr val="32CB58"/>
                </a:solidFill>
              </a:rPr>
              <a:t>行銷計畫</a:t>
            </a:r>
            <a:endParaRPr lang="en-US" altLang="zh-TW" sz="11000" b="1" dirty="0" smtClean="0">
              <a:solidFill>
                <a:srgbClr val="32CB58"/>
              </a:solidFill>
            </a:endParaRPr>
          </a:p>
          <a:p>
            <a:r>
              <a:rPr lang="zh-TW" altLang="en-US" sz="11000" b="1" dirty="0" smtClean="0">
                <a:solidFill>
                  <a:srgbClr val="A466D8"/>
                </a:solidFill>
              </a:rPr>
              <a:t>計畫總結</a:t>
            </a:r>
            <a:endParaRPr lang="en-US" altLang="zh-TW" sz="11000" b="1" dirty="0" smtClean="0">
              <a:solidFill>
                <a:srgbClr val="A466D8"/>
              </a:solidFill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21164" y="1671602"/>
            <a:ext cx="5021311" cy="17851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1000" b="1" dirty="0" smtClean="0">
                <a:solidFill>
                  <a:srgbClr val="1C9FCB"/>
                </a:solidFill>
              </a:rPr>
              <a:t>Formula</a:t>
            </a:r>
          </a:p>
        </p:txBody>
      </p:sp>
      <p:sp>
        <p:nvSpPr>
          <p:cNvPr id="18" name="文字方塊 17"/>
          <p:cNvSpPr txBox="1"/>
          <p:nvPr userDrawn="1"/>
        </p:nvSpPr>
        <p:spPr>
          <a:xfrm>
            <a:off x="10515717" y="6416675"/>
            <a:ext cx="931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solidFill>
                  <a:srgbClr val="1C9FCB"/>
                </a:solidFill>
              </a:rPr>
              <a:t>2024/11/27</a:t>
            </a:r>
            <a:endParaRPr lang="zh-TW" altLang="en-US" sz="1200" dirty="0">
              <a:solidFill>
                <a:srgbClr val="1C9F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8574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/>
      <p:bldP spid="17" grpId="0"/>
      <p:bldP spid="18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接點 16"/>
          <p:cNvCxnSpPr/>
          <p:nvPr userDrawn="1"/>
        </p:nvCxnSpPr>
        <p:spPr>
          <a:xfrm>
            <a:off x="407988" y="6416674"/>
            <a:ext cx="11376025" cy="0"/>
          </a:xfrm>
          <a:prstGeom prst="line">
            <a:avLst/>
          </a:prstGeom>
          <a:ln>
            <a:solidFill>
              <a:srgbClr val="149CC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群組 7"/>
          <p:cNvGrpSpPr/>
          <p:nvPr userDrawn="1"/>
        </p:nvGrpSpPr>
        <p:grpSpPr>
          <a:xfrm>
            <a:off x="3939150" y="-2164275"/>
            <a:ext cx="11186550" cy="11186550"/>
            <a:chOff x="3988526" y="1321526"/>
            <a:chExt cx="4214949" cy="4214949"/>
          </a:xfrm>
        </p:grpSpPr>
        <p:sp>
          <p:nvSpPr>
            <p:cNvPr id="9" name="橢圓 8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solidFill>
              <a:srgbClr val="CDED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149CCA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文字方塊 14"/>
          <p:cNvSpPr txBox="1"/>
          <p:nvPr userDrawn="1"/>
        </p:nvSpPr>
        <p:spPr>
          <a:xfrm>
            <a:off x="11416605" y="6416674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061B2C-6C14-4386-B8A0-FC3D00B49B88}" type="slidenum">
              <a:rPr lang="zh-TW" altLang="en-US" sz="1200" smtClean="0">
                <a:solidFill>
                  <a:srgbClr val="FFFFFF"/>
                </a:solidFill>
              </a:rPr>
              <a:t>‹#›</a:t>
            </a:fld>
            <a:endParaRPr lang="zh-TW" altLang="en-US" sz="1200" dirty="0">
              <a:solidFill>
                <a:srgbClr val="FFFFFF"/>
              </a:solidFill>
            </a:endParaRPr>
          </a:p>
        </p:txBody>
      </p:sp>
      <p:sp>
        <p:nvSpPr>
          <p:cNvPr id="18" name="圓角矩形 17"/>
          <p:cNvSpPr/>
          <p:nvPr userDrawn="1"/>
        </p:nvSpPr>
        <p:spPr>
          <a:xfrm>
            <a:off x="407987" y="1376363"/>
            <a:ext cx="11376025" cy="4897437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>
            <a:noFill/>
          </a:ln>
          <a:effectLst>
            <a:outerShdw blurRad="304800" sx="102000" sy="102000" algn="ctr" rotWithShape="0">
              <a:schemeClr val="accent4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甜甜圈 18"/>
          <p:cNvSpPr/>
          <p:nvPr userDrawn="1"/>
        </p:nvSpPr>
        <p:spPr>
          <a:xfrm>
            <a:off x="-1623873" y="-1252309"/>
            <a:ext cx="2561946" cy="2561946"/>
          </a:xfrm>
          <a:prstGeom prst="donut">
            <a:avLst>
              <a:gd name="adj" fmla="val 15772"/>
            </a:avLst>
          </a:prstGeom>
          <a:solidFill>
            <a:schemeClr val="accent4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1702637" y="-3240847"/>
            <a:ext cx="2236510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000" b="1" dirty="0" smtClean="0">
                <a:solidFill>
                  <a:srgbClr val="E03E0D"/>
                </a:solidFill>
              </a:rPr>
              <a:t>計畫緣起</a:t>
            </a:r>
            <a:endParaRPr lang="en-US" altLang="zh-TW" sz="4000" b="1" dirty="0" smtClean="0">
              <a:solidFill>
                <a:srgbClr val="E03E0D"/>
              </a:solidFill>
            </a:endParaRPr>
          </a:p>
          <a:p>
            <a:r>
              <a:rPr lang="zh-TW" altLang="en-US" sz="4000" b="1" dirty="0" smtClean="0">
                <a:solidFill>
                  <a:srgbClr val="F8B70C"/>
                </a:solidFill>
              </a:rPr>
              <a:t>產業概況</a:t>
            </a:r>
            <a:endParaRPr lang="en-US" altLang="zh-TW" sz="4000" b="1" dirty="0" smtClean="0">
              <a:solidFill>
                <a:srgbClr val="F8B70C"/>
              </a:solidFill>
            </a:endParaRPr>
          </a:p>
          <a:p>
            <a:r>
              <a:rPr lang="zh-TW" altLang="en-US" sz="4000" b="1" dirty="0" smtClean="0">
                <a:solidFill>
                  <a:srgbClr val="1C9FCB"/>
                </a:solidFill>
              </a:rPr>
              <a:t>問卷分析</a:t>
            </a:r>
            <a:endParaRPr lang="en-US" altLang="zh-TW" sz="4000" b="1" dirty="0" smtClean="0">
              <a:solidFill>
                <a:srgbClr val="1C9FCB"/>
              </a:solidFill>
            </a:endParaRPr>
          </a:p>
          <a:p>
            <a:r>
              <a:rPr lang="zh-TW" altLang="en-US" sz="4000" b="1" dirty="0" smtClean="0">
                <a:solidFill>
                  <a:srgbClr val="32CB58"/>
                </a:solidFill>
              </a:rPr>
              <a:t>行銷計畫</a:t>
            </a:r>
            <a:endParaRPr lang="en-US" altLang="zh-TW" sz="4000" b="1" dirty="0" smtClean="0">
              <a:solidFill>
                <a:srgbClr val="32CB58"/>
              </a:solidFill>
            </a:endParaRPr>
          </a:p>
          <a:p>
            <a:r>
              <a:rPr lang="zh-TW" altLang="en-US" sz="4000" b="1" dirty="0" smtClean="0">
                <a:solidFill>
                  <a:srgbClr val="A466D8"/>
                </a:solidFill>
              </a:rPr>
              <a:t>計畫總結</a:t>
            </a:r>
            <a:endParaRPr lang="en-US" altLang="zh-TW" sz="4000" b="1" dirty="0" smtClean="0">
              <a:solidFill>
                <a:srgbClr val="A466D8"/>
              </a:solidFill>
            </a:endParaRPr>
          </a:p>
        </p:txBody>
      </p:sp>
      <p:grpSp>
        <p:nvGrpSpPr>
          <p:cNvPr id="23" name="群組 22"/>
          <p:cNvGrpSpPr/>
          <p:nvPr userDrawn="1"/>
        </p:nvGrpSpPr>
        <p:grpSpPr>
          <a:xfrm>
            <a:off x="408143" y="0"/>
            <a:ext cx="2927093" cy="1200329"/>
            <a:chOff x="408143" y="0"/>
            <a:chExt cx="2927093" cy="1200329"/>
          </a:xfrm>
        </p:grpSpPr>
        <p:sp>
          <p:nvSpPr>
            <p:cNvPr id="20" name="文字方塊 19"/>
            <p:cNvSpPr txBox="1"/>
            <p:nvPr userDrawn="1"/>
          </p:nvSpPr>
          <p:spPr>
            <a:xfrm>
              <a:off x="408143" y="0"/>
              <a:ext cx="112082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7200" b="1" dirty="0" smtClean="0">
                  <a:solidFill>
                    <a:srgbClr val="149CCA"/>
                  </a:solidFill>
                </a:rPr>
                <a:t>03</a:t>
              </a:r>
              <a:endParaRPr lang="zh-TW" altLang="en-US" sz="7200" b="1" dirty="0">
                <a:solidFill>
                  <a:srgbClr val="149CCA"/>
                </a:solidFill>
              </a:endParaRPr>
            </a:p>
          </p:txBody>
        </p:sp>
        <p:sp>
          <p:nvSpPr>
            <p:cNvPr id="22" name="文字方塊 21"/>
            <p:cNvSpPr txBox="1"/>
            <p:nvPr userDrawn="1"/>
          </p:nvSpPr>
          <p:spPr>
            <a:xfrm>
              <a:off x="1390345" y="347936"/>
              <a:ext cx="1944891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4000" b="1" dirty="0" smtClean="0">
                  <a:solidFill>
                    <a:srgbClr val="1C9FCB"/>
                  </a:solidFill>
                </a:rPr>
                <a:t>Formula</a:t>
              </a:r>
            </a:p>
          </p:txBody>
        </p:sp>
      </p:grpSp>
      <p:sp>
        <p:nvSpPr>
          <p:cNvPr id="24" name="文字方塊 23"/>
          <p:cNvSpPr txBox="1"/>
          <p:nvPr userDrawn="1"/>
        </p:nvSpPr>
        <p:spPr>
          <a:xfrm>
            <a:off x="1434736" y="203429"/>
            <a:ext cx="9412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PART THREE</a:t>
            </a:r>
            <a:endParaRPr lang="zh-TW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文字方塊 15"/>
          <p:cNvSpPr txBox="1"/>
          <p:nvPr userDrawn="1"/>
        </p:nvSpPr>
        <p:spPr>
          <a:xfrm>
            <a:off x="407988" y="6416675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2024/11/27</a:t>
            </a:r>
            <a:r>
              <a:rPr lang="zh-TW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計算機概論期末英文報告</a:t>
            </a:r>
          </a:p>
        </p:txBody>
      </p:sp>
    </p:spTree>
    <p:extLst>
      <p:ext uri="{BB962C8B-B14F-4D97-AF65-F5344CB8AC3E}">
        <p14:creationId xmlns:p14="http://schemas.microsoft.com/office/powerpoint/2010/main" val="5983843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甜甜圈 10"/>
          <p:cNvSpPr/>
          <p:nvPr userDrawn="1"/>
        </p:nvSpPr>
        <p:spPr>
          <a:xfrm>
            <a:off x="-2047875" y="-1676311"/>
            <a:ext cx="3409950" cy="3409950"/>
          </a:xfrm>
          <a:prstGeom prst="donut">
            <a:avLst>
              <a:gd name="adj" fmla="val 15772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7" name="群組 6"/>
          <p:cNvGrpSpPr/>
          <p:nvPr userDrawn="1"/>
        </p:nvGrpSpPr>
        <p:grpSpPr>
          <a:xfrm>
            <a:off x="7692000" y="-4500000"/>
            <a:ext cx="9000000" cy="9000000"/>
            <a:chOff x="3988526" y="1321526"/>
            <a:chExt cx="4214949" cy="4214949"/>
          </a:xfrm>
        </p:grpSpPr>
        <p:sp>
          <p:nvSpPr>
            <p:cNvPr id="8" name="橢圓 7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32CB5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32CB58"/>
            </a:solidFill>
            <a:ln>
              <a:noFill/>
            </a:ln>
            <a:effectLst>
              <a:outerShdw blurRad="457200" sx="102000" sy="102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" name="文字方塊 9"/>
          <p:cNvSpPr txBox="1"/>
          <p:nvPr userDrawn="1"/>
        </p:nvSpPr>
        <p:spPr>
          <a:xfrm>
            <a:off x="407988" y="528548"/>
            <a:ext cx="3215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PART 04</a:t>
            </a:r>
            <a:endParaRPr lang="zh-TW" altLang="en-US" sz="7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" name="群組 11"/>
          <p:cNvGrpSpPr/>
          <p:nvPr userDrawn="1"/>
        </p:nvGrpSpPr>
        <p:grpSpPr>
          <a:xfrm>
            <a:off x="-2484136" y="4500000"/>
            <a:ext cx="9000000" cy="9000000"/>
            <a:chOff x="3988526" y="1321526"/>
            <a:chExt cx="4214949" cy="4214949"/>
          </a:xfrm>
        </p:grpSpPr>
        <p:sp>
          <p:nvSpPr>
            <p:cNvPr id="13" name="橢圓 12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32CB5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32CB58"/>
            </a:solidFill>
            <a:ln>
              <a:noFill/>
            </a:ln>
            <a:effectLst>
              <a:outerShdw blurRad="457200" sx="102000" sy="102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矩形 14"/>
          <p:cNvSpPr/>
          <p:nvPr userDrawn="1"/>
        </p:nvSpPr>
        <p:spPr>
          <a:xfrm>
            <a:off x="-6044959" y="4721905"/>
            <a:ext cx="5827236" cy="8556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0" b="1" dirty="0" smtClean="0">
                <a:solidFill>
                  <a:srgbClr val="E03E0D"/>
                </a:solidFill>
              </a:rPr>
              <a:t>計畫緣起</a:t>
            </a:r>
            <a:endParaRPr lang="en-US" altLang="zh-TW" sz="11000" b="1" dirty="0" smtClean="0">
              <a:solidFill>
                <a:srgbClr val="E03E0D"/>
              </a:solidFill>
            </a:endParaRPr>
          </a:p>
          <a:p>
            <a:r>
              <a:rPr lang="zh-TW" altLang="en-US" sz="11000" b="1" dirty="0" smtClean="0">
                <a:solidFill>
                  <a:srgbClr val="F8B70C"/>
                </a:solidFill>
              </a:rPr>
              <a:t>產業概況</a:t>
            </a:r>
            <a:endParaRPr lang="en-US" altLang="zh-TW" sz="11000" b="1" dirty="0" smtClean="0">
              <a:solidFill>
                <a:srgbClr val="F8B70C"/>
              </a:solidFill>
            </a:endParaRPr>
          </a:p>
          <a:p>
            <a:r>
              <a:rPr lang="zh-TW" altLang="en-US" sz="11000" b="1" dirty="0" smtClean="0">
                <a:solidFill>
                  <a:srgbClr val="1C9FCB"/>
                </a:solidFill>
              </a:rPr>
              <a:t>問卷分析</a:t>
            </a:r>
            <a:endParaRPr lang="en-US" altLang="zh-TW" sz="11000" b="1" dirty="0" smtClean="0">
              <a:solidFill>
                <a:srgbClr val="1C9FCB"/>
              </a:solidFill>
            </a:endParaRPr>
          </a:p>
          <a:p>
            <a:r>
              <a:rPr lang="zh-TW" altLang="en-US" sz="11000" b="1" dirty="0" smtClean="0">
                <a:solidFill>
                  <a:srgbClr val="32CB58"/>
                </a:solidFill>
              </a:rPr>
              <a:t>行銷計畫</a:t>
            </a:r>
            <a:endParaRPr lang="en-US" altLang="zh-TW" sz="11000" b="1" dirty="0" smtClean="0">
              <a:solidFill>
                <a:srgbClr val="32CB58"/>
              </a:solidFill>
            </a:endParaRPr>
          </a:p>
          <a:p>
            <a:r>
              <a:rPr lang="zh-TW" altLang="en-US" sz="11000" b="1" dirty="0" smtClean="0">
                <a:solidFill>
                  <a:srgbClr val="A466D8"/>
                </a:solidFill>
              </a:rPr>
              <a:t>計畫總結</a:t>
            </a:r>
            <a:endParaRPr lang="en-US" altLang="zh-TW" sz="11000" b="1" dirty="0" smtClean="0">
              <a:solidFill>
                <a:srgbClr val="A466D8"/>
              </a:solidFill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87484" y="1681762"/>
            <a:ext cx="8264057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8800" b="1" dirty="0" smtClean="0">
                <a:solidFill>
                  <a:srgbClr val="32CB58"/>
                </a:solidFill>
              </a:rPr>
              <a:t>Future</a:t>
            </a:r>
            <a:r>
              <a:rPr lang="zh-TW" altLang="en-US" sz="8800" b="1" baseline="0" dirty="0" smtClean="0">
                <a:solidFill>
                  <a:srgbClr val="32CB58"/>
                </a:solidFill>
              </a:rPr>
              <a:t> </a:t>
            </a:r>
            <a:r>
              <a:rPr lang="en-US" altLang="zh-TW" sz="8800" b="1" baseline="0" dirty="0" smtClean="0">
                <a:solidFill>
                  <a:srgbClr val="32CB58"/>
                </a:solidFill>
              </a:rPr>
              <a:t>Directions</a:t>
            </a:r>
            <a:endParaRPr lang="en-US" altLang="zh-TW" sz="8800" b="1" dirty="0" smtClean="0">
              <a:solidFill>
                <a:srgbClr val="32CB58"/>
              </a:solidFill>
            </a:endParaRPr>
          </a:p>
        </p:txBody>
      </p:sp>
      <p:sp>
        <p:nvSpPr>
          <p:cNvPr id="18" name="文字方塊 17"/>
          <p:cNvSpPr txBox="1"/>
          <p:nvPr userDrawn="1"/>
        </p:nvSpPr>
        <p:spPr>
          <a:xfrm>
            <a:off x="10515717" y="6416675"/>
            <a:ext cx="931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solidFill>
                  <a:srgbClr val="32CB58"/>
                </a:solidFill>
              </a:rPr>
              <a:t>2024/11/27</a:t>
            </a:r>
            <a:endParaRPr lang="zh-TW" altLang="en-US" sz="1200" dirty="0">
              <a:solidFill>
                <a:srgbClr val="32CB5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1445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/>
      <p:bldP spid="17" grpId="0"/>
      <p:bldP spid="18" grpId="0"/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接點 16"/>
          <p:cNvCxnSpPr/>
          <p:nvPr userDrawn="1"/>
        </p:nvCxnSpPr>
        <p:spPr>
          <a:xfrm>
            <a:off x="407988" y="6416674"/>
            <a:ext cx="11376025" cy="0"/>
          </a:xfrm>
          <a:prstGeom prst="line">
            <a:avLst/>
          </a:prstGeom>
          <a:ln>
            <a:solidFill>
              <a:srgbClr val="32CB5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群組 7"/>
          <p:cNvGrpSpPr/>
          <p:nvPr userDrawn="1"/>
        </p:nvGrpSpPr>
        <p:grpSpPr>
          <a:xfrm>
            <a:off x="3939150" y="-2164275"/>
            <a:ext cx="11186550" cy="11186550"/>
            <a:chOff x="3988526" y="1321526"/>
            <a:chExt cx="4214949" cy="4214949"/>
          </a:xfrm>
        </p:grpSpPr>
        <p:sp>
          <p:nvSpPr>
            <p:cNvPr id="9" name="橢圓 8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solidFill>
              <a:srgbClr val="D5F4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32CB5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文字方塊 14"/>
          <p:cNvSpPr txBox="1"/>
          <p:nvPr userDrawn="1"/>
        </p:nvSpPr>
        <p:spPr>
          <a:xfrm>
            <a:off x="11416605" y="6416674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061B2C-6C14-4386-B8A0-FC3D00B49B88}" type="slidenum">
              <a:rPr lang="zh-TW" altLang="en-US" sz="1200" smtClean="0">
                <a:solidFill>
                  <a:srgbClr val="FFFFFF"/>
                </a:solidFill>
              </a:rPr>
              <a:t>‹#›</a:t>
            </a:fld>
            <a:endParaRPr lang="zh-TW" altLang="en-US" sz="1200" dirty="0">
              <a:solidFill>
                <a:srgbClr val="FFFFFF"/>
              </a:solidFill>
            </a:endParaRPr>
          </a:p>
        </p:txBody>
      </p:sp>
      <p:sp>
        <p:nvSpPr>
          <p:cNvPr id="18" name="圓角矩形 17"/>
          <p:cNvSpPr/>
          <p:nvPr userDrawn="1"/>
        </p:nvSpPr>
        <p:spPr>
          <a:xfrm>
            <a:off x="407987" y="1376363"/>
            <a:ext cx="11376025" cy="4897437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>
            <a:noFill/>
          </a:ln>
          <a:effectLst>
            <a:outerShdw blurRad="304800" sx="102000" sy="102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甜甜圈 18"/>
          <p:cNvSpPr/>
          <p:nvPr userDrawn="1"/>
        </p:nvSpPr>
        <p:spPr>
          <a:xfrm>
            <a:off x="-1623873" y="-1252309"/>
            <a:ext cx="2561946" cy="2561946"/>
          </a:xfrm>
          <a:prstGeom prst="donut">
            <a:avLst>
              <a:gd name="adj" fmla="val 15772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1702637" y="-3240847"/>
            <a:ext cx="2236510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000" b="1" dirty="0" smtClean="0">
                <a:solidFill>
                  <a:srgbClr val="E03E0D"/>
                </a:solidFill>
              </a:rPr>
              <a:t>計畫緣起</a:t>
            </a:r>
            <a:endParaRPr lang="en-US" altLang="zh-TW" sz="4000" b="1" dirty="0" smtClean="0">
              <a:solidFill>
                <a:srgbClr val="E03E0D"/>
              </a:solidFill>
            </a:endParaRPr>
          </a:p>
          <a:p>
            <a:r>
              <a:rPr lang="zh-TW" altLang="en-US" sz="4000" b="1" dirty="0" smtClean="0">
                <a:solidFill>
                  <a:srgbClr val="F8B70C"/>
                </a:solidFill>
              </a:rPr>
              <a:t>產業概況</a:t>
            </a:r>
            <a:endParaRPr lang="en-US" altLang="zh-TW" sz="4000" b="1" dirty="0" smtClean="0">
              <a:solidFill>
                <a:srgbClr val="F8B70C"/>
              </a:solidFill>
            </a:endParaRPr>
          </a:p>
          <a:p>
            <a:r>
              <a:rPr lang="zh-TW" altLang="en-US" sz="4000" b="1" dirty="0" smtClean="0">
                <a:solidFill>
                  <a:srgbClr val="1C9FCB"/>
                </a:solidFill>
              </a:rPr>
              <a:t>問卷分析</a:t>
            </a:r>
            <a:endParaRPr lang="en-US" altLang="zh-TW" sz="4000" b="1" dirty="0" smtClean="0">
              <a:solidFill>
                <a:srgbClr val="1C9FCB"/>
              </a:solidFill>
            </a:endParaRPr>
          </a:p>
          <a:p>
            <a:r>
              <a:rPr lang="zh-TW" altLang="en-US" sz="4000" b="1" dirty="0" smtClean="0">
                <a:solidFill>
                  <a:srgbClr val="32CB58"/>
                </a:solidFill>
              </a:rPr>
              <a:t>行銷計畫</a:t>
            </a:r>
            <a:endParaRPr lang="en-US" altLang="zh-TW" sz="4000" b="1" dirty="0" smtClean="0">
              <a:solidFill>
                <a:srgbClr val="32CB58"/>
              </a:solidFill>
            </a:endParaRPr>
          </a:p>
          <a:p>
            <a:r>
              <a:rPr lang="zh-TW" altLang="en-US" sz="4000" b="1" dirty="0" smtClean="0">
                <a:solidFill>
                  <a:srgbClr val="A466D8"/>
                </a:solidFill>
              </a:rPr>
              <a:t>計畫總結</a:t>
            </a:r>
            <a:endParaRPr lang="en-US" altLang="zh-TW" sz="4000" b="1" dirty="0" smtClean="0">
              <a:solidFill>
                <a:srgbClr val="A466D8"/>
              </a:solidFill>
            </a:endParaRPr>
          </a:p>
        </p:txBody>
      </p:sp>
      <p:grpSp>
        <p:nvGrpSpPr>
          <p:cNvPr id="23" name="群組 22"/>
          <p:cNvGrpSpPr/>
          <p:nvPr userDrawn="1"/>
        </p:nvGrpSpPr>
        <p:grpSpPr>
          <a:xfrm>
            <a:off x="408143" y="0"/>
            <a:ext cx="4843837" cy="1200329"/>
            <a:chOff x="408143" y="0"/>
            <a:chExt cx="4843837" cy="1200329"/>
          </a:xfrm>
        </p:grpSpPr>
        <p:sp>
          <p:nvSpPr>
            <p:cNvPr id="20" name="文字方塊 19"/>
            <p:cNvSpPr txBox="1"/>
            <p:nvPr userDrawn="1"/>
          </p:nvSpPr>
          <p:spPr>
            <a:xfrm>
              <a:off x="408143" y="0"/>
              <a:ext cx="112082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7200" b="1" dirty="0" smtClean="0">
                  <a:solidFill>
                    <a:srgbClr val="32CB58"/>
                  </a:solidFill>
                </a:rPr>
                <a:t>04</a:t>
              </a:r>
              <a:endParaRPr lang="zh-TW" altLang="en-US" sz="7200" b="1" dirty="0">
                <a:solidFill>
                  <a:srgbClr val="32CB58"/>
                </a:solidFill>
              </a:endParaRPr>
            </a:p>
          </p:txBody>
        </p:sp>
        <p:sp>
          <p:nvSpPr>
            <p:cNvPr id="22" name="文字方塊 21"/>
            <p:cNvSpPr txBox="1"/>
            <p:nvPr userDrawn="1"/>
          </p:nvSpPr>
          <p:spPr>
            <a:xfrm>
              <a:off x="1390345" y="347936"/>
              <a:ext cx="386163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4000" b="1" dirty="0" smtClean="0">
                  <a:solidFill>
                    <a:srgbClr val="32CB58"/>
                  </a:solidFill>
                </a:rPr>
                <a:t>Future Directions</a:t>
              </a:r>
            </a:p>
          </p:txBody>
        </p:sp>
      </p:grpSp>
      <p:sp>
        <p:nvSpPr>
          <p:cNvPr id="24" name="文字方塊 23"/>
          <p:cNvSpPr txBox="1"/>
          <p:nvPr userDrawn="1"/>
        </p:nvSpPr>
        <p:spPr>
          <a:xfrm>
            <a:off x="1434736" y="203429"/>
            <a:ext cx="890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PART FOUR</a:t>
            </a:r>
            <a:endParaRPr lang="zh-TW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文字方塊 15"/>
          <p:cNvSpPr txBox="1"/>
          <p:nvPr userDrawn="1"/>
        </p:nvSpPr>
        <p:spPr>
          <a:xfrm>
            <a:off x="407988" y="6416675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2024/11/27</a:t>
            </a:r>
            <a:r>
              <a:rPr lang="zh-TW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計算機概論期末英文報告</a:t>
            </a:r>
          </a:p>
        </p:txBody>
      </p:sp>
    </p:spTree>
    <p:extLst>
      <p:ext uri="{BB962C8B-B14F-4D97-AF65-F5344CB8AC3E}">
        <p14:creationId xmlns:p14="http://schemas.microsoft.com/office/powerpoint/2010/main" val="39799111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甜甜圈 10"/>
          <p:cNvSpPr/>
          <p:nvPr userDrawn="1"/>
        </p:nvSpPr>
        <p:spPr>
          <a:xfrm>
            <a:off x="-2047875" y="-1676311"/>
            <a:ext cx="3409950" cy="3409950"/>
          </a:xfrm>
          <a:prstGeom prst="donut">
            <a:avLst>
              <a:gd name="adj" fmla="val 15772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7" name="群組 6"/>
          <p:cNvGrpSpPr/>
          <p:nvPr userDrawn="1"/>
        </p:nvGrpSpPr>
        <p:grpSpPr>
          <a:xfrm>
            <a:off x="7692000" y="-4500000"/>
            <a:ext cx="9000000" cy="9000000"/>
            <a:chOff x="3988526" y="1321526"/>
            <a:chExt cx="4214949" cy="4214949"/>
          </a:xfrm>
        </p:grpSpPr>
        <p:sp>
          <p:nvSpPr>
            <p:cNvPr id="8" name="橢圓 7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A365D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A365D8"/>
            </a:solidFill>
            <a:ln>
              <a:noFill/>
            </a:ln>
            <a:effectLst>
              <a:outerShdw blurRad="457200" sx="102000" sy="102000" algn="ctr" rotWithShape="0">
                <a:schemeClr val="accent5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0" name="文字方塊 9"/>
          <p:cNvSpPr txBox="1"/>
          <p:nvPr userDrawn="1"/>
        </p:nvSpPr>
        <p:spPr>
          <a:xfrm>
            <a:off x="407988" y="528548"/>
            <a:ext cx="321575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2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PART 05</a:t>
            </a:r>
            <a:endParaRPr lang="zh-TW" altLang="en-US" sz="7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" name="群組 11"/>
          <p:cNvGrpSpPr/>
          <p:nvPr userDrawn="1"/>
        </p:nvGrpSpPr>
        <p:grpSpPr>
          <a:xfrm>
            <a:off x="-2484136" y="4500000"/>
            <a:ext cx="9000000" cy="9000000"/>
            <a:chOff x="3988526" y="1321526"/>
            <a:chExt cx="4214949" cy="4214949"/>
          </a:xfrm>
        </p:grpSpPr>
        <p:sp>
          <p:nvSpPr>
            <p:cNvPr id="13" name="橢圓 12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noFill/>
            <a:ln>
              <a:solidFill>
                <a:srgbClr val="A365D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A365D8"/>
            </a:solidFill>
            <a:ln>
              <a:noFill/>
            </a:ln>
            <a:effectLst>
              <a:outerShdw blurRad="457200" sx="102000" sy="102000" algn="ctr" rotWithShape="0">
                <a:schemeClr val="accent5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矩形 14"/>
          <p:cNvSpPr/>
          <p:nvPr userDrawn="1"/>
        </p:nvSpPr>
        <p:spPr>
          <a:xfrm>
            <a:off x="-6044959" y="4721905"/>
            <a:ext cx="5827236" cy="85561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0" b="1" dirty="0" smtClean="0">
                <a:solidFill>
                  <a:srgbClr val="E03E0D"/>
                </a:solidFill>
              </a:rPr>
              <a:t>計畫緣起</a:t>
            </a:r>
            <a:endParaRPr lang="en-US" altLang="zh-TW" sz="11000" b="1" dirty="0" smtClean="0">
              <a:solidFill>
                <a:srgbClr val="E03E0D"/>
              </a:solidFill>
            </a:endParaRPr>
          </a:p>
          <a:p>
            <a:r>
              <a:rPr lang="zh-TW" altLang="en-US" sz="11000" b="1" dirty="0" smtClean="0">
                <a:solidFill>
                  <a:srgbClr val="F8B70C"/>
                </a:solidFill>
              </a:rPr>
              <a:t>產業概況</a:t>
            </a:r>
            <a:endParaRPr lang="en-US" altLang="zh-TW" sz="11000" b="1" dirty="0" smtClean="0">
              <a:solidFill>
                <a:srgbClr val="F8B70C"/>
              </a:solidFill>
            </a:endParaRPr>
          </a:p>
          <a:p>
            <a:r>
              <a:rPr lang="zh-TW" altLang="en-US" sz="11000" b="1" dirty="0" smtClean="0">
                <a:solidFill>
                  <a:srgbClr val="1C9FCB"/>
                </a:solidFill>
              </a:rPr>
              <a:t>問卷分析</a:t>
            </a:r>
            <a:endParaRPr lang="en-US" altLang="zh-TW" sz="11000" b="1" dirty="0" smtClean="0">
              <a:solidFill>
                <a:srgbClr val="1C9FCB"/>
              </a:solidFill>
            </a:endParaRPr>
          </a:p>
          <a:p>
            <a:r>
              <a:rPr lang="zh-TW" altLang="en-US" sz="11000" b="1" dirty="0" smtClean="0">
                <a:solidFill>
                  <a:srgbClr val="32CB58"/>
                </a:solidFill>
              </a:rPr>
              <a:t>行銷計畫</a:t>
            </a:r>
            <a:endParaRPr lang="en-US" altLang="zh-TW" sz="11000" b="1" dirty="0" smtClean="0">
              <a:solidFill>
                <a:srgbClr val="32CB58"/>
              </a:solidFill>
            </a:endParaRPr>
          </a:p>
          <a:p>
            <a:r>
              <a:rPr lang="zh-TW" altLang="en-US" sz="11000" b="1" dirty="0" smtClean="0">
                <a:solidFill>
                  <a:srgbClr val="A466D8"/>
                </a:solidFill>
              </a:rPr>
              <a:t>計畫總結</a:t>
            </a:r>
            <a:endParaRPr lang="en-US" altLang="zh-TW" sz="11000" b="1" dirty="0" smtClean="0">
              <a:solidFill>
                <a:srgbClr val="A466D8"/>
              </a:solidFill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21164" y="1671602"/>
            <a:ext cx="5775748" cy="178510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1000" b="1" dirty="0" smtClean="0">
                <a:solidFill>
                  <a:srgbClr val="A466D8"/>
                </a:solidFill>
              </a:rPr>
              <a:t>Summary</a:t>
            </a:r>
          </a:p>
        </p:txBody>
      </p:sp>
      <p:sp>
        <p:nvSpPr>
          <p:cNvPr id="18" name="文字方塊 17"/>
          <p:cNvSpPr txBox="1"/>
          <p:nvPr userDrawn="1"/>
        </p:nvSpPr>
        <p:spPr>
          <a:xfrm>
            <a:off x="10515717" y="6416675"/>
            <a:ext cx="931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solidFill>
                  <a:srgbClr val="A365D8"/>
                </a:solidFill>
              </a:rPr>
              <a:t>2024/11/27</a:t>
            </a:r>
            <a:endParaRPr lang="zh-TW" altLang="en-US" sz="1200" dirty="0">
              <a:solidFill>
                <a:srgbClr val="A365D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588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/>
      <p:bldP spid="17" grpId="0"/>
      <p:bldP spid="18" grpId="0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線接點 16"/>
          <p:cNvCxnSpPr/>
          <p:nvPr userDrawn="1"/>
        </p:nvCxnSpPr>
        <p:spPr>
          <a:xfrm>
            <a:off x="407988" y="6416674"/>
            <a:ext cx="11376025" cy="0"/>
          </a:xfrm>
          <a:prstGeom prst="line">
            <a:avLst/>
          </a:prstGeom>
          <a:ln>
            <a:solidFill>
              <a:srgbClr val="A466D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群組 7"/>
          <p:cNvGrpSpPr/>
          <p:nvPr userDrawn="1"/>
        </p:nvGrpSpPr>
        <p:grpSpPr>
          <a:xfrm>
            <a:off x="3939150" y="-2164275"/>
            <a:ext cx="11186550" cy="11186550"/>
            <a:chOff x="3988526" y="1321526"/>
            <a:chExt cx="4214949" cy="4214949"/>
          </a:xfrm>
        </p:grpSpPr>
        <p:sp>
          <p:nvSpPr>
            <p:cNvPr id="9" name="橢圓 8"/>
            <p:cNvSpPr/>
            <p:nvPr userDrawn="1"/>
          </p:nvSpPr>
          <p:spPr>
            <a:xfrm>
              <a:off x="3988526" y="1321526"/>
              <a:ext cx="4214949" cy="4214949"/>
            </a:xfrm>
            <a:prstGeom prst="ellipse">
              <a:avLst/>
            </a:prstGeom>
            <a:solidFill>
              <a:srgbClr val="ECE0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 userDrawn="1"/>
          </p:nvSpPr>
          <p:spPr>
            <a:xfrm>
              <a:off x="4180114" y="1513114"/>
              <a:ext cx="3831772" cy="3831772"/>
            </a:xfrm>
            <a:prstGeom prst="ellipse">
              <a:avLst/>
            </a:prstGeom>
            <a:solidFill>
              <a:srgbClr val="A466D8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5" name="文字方塊 14"/>
          <p:cNvSpPr txBox="1"/>
          <p:nvPr userDrawn="1"/>
        </p:nvSpPr>
        <p:spPr>
          <a:xfrm>
            <a:off x="11416605" y="6416674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061B2C-6C14-4386-B8A0-FC3D00B49B88}" type="slidenum">
              <a:rPr lang="zh-TW" altLang="en-US" sz="1200" smtClean="0">
                <a:solidFill>
                  <a:srgbClr val="FFFFFF"/>
                </a:solidFill>
              </a:rPr>
              <a:t>‹#›</a:t>
            </a:fld>
            <a:endParaRPr lang="zh-TW" altLang="en-US" sz="1200" dirty="0">
              <a:solidFill>
                <a:srgbClr val="FFFFFF"/>
              </a:solidFill>
            </a:endParaRPr>
          </a:p>
        </p:txBody>
      </p:sp>
      <p:sp>
        <p:nvSpPr>
          <p:cNvPr id="18" name="圓角矩形 17"/>
          <p:cNvSpPr/>
          <p:nvPr userDrawn="1"/>
        </p:nvSpPr>
        <p:spPr>
          <a:xfrm>
            <a:off x="408143" y="1309637"/>
            <a:ext cx="11376025" cy="4897437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>
            <a:noFill/>
          </a:ln>
          <a:effectLst>
            <a:outerShdw blurRad="304800" sx="102000" sy="102000" algn="ctr" rotWithShape="0">
              <a:schemeClr val="accent5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甜甜圈 18"/>
          <p:cNvSpPr/>
          <p:nvPr userDrawn="1"/>
        </p:nvSpPr>
        <p:spPr>
          <a:xfrm>
            <a:off x="-1623873" y="-1252309"/>
            <a:ext cx="2561946" cy="2561946"/>
          </a:xfrm>
          <a:prstGeom prst="donut">
            <a:avLst>
              <a:gd name="adj" fmla="val 15772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1702637" y="-3240847"/>
            <a:ext cx="2236510" cy="3170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000" b="1" dirty="0" smtClean="0">
                <a:solidFill>
                  <a:srgbClr val="E03E0D"/>
                </a:solidFill>
              </a:rPr>
              <a:t>計畫緣起</a:t>
            </a:r>
            <a:endParaRPr lang="en-US" altLang="zh-TW" sz="4000" b="1" dirty="0" smtClean="0">
              <a:solidFill>
                <a:srgbClr val="E03E0D"/>
              </a:solidFill>
            </a:endParaRPr>
          </a:p>
          <a:p>
            <a:r>
              <a:rPr lang="zh-TW" altLang="en-US" sz="4000" b="1" dirty="0" smtClean="0">
                <a:solidFill>
                  <a:srgbClr val="F8B70C"/>
                </a:solidFill>
              </a:rPr>
              <a:t>產業概況</a:t>
            </a:r>
            <a:endParaRPr lang="en-US" altLang="zh-TW" sz="4000" b="1" dirty="0" smtClean="0">
              <a:solidFill>
                <a:srgbClr val="F8B70C"/>
              </a:solidFill>
            </a:endParaRPr>
          </a:p>
          <a:p>
            <a:r>
              <a:rPr lang="zh-TW" altLang="en-US" sz="4000" b="1" dirty="0" smtClean="0">
                <a:solidFill>
                  <a:srgbClr val="1C9FCB"/>
                </a:solidFill>
              </a:rPr>
              <a:t>問卷分析</a:t>
            </a:r>
            <a:endParaRPr lang="en-US" altLang="zh-TW" sz="4000" b="1" dirty="0" smtClean="0">
              <a:solidFill>
                <a:srgbClr val="1C9FCB"/>
              </a:solidFill>
            </a:endParaRPr>
          </a:p>
          <a:p>
            <a:r>
              <a:rPr lang="zh-TW" altLang="en-US" sz="4000" b="1" dirty="0" smtClean="0">
                <a:solidFill>
                  <a:srgbClr val="32CB58"/>
                </a:solidFill>
              </a:rPr>
              <a:t>行銷計畫</a:t>
            </a:r>
            <a:endParaRPr lang="en-US" altLang="zh-TW" sz="4000" b="1" dirty="0" smtClean="0">
              <a:solidFill>
                <a:srgbClr val="32CB58"/>
              </a:solidFill>
            </a:endParaRPr>
          </a:p>
          <a:p>
            <a:r>
              <a:rPr lang="zh-TW" altLang="en-US" sz="4000" b="1" dirty="0" smtClean="0">
                <a:solidFill>
                  <a:srgbClr val="A466D8"/>
                </a:solidFill>
              </a:rPr>
              <a:t>計畫總結</a:t>
            </a:r>
            <a:endParaRPr lang="en-US" altLang="zh-TW" sz="4000" b="1" dirty="0" smtClean="0">
              <a:solidFill>
                <a:srgbClr val="A466D8"/>
              </a:solidFill>
            </a:endParaRPr>
          </a:p>
        </p:txBody>
      </p:sp>
      <p:grpSp>
        <p:nvGrpSpPr>
          <p:cNvPr id="23" name="群組 22"/>
          <p:cNvGrpSpPr/>
          <p:nvPr userDrawn="1"/>
        </p:nvGrpSpPr>
        <p:grpSpPr>
          <a:xfrm>
            <a:off x="408143" y="0"/>
            <a:ext cx="3200117" cy="1200329"/>
            <a:chOff x="408143" y="0"/>
            <a:chExt cx="3200117" cy="1200329"/>
          </a:xfrm>
        </p:grpSpPr>
        <p:sp>
          <p:nvSpPr>
            <p:cNvPr id="20" name="文字方塊 19"/>
            <p:cNvSpPr txBox="1"/>
            <p:nvPr userDrawn="1"/>
          </p:nvSpPr>
          <p:spPr>
            <a:xfrm>
              <a:off x="408143" y="0"/>
              <a:ext cx="1120820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7200" b="1" dirty="0" smtClean="0">
                  <a:solidFill>
                    <a:srgbClr val="A466D8"/>
                  </a:solidFill>
                </a:rPr>
                <a:t>05</a:t>
              </a:r>
              <a:endParaRPr lang="zh-TW" altLang="en-US" sz="7200" b="1" dirty="0">
                <a:solidFill>
                  <a:srgbClr val="A466D8"/>
                </a:solidFill>
              </a:endParaRPr>
            </a:p>
          </p:txBody>
        </p:sp>
        <p:sp>
          <p:nvSpPr>
            <p:cNvPr id="22" name="文字方塊 21"/>
            <p:cNvSpPr txBox="1"/>
            <p:nvPr userDrawn="1"/>
          </p:nvSpPr>
          <p:spPr>
            <a:xfrm>
              <a:off x="1390345" y="347936"/>
              <a:ext cx="221791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4000" b="1" dirty="0" smtClean="0">
                  <a:solidFill>
                    <a:srgbClr val="A466D8"/>
                  </a:solidFill>
                </a:rPr>
                <a:t>Summary</a:t>
              </a:r>
            </a:p>
          </p:txBody>
        </p:sp>
      </p:grpSp>
      <p:sp>
        <p:nvSpPr>
          <p:cNvPr id="24" name="文字方塊 23"/>
          <p:cNvSpPr txBox="1"/>
          <p:nvPr userDrawn="1"/>
        </p:nvSpPr>
        <p:spPr>
          <a:xfrm>
            <a:off x="1434736" y="203429"/>
            <a:ext cx="8066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PART FIVE</a:t>
            </a:r>
            <a:endParaRPr lang="zh-TW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文字方塊 15"/>
          <p:cNvSpPr txBox="1"/>
          <p:nvPr userDrawn="1"/>
        </p:nvSpPr>
        <p:spPr>
          <a:xfrm>
            <a:off x="407988" y="6416675"/>
            <a:ext cx="26949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2024/11/27</a:t>
            </a:r>
            <a:r>
              <a:rPr lang="zh-TW" altLang="en-US" sz="12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計算機概論期末英文報告</a:t>
            </a:r>
          </a:p>
        </p:txBody>
      </p:sp>
    </p:spTree>
    <p:extLst>
      <p:ext uri="{BB962C8B-B14F-4D97-AF65-F5344CB8AC3E}">
        <p14:creationId xmlns:p14="http://schemas.microsoft.com/office/powerpoint/2010/main" val="34468950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 userDrawn="1"/>
        </p:nvPicPr>
        <p:blipFill rotWithShape="1"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644572" y="1320799"/>
            <a:ext cx="4412343" cy="368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2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橢圓 5"/>
          <p:cNvSpPr/>
          <p:nvPr/>
        </p:nvSpPr>
        <p:spPr>
          <a:xfrm>
            <a:off x="2384608" y="5055782"/>
            <a:ext cx="914400" cy="914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/>
          <p:cNvSpPr txBox="1"/>
          <p:nvPr/>
        </p:nvSpPr>
        <p:spPr>
          <a:xfrm>
            <a:off x="3131086" y="4933876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組員：陳秉彥、陳威佐、陳宥儒</a:t>
            </a:r>
            <a:endParaRPr lang="zh-TW" altLang="en-US" sz="32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8289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4.81481E-6 L 0.50065 0.00254 " pathEditMode="relative" rAng="0" ptsTypes="AA">
                                      <p:cBhvr>
                                        <p:cTn id="13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26" y="116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2" nodeType="withEffect">
                                  <p:stCondLst>
                                    <p:cond delay="1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891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/>
          <p:cNvSpPr/>
          <p:nvPr/>
        </p:nvSpPr>
        <p:spPr>
          <a:xfrm>
            <a:off x="407988" y="3429000"/>
            <a:ext cx="1460570" cy="440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Rational</a:t>
            </a:r>
            <a:endParaRPr lang="zh-TW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4444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10089027" y="374983"/>
            <a:ext cx="17801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TW" sz="3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Rational</a:t>
            </a:r>
            <a:endParaRPr lang="zh-TW" altLang="en-US" sz="36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矩形 4"/>
          <p:cNvSpPr/>
          <p:nvPr/>
        </p:nvSpPr>
        <p:spPr>
          <a:xfrm>
            <a:off x="487680" y="1431003"/>
            <a:ext cx="103632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This study explores Multi-Agent 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Pathfinding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(MAPF) in 2D and 3D grids with potential obstacles that could disrupt rule distribution (see Figure 1). The main objective of MAPF is to find conflict-free paths for agents from their start to target configurations. Although finding optimal solutions is important, MAPF optimization is NP-hard (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Surynek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2010; Yu &amp; 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LaValle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2013b), even in planar settings (Yu, 2015) and obstacle-free grids (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Demaine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et al., 2019). MAPF algorithms are applicable in real-world scenarios such as formation reconfiguration (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Poduri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&amp; 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Sukhatme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2004), object transportation (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Rus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Donald, &amp; Jennings, 1995), and multi-robot systems (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Preiss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et al., 2017; 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Hönig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et al., 2018). Despite grid constraints, MAPF algorithms are widely used in large-scale applications, including warehouse automation (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Wurman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D'Andrea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&amp; 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Mountz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2008), grocery order fulfillment (Mason, 2019), and parcel sorting (Wan et al., 2018).</a:t>
            </a:r>
            <a:endParaRPr lang="zh-TW" alt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030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10089027" y="374983"/>
            <a:ext cx="17801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TW" sz="3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Rational</a:t>
            </a:r>
            <a:endParaRPr lang="zh-TW" altLang="en-US" sz="36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" name="群組 3"/>
          <p:cNvGrpSpPr/>
          <p:nvPr/>
        </p:nvGrpSpPr>
        <p:grpSpPr>
          <a:xfrm>
            <a:off x="1074101" y="1626031"/>
            <a:ext cx="4370705" cy="3346054"/>
            <a:chOff x="942021" y="1784350"/>
            <a:chExt cx="4370705" cy="3346054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2021" y="1784350"/>
              <a:ext cx="4370705" cy="29457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文字方塊 1"/>
            <p:cNvSpPr txBox="1"/>
            <p:nvPr/>
          </p:nvSpPr>
          <p:spPr>
            <a:xfrm>
              <a:off x="2599053" y="4761072"/>
              <a:ext cx="10566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Figure 1</a:t>
              </a:r>
              <a:endParaRPr lang="zh-TW" altLang="en-US" dirty="0"/>
            </a:p>
          </p:txBody>
        </p:sp>
      </p:grpSp>
      <p:grpSp>
        <p:nvGrpSpPr>
          <p:cNvPr id="6" name="群組 5"/>
          <p:cNvGrpSpPr/>
          <p:nvPr/>
        </p:nvGrpSpPr>
        <p:grpSpPr>
          <a:xfrm>
            <a:off x="7513635" y="1626031"/>
            <a:ext cx="2951309" cy="3317361"/>
            <a:chOff x="7513635" y="1813043"/>
            <a:chExt cx="2951309" cy="3317361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3635" y="1813043"/>
              <a:ext cx="2951309" cy="29583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文字方塊 6"/>
            <p:cNvSpPr txBox="1"/>
            <p:nvPr/>
          </p:nvSpPr>
          <p:spPr>
            <a:xfrm>
              <a:off x="8460970" y="4761072"/>
              <a:ext cx="10566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Figure </a:t>
              </a:r>
              <a:r>
                <a:rPr lang="en-US" altLang="zh-TW" b="1" dirty="0" smtClean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2</a:t>
              </a:r>
              <a:endParaRPr lang="zh-TW" altLang="en-US" dirty="0"/>
            </a:p>
          </p:txBody>
        </p:sp>
      </p:grpSp>
      <p:sp>
        <p:nvSpPr>
          <p:cNvPr id="3" name="矩形 2"/>
          <p:cNvSpPr/>
          <p:nvPr/>
        </p:nvSpPr>
        <p:spPr>
          <a:xfrm>
            <a:off x="609600" y="4972085"/>
            <a:ext cx="10972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Real-world parcel sorting system (at JD.com) using many agents on a large grid-like environment with holes for dropping parcels; (b) A snapshot of a similar </a:t>
            </a:r>
            <a:r>
              <a:rPr lang="en-US" altLang="zh-TW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MAPFinstance</a:t>
            </a:r>
            <a:r>
              <a:rPr lang="en-US" altLang="zh-TW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our methods can solve in polynomial-time with provable optimality guarantees. In practice, our algorithms scale to 2D maps of size over 450 × 300, supporting over 45K agents and achieving better than 1.5-optimality (see, e.g., Fig. 14). They scale further in 3D settings</a:t>
            </a:r>
            <a:endParaRPr lang="zh-TW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7697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/>
          <p:cNvSpPr/>
          <p:nvPr/>
        </p:nvSpPr>
        <p:spPr>
          <a:xfrm>
            <a:off x="407988" y="3429000"/>
            <a:ext cx="2091372" cy="440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F8B70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Industry  status</a:t>
            </a:r>
            <a:endParaRPr lang="zh-TW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425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8837082" y="374983"/>
            <a:ext cx="30321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TW" sz="3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Industry status</a:t>
            </a:r>
            <a:endParaRPr lang="zh-TW" altLang="en-US" sz="36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87680" y="1536174"/>
            <a:ext cx="103632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 the field of warehouse logistics automation, Multi-Agent Path Finding (MAPF) technology is widely used to address the 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pathfinding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problem of multiple agents (such as robots) in complex environments. The primary goal of MAPF is to find collision-free paths for multiple agents from their starting positions to their target positions. For large-scale applications like warehouse automation, the optimality of the solution is crucial, especially in environments with high agent density. However, solving the MAPF problem is NP-hard (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Surynek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2010; Yu &amp; 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LaValle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2013b), even in planar environments (Yu, 2015) and on obstacle-free grid environments (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Demaine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et al., 2019), making it computationally challenging.</a:t>
            </a:r>
            <a:endParaRPr lang="zh-TW" alt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860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87680" y="1905506"/>
            <a:ext cx="10363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MAPF algorithms are widely applied in various real-world scenarios, such as formation reconfiguration (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Poduri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&amp; 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Sukhatme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2004), object transportation (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Rus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Donald, &amp; Jennings, 1995), and swarm robotics (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Preiss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et al., 2017; 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Hönig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et al., 2018). In warehouse logistics automation, the application of MAPF technology is particularly critical, especially in scenarios such as order fulfillment and parcel sorting. By utilizing multi-agent 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pathfinding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automated warehouses can efficiently perform tasks like item handling and sorting, significantly improving warehouse efficiency.</a:t>
            </a:r>
            <a:endParaRPr lang="zh-TW" alt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718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87680" y="2644170"/>
            <a:ext cx="10363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As intelligent warehouse systems continue to evolve, how to achieve efficient and near-optimal path planning in high-density, complex grid environments has become one of the key factors driving the advancement of the warehouse logistics automation industry.</a:t>
            </a:r>
            <a:endParaRPr lang="zh-TW" altLang="en-US" sz="24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649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/>
          <p:cNvSpPr/>
          <p:nvPr/>
        </p:nvSpPr>
        <p:spPr>
          <a:xfrm>
            <a:off x="407988" y="3429000"/>
            <a:ext cx="1460570" cy="440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1C9FC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Formula</a:t>
            </a:r>
            <a:endParaRPr lang="zh-TW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1752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87680" y="1597690"/>
            <a:ext cx="103632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Challenges in Multi-Agent Path Finding (MAPF):</a:t>
            </a:r>
            <a:b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MAPF is NP-hard, making optimal solutions computationally expensive, even in simple grid settings.</a:t>
            </a:r>
          </a:p>
          <a:p>
            <a:pPr fontAlgn="base"/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Existing algorithms offer polynomial-time solutions but often with impractically large 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suboptimality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fontAlgn="base"/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Demand for High-Density Scenarios:</a:t>
            </a:r>
            <a:b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Real-world applications like warehouse logistics and robot swarms need efficient solutions for high-density grids.</a:t>
            </a:r>
          </a:p>
          <a:p>
            <a:pPr fontAlgn="base"/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Current methods struggle with performance in dense settings and lack optimality guarantees.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718" y="5184457"/>
            <a:ext cx="3743642" cy="1063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12578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87680" y="1597690"/>
            <a:ext cx="10363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Objective</a:t>
            </a:r>
            <a:b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Efficient Solutions for High-Density Scenarios: Develop MAPF algorithms that handle high-density grids (up to full density) and obstacles, with polynomial-time computation.</a:t>
            </a:r>
          </a:p>
          <a:p>
            <a:pPr fontAlgn="base"/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Near-Optimal Performance: Achieve low constant-factor optimality (1.x asymptotic 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makespan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 for broad scenarios.</a:t>
            </a:r>
          </a:p>
          <a:p>
            <a:pPr fontAlgn="base"/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Advancing MAPF Theory and Practice:</a:t>
            </a:r>
            <a:b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Propose a general Grid Rearrangement (GR)-based framework for solving MAPF.</a:t>
            </a:r>
          </a:p>
          <a:p>
            <a:pPr fontAlgn="base"/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Extend applicability to multidimensional grids, including 2D, 3D, and beyond.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2278" y="5184458"/>
            <a:ext cx="3743642" cy="1063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8874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87680" y="1597690"/>
            <a:ext cx="103632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goal is to develop efficient solutions for Multi-Agent 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Pathfinding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(MAPF) problems, particularly in high-density environments with obstacles. The solutions should be computed in polynomial time and offer near-optimal performance (with a 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makespan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close to optimal, around 1.x).</a:t>
            </a:r>
          </a:p>
          <a:p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Key objectives include:</a:t>
            </a:r>
          </a:p>
          <a:p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Designing a general approach based on Grid Rearrangement (GR) for solving MAPF problems.</a:t>
            </a:r>
          </a:p>
          <a:p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Demonstrating the method's applicability in multi-dimensional grids, including 2D, 3D, and higher dimensions.</a:t>
            </a:r>
          </a:p>
          <a:p>
            <a:endParaRPr lang="zh-TW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4224580" y="5198675"/>
            <a:ext cx="37428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4800" dirty="0"/>
              <a:t>4 </a:t>
            </a:r>
            <a:r>
              <a:rPr lang="zh-TW" altLang="en-US" sz="4800" dirty="0"/>
              <a:t>𝑚 </a:t>
            </a:r>
            <a:r>
              <a:rPr lang="en-US" altLang="zh-TW" sz="4800" dirty="0"/>
              <a:t>1 + 8 </a:t>
            </a:r>
            <a:r>
              <a:rPr lang="zh-TW" altLang="en-US" sz="4800" dirty="0"/>
              <a:t>𝑚 </a:t>
            </a:r>
            <a:r>
              <a:rPr lang="en-US" altLang="zh-TW" sz="4800" dirty="0" smtClean="0"/>
              <a:t>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84777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/>
          <p:cNvSpPr/>
          <p:nvPr/>
        </p:nvSpPr>
        <p:spPr>
          <a:xfrm>
            <a:off x="407987" y="3429000"/>
            <a:ext cx="2020253" cy="440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32CB5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Future Directions</a:t>
            </a:r>
            <a:endParaRPr lang="zh-TW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125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8375096" y="374983"/>
            <a:ext cx="34940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TW" sz="36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</a:t>
            </a:r>
            <a:r>
              <a:rPr lang="en-US" altLang="zh-TW" sz="3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Directions</a:t>
            </a:r>
            <a:endParaRPr lang="zh-TW" altLang="en-US" sz="36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矩形 6"/>
          <p:cNvSpPr/>
          <p:nvPr/>
        </p:nvSpPr>
        <p:spPr>
          <a:xfrm>
            <a:off x="487680" y="1720840"/>
            <a:ext cx="10363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Support for More Application Scenarios:</a:t>
            </a:r>
            <a:b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Extend the proposed algorithms to other types of graph structures, such as irregular graphs or dynamic graphs.</a:t>
            </a:r>
          </a:p>
          <a:p>
            <a:pPr fontAlgn="base"/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Handling Dynamic Scenarios:</a:t>
            </a:r>
            <a:b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Develop solutions for "lifelong MAPF" to address scenarios involving continuous movement and reallocation of agents.</a:t>
            </a:r>
          </a:p>
          <a:p>
            <a:pPr fontAlgn="base"/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Further Reducing Complexity:</a:t>
            </a:r>
            <a:b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Explore techniques to further minimize the number of shuffles required, particularly in high-dimensional scenarios.</a:t>
            </a:r>
          </a:p>
        </p:txBody>
      </p:sp>
    </p:spTree>
    <p:extLst>
      <p:ext uri="{BB962C8B-B14F-4D97-AF65-F5344CB8AC3E}">
        <p14:creationId xmlns:p14="http://schemas.microsoft.com/office/powerpoint/2010/main" val="3593352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圓角矩形 1"/>
          <p:cNvSpPr/>
          <p:nvPr/>
        </p:nvSpPr>
        <p:spPr>
          <a:xfrm>
            <a:off x="407988" y="3429000"/>
            <a:ext cx="1460570" cy="44063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A365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Summary</a:t>
            </a:r>
            <a:endParaRPr lang="zh-TW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397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856655" y="374983"/>
            <a:ext cx="201253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TW" sz="3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Summary</a:t>
            </a:r>
            <a:endParaRPr lang="zh-TW" altLang="en-US" sz="36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914400" y="2459504"/>
            <a:ext cx="103632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Overall, the algorithmic framework proposed in this paper not only achieves significant theoretical breakthroughs but also demonstrates its feasibility and superiority in practical applications through extensive experiments. This study lays a solid foundation for the future development of efficient multi-agent </a:t>
            </a:r>
            <a:r>
              <a:rPr lang="en-US" altLang="zh-TW" sz="2400" b="1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pathfinding</a:t>
            </a:r>
            <a:r>
              <a:rPr lang="en-US" altLang="zh-TW" sz="24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technologies.</a:t>
            </a:r>
          </a:p>
        </p:txBody>
      </p:sp>
    </p:spTree>
    <p:extLst>
      <p:ext uri="{BB962C8B-B14F-4D97-AF65-F5344CB8AC3E}">
        <p14:creationId xmlns:p14="http://schemas.microsoft.com/office/powerpoint/2010/main" val="3545183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4875153" y="5041900"/>
            <a:ext cx="24416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謝謝觀看</a:t>
            </a:r>
          </a:p>
        </p:txBody>
      </p:sp>
      <p:sp>
        <p:nvSpPr>
          <p:cNvPr id="3" name="橢圓 2"/>
          <p:cNvSpPr/>
          <p:nvPr/>
        </p:nvSpPr>
        <p:spPr>
          <a:xfrm>
            <a:off x="4177050" y="5398680"/>
            <a:ext cx="914400" cy="914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8512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4.81481E-6 L 0.20911 0.00023 " pathEditMode="relative" rAng="0" ptsTypes="AA">
                                      <p:cBhvr>
                                        <p:cTn id="12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56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2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1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3" grpId="1" animBg="1"/>
      <p:bldP spid="3" grpId="2" animBg="1"/>
    </p:bldLst>
  </p:timing>
</p:sld>
</file>

<file path=ppt/theme/theme1.xml><?xml version="1.0" encoding="utf-8"?>
<a:theme xmlns:a="http://schemas.openxmlformats.org/drawingml/2006/main" name="Office 佈景主題">
  <a:themeElements>
    <a:clrScheme name="比賽用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03E0D"/>
      </a:accent1>
      <a:accent2>
        <a:srgbClr val="F8B70C"/>
      </a:accent2>
      <a:accent3>
        <a:srgbClr val="32CB58"/>
      </a:accent3>
      <a:accent4>
        <a:srgbClr val="1C9FCB"/>
      </a:accent4>
      <a:accent5>
        <a:srgbClr val="A466D8"/>
      </a:accent5>
      <a:accent6>
        <a:srgbClr val="0070C0"/>
      </a:accent6>
      <a:hlink>
        <a:srgbClr val="0563C1"/>
      </a:hlink>
      <a:folHlink>
        <a:srgbClr val="954F72"/>
      </a:folHlink>
    </a:clrScheme>
    <a:fontScheme name="比賽用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700</Words>
  <Application>Microsoft Office PowerPoint</Application>
  <PresentationFormat>自訂</PresentationFormat>
  <Paragraphs>36</Paragraphs>
  <Slides>18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19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Windows 使用者</dc:creator>
  <cp:lastModifiedBy>User</cp:lastModifiedBy>
  <cp:revision>203</cp:revision>
  <dcterms:created xsi:type="dcterms:W3CDTF">2022-11-30T00:12:37Z</dcterms:created>
  <dcterms:modified xsi:type="dcterms:W3CDTF">2024-12-17T15:19:31Z</dcterms:modified>
</cp:coreProperties>
</file>